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6B4A"/>
                </a:solidFill>
                <a:latin typeface="Arial"/>
              </a:rPr>
              <a:t>PROJECT NEXT  —  A PRODUCT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Arial"/>
              </a:rP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127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EC6FF"/>
                </a:solidFill>
                <a:latin typeface="Arial"/>
              </a:rPr>
              <a:t>Unilever's Always-On Brand Nervous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61188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C2CBE8"/>
                </a:solidFill>
                <a:latin typeface="Arial"/>
              </a:rPr>
              <a:t>Turning a 3-second Rexona armband into the proof: brand teams don't need more AI features — they need the system that fires in minutes, not weeks.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8791B8"/>
                </a:solidFill>
                <a:latin typeface="Arial"/>
              </a:rPr>
              <a:t>How we'd architect the entire brand lifecycle if Unilever were founded today, AI-first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806440"/>
            <a:ext cx="2926080" cy="18288"/>
          </a:xfrm>
          <a:prstGeom prst="rect">
            <a:avLst/>
          </a:prstGeom>
          <a:solidFill>
            <a:srgbClr val="2C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Ranjana Mainani — Product Manager, Project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791B8"/>
                </a:solidFill>
                <a:latin typeface="Arial"/>
              </a:rPr>
              <a:t>cases/2026-08-project-next-unilever-brand-lifecycle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6B4A"/>
                </a:solidFill>
                <a:latin typeface="Arial"/>
              </a:rPr>
              <a:t>1 / 5  —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The viral window was minutes. Our pipeline is measured in weeks.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2CBE8"/>
                </a:solidFill>
                <a:latin typeface="Arial"/>
              </a:rPr>
              <a:t>The fourth official's board carried a Rexona logo for 3 seconds. Fans memed it before the final whistle. Our process couldn't have shipped a response before the tournament ended.</a:t>
            </a:r>
          </a:p>
        </p:txBody>
      </p:sp>
      <p:pic>
        <p:nvPicPr>
          <p:cNvPr id="6" name="Picture 5" descr="tim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11201400" cy="2880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4709160"/>
            <a:ext cx="11201400" cy="1417320"/>
          </a:xfrm>
          <a:prstGeom prst="roundRect">
            <a:avLst>
              <a:gd name="adj" fmla="val 4000"/>
            </a:avLst>
          </a:prstGeom>
          <a:solidFill>
            <a:srgbClr val="142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6B4A"/>
                </a:solidFill>
                <a:latin typeface="Arial"/>
              </a:rPr>
              <a:t>THIS ISN'T A TOOLING GAP — IT'S A WIRING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3892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30" b="0" i="0">
                <a:solidFill>
                  <a:srgbClr val="C2CBE8"/>
                </a:solidFill>
                <a:latin typeface="Arial"/>
              </a:rPr>
              <a:t>Social listening and web scraping already exist at Unilever </a:t>
            </a:r>
            <a:r>
              <a:rPr sz="1030" b="0" i="1">
                <a:solidFill>
                  <a:srgbClr val="C2CBE8"/>
                </a:solidFill>
                <a:latin typeface="Arial"/>
              </a:rPr>
              <a:t>— the brief says so directly.</a:t>
            </a:r>
            <a:r>
              <a:rPr sz="1030" b="0" i="0">
                <a:solidFill>
                  <a:srgbClr val="C2CBE8"/>
                </a:solidFill>
                <a:latin typeface="Arial"/>
              </a:rPr>
              <a:t>  They just run independently, so a human has to manually notice, judge, brief, produce, clear, and publish — every single time. The fix isn't another dashboard. It's removing the human synthesis step from the critical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Project NEXT  |  PULSE — Unilever's Always-On Brand Nervous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6B4A"/>
                </a:solidFill>
                <a:latin typeface="Arial"/>
              </a:rPr>
              <a:t>2 / 5  — 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PULSE: one closed loop, not five more point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2CBE8"/>
                </a:solidFill>
                <a:latin typeface="Arial"/>
              </a:rPr>
              <a:t>Perceive → Understand → Localize → Ship → Evaluate — built on top of what Unilever already has, wired for the first time.</a:t>
            </a:r>
          </a:p>
        </p:txBody>
      </p:sp>
      <p:pic>
        <p:nvPicPr>
          <p:cNvPr id="6" name="Picture 5" descr="pulse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17320"/>
            <a:ext cx="5394960" cy="5394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600200"/>
            <a:ext cx="2194560" cy="5029200"/>
          </a:xfrm>
          <a:prstGeom prst="roundRect">
            <a:avLst>
              <a:gd name="adj" fmla="val 6000"/>
            </a:avLst>
          </a:prstGeom>
          <a:solidFill>
            <a:srgbClr val="142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3EC6FF"/>
                </a:solidFill>
                <a:latin typeface="Arial"/>
              </a:rPr>
              <a:t>BUILT ON, NOT INSTEAD 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29968"/>
            <a:ext cx="1920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Brand DNAi</a:t>
            </a:r>
            <a:r>
              <a:rPr sz="869" b="0" i="0">
                <a:solidFill>
                  <a:srgbClr val="C2CBE8"/>
                </a:solidFill>
                <a:latin typeface="Arial"/>
              </a:rPr>
              <a:t> — the safety &amp; voice layer Understand/Localize score and generate against.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Digital-twin production</a:t>
            </a:r>
            <a:r>
              <a:rPr sz="869" b="0" i="0">
                <a:solidFill>
                  <a:srgbClr val="C2CBE8"/>
                </a:solidFill>
                <a:latin typeface="Arial"/>
              </a:rPr>
              <a:t> — 2x faster, 50% cheaper product imagery, feeds Localize.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Desire at Scale</a:t>
            </a:r>
            <a:r>
              <a:rPr sz="869" b="0" i="0">
                <a:solidFill>
                  <a:srgbClr val="C2CBE8"/>
                </a:solidFill>
                <a:latin typeface="Arial"/>
              </a:rPr>
              <a:t> — the multi-market activation engine PULSE's Ship stage drives.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600200"/>
            <a:ext cx="2651760" cy="5029200"/>
          </a:xfrm>
          <a:prstGeom prst="roundRect">
            <a:avLst>
              <a:gd name="adj" fmla="val 6000"/>
            </a:avLst>
          </a:prstGeom>
          <a:solidFill>
            <a:srgbClr val="142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7373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FF6B4A"/>
                </a:solidFill>
                <a:latin typeface="Arial"/>
              </a:rPr>
              <a:t>WHAT'S ACTUALLY NEW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8008" y="2029968"/>
            <a:ext cx="23774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One Brand Signal Graph</a:t>
            </a:r>
            <a:r>
              <a:rPr sz="869" b="0" i="0">
                <a:solidFill>
                  <a:srgbClr val="C2CBE8"/>
                </a:solidFill>
                <a:latin typeface="Arial"/>
              </a:rPr>
              <a:t> per brand — listening + scraping + broadcast unified, not siloed.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Tiered autonomy</a:t>
            </a:r>
            <a:r>
              <a:rPr sz="869" b="0" i="0">
                <a:solidFill>
                  <a:srgbClr val="C2CBE8"/>
                </a:solidFill>
                <a:latin typeface="Arial"/>
              </a:rPr>
              <a:t> — auto-publish / fast-track / escalate, decided before the moment, not during it.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A closed Evaluate loop</a:t>
            </a:r>
            <a:r>
              <a:rPr sz="869" b="0" i="0">
                <a:solidFill>
                  <a:srgbClr val="C2CBE8"/>
                </a:solidFill>
                <a:latin typeface="Arial"/>
              </a:rPr>
              <a:t> — every result re-trains the next playbook, so the system compounds.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Project NEXT  |  PULSE — Unilever's Always-On Brand Nervous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Page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09360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 i="1">
                <a:solidFill>
                  <a:srgbClr val="8791B8"/>
                </a:solidFill>
                <a:latin typeface="Arial"/>
              </a:rPr>
              <a:t>Brand DNAi, digital-twin production and Desire at Scale are real, existing Unilever capabilities — see appendix for 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6B4A"/>
                </a:solidFill>
                <a:latin typeface="Arial"/>
              </a:rPr>
              <a:t>3 / 5  —  PULSE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The Rexona armband, run through PULSE: under 4 hours, not 6 weeks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08760"/>
          <a:ext cx="11201398" cy="3977639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8213"/>
                <a:gridCol w="7058416"/>
                <a:gridCol w="1994769"/>
              </a:tblGrid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EC6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73152" marR="73152" marT="27432" marB="27432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EC6FF"/>
                          </a:solidFill>
                          <a:latin typeface="Arial"/>
                        </a:rPr>
                        <a:t>What happens</a:t>
                      </a:r>
                    </a:p>
                  </a:txBody>
                  <a:tcPr marL="73152" marR="73152" marT="27432" marB="27432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EC6FF"/>
                          </a:solidFill>
                          <a:latin typeface="Arial"/>
                        </a:rPr>
                        <a:t>Elapsed</a:t>
                      </a:r>
                    </a:p>
                  </a:txBody>
                  <a:tcPr marL="73152" marR="73152" marT="27432" marB="27432" anchor="ctr">
                    <a:solidFill>
                      <a:srgbClr val="1C3480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3EC6FF"/>
                          </a:solidFill>
                          <a:latin typeface="Arial"/>
                        </a:rPr>
                        <a:t>PERCEIVE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FFFFFF"/>
                          </a:solidFill>
                          <a:latin typeface="Arial"/>
                        </a:rPr>
                        <a:t>Broadcast + social monitoring flags the logo appearance and rising meme velocity across markets.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FFFFFF"/>
                          </a:solidFill>
                          <a:latin typeface="Arial"/>
                        </a:rPr>
                        <a:t>T+0 → T+10 min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3EC6FF"/>
                          </a:solidFill>
                          <a:latin typeface="Arial"/>
                        </a:rPr>
                        <a:t>UNDERSTAND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FFFFFF"/>
                          </a:solidFill>
                          <a:latin typeface="Arial"/>
                        </a:rPr>
                        <a:t>Signal scored against Rexona's codified strategy (composure under pressure); auto-classified Tier 1 — on-strategy, low-risk, high-velocity — triggers the pre-approved “cultural moment” playbook.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FFFFFF"/>
                          </a:solidFill>
                          <a:latin typeface="Arial"/>
                        </a:rPr>
                        <a:t>T+10 → T+20 min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6B4A"/>
                          </a:solidFill>
                          <a:latin typeface="Arial"/>
                        </a:rPr>
                        <a:t>LOCALIZE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FFFFFF"/>
                          </a:solidFill>
                          <a:latin typeface="Arial"/>
                        </a:rPr>
                        <a:t>Generative layer (Brand DNAi + digital twin) drafts caption + product-shot variants in brand voice, localized for priority markets.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FFFFFF"/>
                          </a:solidFill>
                          <a:latin typeface="Arial"/>
                        </a:rPr>
                        <a:t>T+20 min → T+1h20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6B4A"/>
                          </a:solidFill>
                          <a:latin typeface="Arial"/>
                        </a:rPr>
                        <a:t>SHIP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FFFFFF"/>
                          </a:solidFill>
                          <a:latin typeface="Arial"/>
                        </a:rPr>
                        <a:t>Brand manager — now a “signal editor” — reviews 3 AI-drafted options on one screen, edits, approves; publishes across markets simultaneously.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FFFFFF"/>
                          </a:solidFill>
                          <a:latin typeface="Arial"/>
                        </a:rPr>
                        <a:t>T+1h20 → T+3h50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</a:tr>
              <a:tr h="662944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22C38F"/>
                          </a:solidFill>
                          <a:latin typeface="Arial"/>
                        </a:rPr>
                        <a:t>EVALUATE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FFFFFF"/>
                          </a:solidFill>
                          <a:latin typeface="Arial"/>
                        </a:rPr>
                        <a:t>Real-time engagement feeds the media-amplification decision and updates the playbook for next time.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FFFFFF"/>
                          </a:solidFill>
                          <a:latin typeface="Arial"/>
                        </a:rPr>
                        <a:t>Continuous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5623560"/>
            <a:ext cx="11201400" cy="594360"/>
          </a:xfrm>
          <a:prstGeom prst="roundRect">
            <a:avLst>
              <a:gd name="adj" fmla="val 10000"/>
            </a:avLst>
          </a:prstGeom>
          <a:solidFill>
            <a:srgbClr val="1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742432"/>
            <a:ext cx="10698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1">
                <a:solidFill>
                  <a:srgbClr val="3EC6FF"/>
                </a:solidFill>
                <a:latin typeface="Arial"/>
              </a:rPr>
              <a:t>The pre-built playbook is the point: the creative judgment happens calmly, in advance — the same composure the tagline promises, built into the process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Project NEXT  |  PULSE — Unilever's Always-On Brand Nervous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Page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09360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 i="1">
                <a:solidFill>
                  <a:srgbClr val="8791B8"/>
                </a:solidFill>
                <a:latin typeface="Arial"/>
              </a:rPr>
              <a:t>Illustrative timings for a system design proposal, not measured production data — see appendix.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6B4A"/>
                </a:solidFill>
                <a:latin typeface="Arial"/>
              </a:rPr>
              <a:t>4 / 5  —  THE WHOLE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Not just reactive moments — the same nervous system runs three clock speeds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2CBE8"/>
                </a:solidFill>
                <a:latin typeface="Arial"/>
              </a:rPr>
              <a:t>One Brand Signal Graph, one Brand DNAi safety layer, three cadences of the same PULSE loop.</a:t>
            </a:r>
          </a:p>
        </p:txBody>
      </p:sp>
      <p:pic>
        <p:nvPicPr>
          <p:cNvPr id="6" name="Picture 5" descr="three_clockspe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17320"/>
            <a:ext cx="429768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80644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142863"/>
          </a:solidFill>
          <a:ln w="16510">
            <a:solidFill>
              <a:srgbClr val="3E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70448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1" i="0">
                <a:solidFill>
                  <a:srgbClr val="3EC6FF"/>
                </a:solidFill>
                <a:latin typeface="Arial"/>
              </a:rPr>
              <a:t>MOMENTS  ·  minutes –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0819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 i="0">
                <a:solidFill>
                  <a:srgbClr val="C2CBE8"/>
                </a:solidFill>
                <a:latin typeface="Arial"/>
              </a:rPr>
              <a:t>Unscripted cultural moments. PULSE runs end-to-end inside tiered guardrails.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580644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142863"/>
          </a:solidFill>
          <a:ln w="1651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5870448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1" i="0">
                <a:solidFill>
                  <a:srgbClr val="FF6B4A"/>
                </a:solidFill>
                <a:latin typeface="Arial"/>
              </a:rPr>
              <a:t>CAMPAIGNS  · 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10819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 i="0">
                <a:solidFill>
                  <a:srgbClr val="C2CBE8"/>
                </a:solidFill>
                <a:latin typeface="Arial"/>
              </a:rPr>
              <a:t>Planned activations — same graph informs the brief; same engine cuts production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580644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142863"/>
          </a:solidFill>
          <a:ln w="16510">
            <a:solidFill>
              <a:srgbClr val="22C3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5870448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1" i="0">
                <a:solidFill>
                  <a:srgbClr val="22C38F"/>
                </a:solidFill>
                <a:latin typeface="Arial"/>
              </a:rPr>
              <a:t>STRATEGY  ·  quarters –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610819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 i="0">
                <a:solidFill>
                  <a:srgbClr val="C2CBE8"/>
                </a:solidFill>
                <a:latin typeface="Arial"/>
              </a:rPr>
              <a:t>Brand positioning — continuous signal replaces periodic research waves.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Project NEXT  |  PULSE — Unilever's Always-On Brand Nervous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6B4A"/>
                </a:solidFill>
                <a:latin typeface="Arial"/>
              </a:rPr>
              <a:t>5 / 5  —  WHY THIS MAKES US INVINCIBLE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Competitors can buy the same models. They can't buy our signal graph.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2679192" cy="3200400"/>
          </a:xfrm>
          <a:prstGeom prst="roundRect">
            <a:avLst>
              <a:gd name="adj" fmla="val 6000"/>
            </a:avLst>
          </a:prstGeom>
          <a:solidFill>
            <a:srgbClr val="142863"/>
          </a:solidFill>
          <a:ln w="19050">
            <a:solidFill>
              <a:srgbClr val="3E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679192" cy="566928"/>
          </a:xfrm>
          <a:prstGeom prst="roundRect">
            <a:avLst>
              <a:gd name="adj" fmla="val 0"/>
            </a:avLst>
          </a:prstGeom>
          <a:solidFill>
            <a:srgbClr val="3E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64792"/>
            <a:ext cx="24597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30" b="1" i="0">
                <a:solidFill>
                  <a:srgbClr val="0A1440"/>
                </a:solidFill>
                <a:latin typeface="Arial"/>
              </a:rPr>
              <a:t>COMPOUNDS OVER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468880"/>
            <a:ext cx="235000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9" b="0" i="0">
                <a:solidFill>
                  <a:srgbClr val="C2CBE8"/>
                </a:solidFill>
                <a:latin typeface="Arial"/>
              </a:rPr>
              <a:t>The Brand Signal Graph and its playbooks accumulate with every loop — a rival starting today begins at zero, no matter which foundation model they license.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691640"/>
            <a:ext cx="2679192" cy="3200400"/>
          </a:xfrm>
          <a:prstGeom prst="roundRect">
            <a:avLst>
              <a:gd name="adj" fmla="val 6000"/>
            </a:avLst>
          </a:prstGeom>
          <a:solidFill>
            <a:srgbClr val="142863"/>
          </a:solidFill>
          <a:ln w="19050">
            <a:solidFill>
              <a:srgbClr val="22C3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4992" y="1691640"/>
            <a:ext cx="2679192" cy="566928"/>
          </a:xfrm>
          <a:prstGeom prst="roundRect">
            <a:avLst>
              <a:gd name="adj" fmla="val 0"/>
            </a:avLst>
          </a:prstGeom>
          <a:solidFill>
            <a:srgbClr val="22C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64792"/>
            <a:ext cx="24597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30" b="1" i="0">
                <a:solidFill>
                  <a:srgbClr val="0A1440"/>
                </a:solidFill>
                <a:latin typeface="Arial"/>
              </a:rPr>
              <a:t>GOVERNED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468880"/>
            <a:ext cx="235000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9" b="0" i="0">
                <a:solidFill>
                  <a:srgbClr val="C2CBE8"/>
                </a:solidFill>
                <a:latin typeface="Arial"/>
              </a:rPr>
              <a:t>Tiered autonomy (auto / fast-track / escalate) means speed and brand safety were never a trade-off — Brand DNAi enforces voice and compliance at every tier.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91640"/>
            <a:ext cx="2679192" cy="3200400"/>
          </a:xfrm>
          <a:prstGeom prst="roundRect">
            <a:avLst>
              <a:gd name="adj" fmla="val 6000"/>
            </a:avLst>
          </a:prstGeom>
          <a:solidFill>
            <a:srgbClr val="142863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7064" y="1691640"/>
            <a:ext cx="2679192" cy="566928"/>
          </a:xfrm>
          <a:prstGeom prst="roundRect">
            <a:avLst>
              <a:gd name="adj" fmla="val 0"/>
            </a:avLst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764792"/>
            <a:ext cx="24597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30" b="1" i="0">
                <a:solidFill>
                  <a:srgbClr val="0A1440"/>
                </a:solidFill>
                <a:latin typeface="Arial"/>
              </a:rPr>
              <a:t>INSTITUTIONAL JUDGMENT, CODIFIED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468880"/>
            <a:ext cx="235000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9" b="0" i="0">
                <a:solidFill>
                  <a:srgbClr val="C2CBE8"/>
                </a:solidFill>
                <a:latin typeface="Arial"/>
              </a:rPr>
              <a:t>Playbooks capture what brand teams already know works — built calmly in advance, so the in-the-moment step is a lookup, not a live debate.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9136" y="1691640"/>
            <a:ext cx="2679192" cy="3200400"/>
          </a:xfrm>
          <a:prstGeom prst="roundRect">
            <a:avLst>
              <a:gd name="adj" fmla="val 6000"/>
            </a:avLst>
          </a:prstGeom>
          <a:solidFill>
            <a:srgbClr val="142863"/>
          </a:solidFill>
          <a:ln w="19050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89136" y="1691640"/>
            <a:ext cx="2679192" cy="566928"/>
          </a:xfrm>
          <a:prstGeom prst="roundRect">
            <a:avLst>
              <a:gd name="adj" fmla="val 0"/>
            </a:avLst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1764792"/>
            <a:ext cx="24597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30" b="1" i="0">
                <a:solidFill>
                  <a:srgbClr val="0A1440"/>
                </a:solidFill>
                <a:latin typeface="Arial"/>
              </a:rPr>
              <a:t>A NEW ROLE, NOT A SMALLER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2468880"/>
            <a:ext cx="235000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9" b="0" i="0">
                <a:solidFill>
                  <a:srgbClr val="C2CBE8"/>
                </a:solidFill>
                <a:latin typeface="Arial"/>
              </a:rPr>
              <a:t>The Brand Manager becomes a “signal editor” — setting playbook strategy and approving output — spending time on judgment, not chasing agency deliverables.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66360"/>
            <a:ext cx="11201400" cy="960120"/>
          </a:xfrm>
          <a:prstGeom prst="roundRect">
            <a:avLst>
              <a:gd name="adj" fmla="val 6000"/>
            </a:avLst>
          </a:prstGeom>
          <a:solidFill>
            <a:srgbClr val="1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21808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1">
                <a:solidFill>
                  <a:srgbClr val="FFFFFF"/>
                </a:solidFill>
                <a:latin typeface="Arial"/>
              </a:rPr>
              <a:t>“It won't EVER let you down” isn't just the Rexona tagline anymore — it's the design spec for the process behind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Project NEXT  |  PULSE — Unilever's Always-On Brand Nervous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6B4A"/>
                </a:solidFill>
                <a:latin typeface="Arial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Sources, assumptions &amp; governance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EC6FF"/>
                </a:solidFill>
                <a:latin typeface="Arial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How Unilever is building an AI-first enterprise at scale — Unilever (unilever.com/news/news-search/2026)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66543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How AI is helping drive Desire at Scale across Unilever — Unilever (unilever.com/news/news-search/2025)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39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Unilever reinvents product shoots with digital twins and AI — Unilever press release (unilever.com/news/press-and-media/2025)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88335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How AI is transforming Unilever's Personal Care business (names “Brand DNAi”) — Unilever (unilever.com/news/news-search/2025)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99231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Behind The Scenes Of Oreo's Real-Time Super Bowl Slam Dunk — Forbes, 2013 (forbes.com/sites/jenniferrooney)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10127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From ideation to execution: generative AI in modern digital marketing — ScienceDirect systematic review,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21023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AI Marketing Case Studies 2026 — Pragmatic Digital (pragmatic.digital/blog)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EC6FF"/>
                </a:solidFill>
                <a:latin typeface="Arial"/>
              </a:rPr>
              <a:t>ASSUMPTIONS &amp; GOVERNANCE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976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2CBE8"/>
                </a:solidFill>
                <a:latin typeface="Arial"/>
              </a:rPr>
              <a:t>•  This is a conceptual system-design case with no dataset or slide limit provided; scope and format (cover + 5 content slides + appendix) were self-set.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2CBE8"/>
                </a:solidFill>
                <a:latin typeface="Arial"/>
              </a:rPr>
              <a:t>•  Timings in the Rexona walkthrough (“under 4 hours”) are illustrative targets for a system proposal, not measured data — the honest reference point is the cited literature's 30-50% production-time reduction from generative AI adoption.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120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2CBE8"/>
                </a:solidFill>
                <a:latin typeface="Arial"/>
              </a:rPr>
              <a:t>•  Real-time computer-vision detection of an unscripted brand appearance (e.g. spotting a logo on a match official's armband) is a genuinely hard sensing problem beyond text/social listening and is flagged as a build risk, not assumed solved.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69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2CBE8"/>
                </a:solidFill>
                <a:latin typeface="Arial"/>
              </a:rPr>
              <a:t>•  Tiered auto-publish carries brand-safety and legal risk if scoring is miscalibrated — recommend a narrow Tier-1 (auto-publish) scope at launch, expanding only as the Signal Graph accumulates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1264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2CBE8"/>
                </a:solidFill>
                <a:latin typeface="Arial"/>
              </a:rPr>
              <a:t>•  PULSE is proposed as an orchestration layer over Unilever's existing Brand DNAi, digital-twin production and Desire at Scale capabilities — not a replacement for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Project NEXT  |  PULSE — Unilever's Always-On Brand Nervous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