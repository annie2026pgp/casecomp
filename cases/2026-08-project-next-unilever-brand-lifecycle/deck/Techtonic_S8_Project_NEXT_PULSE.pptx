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6B4A"/>
                </a:solidFill>
                <a:latin typeface="Arial"/>
              </a:rPr>
              <a:t>TECHTONIC SEASON 8  ·  PROJECT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Arial"/>
              </a:rP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8529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EC6FF"/>
                </a:solidFill>
                <a:latin typeface="Arial"/>
              </a:rPr>
              <a:t>Unilever's Always-On Brand Nervous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310128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C2CBE8"/>
                </a:solidFill>
                <a:latin typeface="Arial"/>
              </a:rPr>
              <a:t>A portfolio of AI products on one shared backbone — proven end-to-end on the Rexona armband moment, with a working prototype of the flagship product, Moment Studio.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8791B8"/>
                </a:solidFill>
                <a:latin typeface="Arial"/>
              </a:rPr>
              <a:t>#AIAtUnilever   #TechDoneRight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532120"/>
            <a:ext cx="2926080" cy="18288"/>
          </a:xfrm>
          <a:prstGeom prst="rect">
            <a:avLst/>
          </a:prstGeom>
          <a:solidFill>
            <a:srgbClr val="2C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Ranjana Mainani — Product Manager, Project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791B8"/>
                </a:solidFill>
                <a:latin typeface="Arial"/>
              </a:rPr>
              <a:t>cases/2026-08-project-next-unilever-brand-lifecycle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3EC6FF"/>
                </a:solidFill>
                <a:latin typeface="Arial"/>
              </a:rPr>
              <a:t>Prototype: claude.ai/code/artifact/07a83b55-6cab-4866-937b-f4f79e9b7701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6B4A"/>
                </a:solidFill>
                <a:latin typeface="Arial"/>
              </a:rPr>
              <a:t>1 / 3  —  SYNOPSIS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The gap isn't tooling. It's synthesis — and it costs us the whole moment.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2CBE8"/>
                </a:solidFill>
                <a:latin typeface="Arial"/>
              </a:rPr>
              <a:t>Unilever already has social listening, web scraping and isolated AI pilots. They run independently, so a human manually stitches signal to publish — every time, across every stage of the lifecycle.</a:t>
            </a:r>
          </a:p>
        </p:txBody>
      </p:sp>
      <p:pic>
        <p:nvPicPr>
          <p:cNvPr id="6" name="Picture 5" descr="tim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580644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703320"/>
            <a:ext cx="5715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1" i="0">
                <a:solidFill>
                  <a:srgbClr val="FF6B4A"/>
                </a:solidFill>
                <a:latin typeface="Arial"/>
              </a:rPr>
              <a:t>WHAT'S ACTUALLY BROKEN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5715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43-day agency pipeline</a:t>
            </a:r>
            <a:r>
              <a:rPr sz="960" b="0" i="0">
                <a:solidFill>
                  <a:srgbClr val="C2CBE8"/>
                </a:solidFill>
                <a:latin typeface="Arial"/>
              </a:rPr>
              <a:t> vs. a viral window measured in minutes — by the time content ships, the moment is dead.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Point capabilities, zero wiring</a:t>
            </a:r>
            <a:r>
              <a:rPr sz="960" b="0" i="0">
                <a:solidFill>
                  <a:srgbClr val="C2CBE8"/>
                </a:solidFill>
                <a:latin typeface="Arial"/>
              </a:rPr>
              <a:t> — listening, scraping and AI pilots exist but don't talk to each other; a human is the integration layer.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Every asset is bespoke</a:t>
            </a:r>
            <a:r>
              <a:rPr sz="960" b="0" i="0">
                <a:solidFill>
                  <a:srgbClr val="C2CBE8"/>
                </a:solidFill>
                <a:latin typeface="Arial"/>
              </a:rPr>
              <a:t> — nothing from one campaign compounds into the next; each cycle restarts from zero.</a:t>
            </a:r>
          </a:p>
        </p:txBody>
      </p:sp>
      <p:pic>
        <p:nvPicPr>
          <p:cNvPr id="9" name="Picture 8" descr="three_clockspe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17320"/>
            <a:ext cx="3246120" cy="3246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21240" y="155448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3EC6FF"/>
                </a:solidFill>
                <a:latin typeface="Arial"/>
              </a:rPr>
              <a:t>REDEFINING THE LIFECYCLE — WHERE AI CREATES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2331720"/>
            <a:ext cx="17830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940" b="1" i="0">
                <a:solidFill>
                  <a:srgbClr val="3EC6FF"/>
                </a:solidFill>
                <a:latin typeface="Arial"/>
              </a:rPr>
              <a:t>Moments</a:t>
            </a:r>
            <a:r>
              <a:rPr sz="860" b="0" i="0">
                <a:solidFill>
                  <a:srgbClr val="C2CBE8"/>
                </a:solidFill>
                <a:latin typeface="Arial"/>
              </a:rPr>
              <a:t> (min–hrs): sense &amp; react before virality decays.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940" b="1" i="0">
                <a:solidFill>
                  <a:srgbClr val="FF6B4A"/>
                </a:solidFill>
                <a:latin typeface="Arial"/>
              </a:rPr>
              <a:t>Campaigns</a:t>
            </a:r>
            <a:r>
              <a:rPr sz="860" b="0" i="0">
                <a:solidFill>
                  <a:srgbClr val="C2CBE8"/>
                </a:solidFill>
                <a:latin typeface="Arial"/>
              </a:rPr>
              <a:t> (weeks): brief + production cut from weeks to days.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940" b="1" i="0">
                <a:solidFill>
                  <a:srgbClr val="22C38F"/>
                </a:solidFill>
                <a:latin typeface="Arial"/>
              </a:rPr>
              <a:t>Strategy</a:t>
            </a:r>
            <a:r>
              <a:rPr sz="860" b="0" i="0">
                <a:solidFill>
                  <a:srgbClr val="C2CBE8"/>
                </a:solidFill>
                <a:latin typeface="Arial"/>
              </a:rPr>
              <a:t> (qtrs–yrs): continuous signal replaces periodic research.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989320"/>
            <a:ext cx="11201400" cy="548640"/>
          </a:xfrm>
          <a:prstGeom prst="roundRect">
            <a:avLst>
              <a:gd name="adj" fmla="val 12000"/>
            </a:avLst>
          </a:prstGeom>
          <a:solidFill>
            <a:srgbClr val="1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89904"/>
            <a:ext cx="10698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1" i="1">
                <a:solidFill>
                  <a:srgbClr val="3EC6FF"/>
                </a:solidFill>
                <a:latin typeface="Arial"/>
              </a:rPr>
              <a:t>This isn't a tooling gap — it's a wiring gap. The fix is removing manual synthesis from the critical path, at every clock speed.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Project NEXT  |  PULSE — Unilever's Always-On Brand Nervous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6B4A"/>
                </a:solidFill>
                <a:latin typeface="Arial"/>
              </a:rPr>
              <a:t>2 / 3  —  THE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Six products, one backbone — prioritized by dependency and time-to-value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2CBE8"/>
                </a:solidFill>
                <a:latin typeface="Arial"/>
              </a:rPr>
              <a:t>Every product below is built on PULSE: one Brand Signal Graph + Brand DNAi orchestration layer, not six separate AI builds.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6903719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44253"/>
                <a:gridCol w="1362576"/>
                <a:gridCol w="1725930"/>
                <a:gridCol w="1725930"/>
                <a:gridCol w="54503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3EC6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73152" marR="73152" marT="27432" marB="27432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3EC6FF"/>
                          </a:solidFill>
                          <a:latin typeface="Arial"/>
                        </a:rPr>
                        <a:t>Lifecycle stage</a:t>
                      </a:r>
                    </a:p>
                  </a:txBody>
                  <a:tcPr marL="73152" marR="73152" marT="27432" marB="27432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3EC6FF"/>
                          </a:solidFill>
                          <a:latin typeface="Arial"/>
                        </a:rPr>
                        <a:t>Area of solution</a:t>
                      </a:r>
                    </a:p>
                  </a:txBody>
                  <a:tcPr marL="73152" marR="73152" marT="27432" marB="27432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3EC6FF"/>
                          </a:solidFill>
                          <a:latin typeface="Arial"/>
                        </a:rPr>
                        <a:t>Core tech</a:t>
                      </a:r>
                    </a:p>
                  </a:txBody>
                  <a:tcPr marL="73152" marR="73152" marT="27432" marB="27432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3EC6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73152" marR="73152" marT="27432" marB="27432" anchor="ctr">
                    <a:solidFill>
                      <a:srgbClr val="1C348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Signal Radar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Perceive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Unified real-time sensing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Multi-source ingestion, brand/logo recognition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6B4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Playbook Studio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Understand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Governance &amp; knowledge codification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Rules+ML brand-fit/risk scoring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6B4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Moment Studio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Localize + Ship (reactive)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Real-time creative production &amp; approval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Multi-agent generation + human console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6B4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Campaign Composer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Localize + Ship (planned)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Planned content production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Same generation agents, brief-driven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2C38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Brand Pulse Dashboard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Evaluate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Measurement &amp; feedback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Real-time analytics, closed-loop scoring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2C38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Strategy Compass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Strategy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Long-cycle positioning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Arial"/>
                        </a:rPr>
                        <a:t>Longitudinal signal analysis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B84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1C3480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portfolio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72768"/>
            <a:ext cx="4114800" cy="1965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4663440"/>
            <a:ext cx="11201400" cy="1783080"/>
          </a:xfrm>
          <a:prstGeom prst="roundRect">
            <a:avLst>
              <a:gd name="adj" fmla="val 4000"/>
            </a:avLst>
          </a:prstGeom>
          <a:solidFill>
            <a:srgbClr val="142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6B4A"/>
                </a:solidFill>
                <a:latin typeface="Arial"/>
              </a:rPr>
              <a:t>PRIORITIZATION RATIONALE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02352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69" b="1" i="0">
                <a:solidFill>
                  <a:srgbClr val="FF6B4A"/>
                </a:solidFill>
                <a:latin typeface="Arial"/>
              </a:rPr>
              <a:t>Phase 1 — foundation + first win: </a:t>
            </a:r>
            <a:r>
              <a:rPr sz="950" b="0" i="0">
                <a:solidFill>
                  <a:srgbClr val="C2CBE8"/>
                </a:solidFill>
                <a:latin typeface="Arial"/>
              </a:rPr>
              <a:t>Signal Radar + Playbook Studio are prerequisites nothing else works without; Moment Studio ships alongside them as the fastest, highest-visibility proof of value.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69" b="1" i="0">
                <a:solidFill>
                  <a:srgbClr val="22C38F"/>
                </a:solidFill>
                <a:latin typeface="Arial"/>
              </a:rPr>
              <a:t>Phase 2 — scale production: </a:t>
            </a:r>
            <a:r>
              <a:rPr sz="950" b="0" i="0">
                <a:solidFill>
                  <a:srgbClr val="C2CBE8"/>
                </a:solidFill>
                <a:latin typeface="Arial"/>
              </a:rPr>
              <a:t>Campaign Composer reuses Moment Studio's generation agents at near-zero incremental cost; Brand Pulse Dashboard closes the loop to justify further investment.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69" b="1" i="0">
                <a:solidFill>
                  <a:srgbClr val="FFB84D"/>
                </a:solidFill>
                <a:latin typeface="Arial"/>
              </a:rPr>
              <a:t>Phase 3 — compounding advantage: </a:t>
            </a:r>
            <a:r>
              <a:rPr sz="950" b="0" i="0">
                <a:solidFill>
                  <a:srgbClr val="C2CBE8"/>
                </a:solidFill>
                <a:latin typeface="Arial"/>
              </a:rPr>
              <a:t>Strategy Compass ships last, deliberately — it needs the longest accumulated signal history to be trustworthy.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Project NEXT  |  PULSE — Unilever's Always-On Brand Nervous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6B4A"/>
                </a:solidFill>
                <a:latin typeface="Arial"/>
              </a:rPr>
              <a:t>3 / 3  —  PRODUCT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Moment Studio: user journey, agents, governance, cost &amp; roadmap</a:t>
            </a:r>
          </a:p>
        </p:txBody>
      </p:sp>
      <p:pic>
        <p:nvPicPr>
          <p:cNvPr id="5" name="Picture 4" descr="moment_studio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11338560" cy="20848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520440"/>
            <a:ext cx="3630168" cy="2697480"/>
          </a:xfrm>
          <a:prstGeom prst="roundRect">
            <a:avLst>
              <a:gd name="adj" fmla="val 5000"/>
            </a:avLst>
          </a:prstGeom>
          <a:solidFill>
            <a:srgbClr val="142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630168"/>
            <a:ext cx="3337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3EC6FF"/>
                </a:solidFill>
                <a:latin typeface="Arial"/>
              </a:rPr>
              <a:t>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3849624"/>
            <a:ext cx="3337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80" b="0" i="0">
                <a:solidFill>
                  <a:srgbClr val="C2CBE8"/>
                </a:solidFill>
                <a:latin typeface="Arial"/>
              </a:rPr>
              <a:t>•  Real-time signal-to-playbook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4027932"/>
            <a:ext cx="3337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80" b="0" i="0">
                <a:solidFill>
                  <a:srgbClr val="C2CBE8"/>
                </a:solidFill>
                <a:latin typeface="Arial"/>
              </a:rPr>
              <a:t>•  Multi-variant generative drafting (copy + visual)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4206240"/>
            <a:ext cx="3337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80" b="0" i="0">
                <a:solidFill>
                  <a:srgbClr val="C2CBE8"/>
                </a:solidFill>
                <a:latin typeface="Arial"/>
              </a:rPr>
              <a:t>•  Side-by-side human review, inline editing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4384548"/>
            <a:ext cx="3337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80" b="0" i="0">
                <a:solidFill>
                  <a:srgbClr val="C2CBE8"/>
                </a:solidFill>
                <a:latin typeface="Arial"/>
              </a:rPr>
              <a:t>•  One-click multi-market publish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4562856"/>
            <a:ext cx="3337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80" b="0" i="0">
                <a:solidFill>
                  <a:srgbClr val="C2CBE8"/>
                </a:solidFill>
                <a:latin typeface="Arial"/>
              </a:rPr>
              <a:t>•  Full audit trail + kill-switch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4786884"/>
            <a:ext cx="3337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3EC6FF"/>
                </a:solidFill>
                <a:latin typeface="Arial"/>
              </a:rPr>
              <a:t>HUMAN OVERSIGHT BY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5015484"/>
            <a:ext cx="502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22C38F"/>
                </a:solidFill>
                <a:latin typeface="Arial"/>
              </a:rPr>
              <a:t>Tier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5015484"/>
            <a:ext cx="2807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30" b="0" i="0">
                <a:solidFill>
                  <a:srgbClr val="C2CBE8"/>
                </a:solidFill>
                <a:latin typeface="Arial"/>
              </a:rPr>
              <a:t>Pre-cleared archetype — Single-tap approve, ≤15 min SLA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5308092"/>
            <a:ext cx="502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FB84D"/>
                </a:solidFill>
                <a:latin typeface="Arial"/>
              </a:rPr>
              <a:t>Tier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5308092"/>
            <a:ext cx="2807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30" b="0" i="0">
                <a:solidFill>
                  <a:srgbClr val="C2CBE8"/>
                </a:solidFill>
                <a:latin typeface="Arial"/>
              </a:rPr>
              <a:t>Novel but on-strategy — Full review + edit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600700"/>
            <a:ext cx="502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9AA0A6"/>
                </a:solidFill>
                <a:latin typeface="Arial"/>
              </a:rPr>
              <a:t>Tier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5600700"/>
            <a:ext cx="2807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30" b="0" i="0">
                <a:solidFill>
                  <a:srgbClr val="C2CBE8"/>
                </a:solidFill>
                <a:latin typeface="Arial"/>
              </a:rPr>
              <a:t>Off-playbook / sensitive — Escalate to brand &amp; legal, no AI draft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8536" y="3520440"/>
            <a:ext cx="3630168" cy="2697480"/>
          </a:xfrm>
          <a:prstGeom prst="roundRect">
            <a:avLst>
              <a:gd name="adj" fmla="val 5000"/>
            </a:avLst>
          </a:prstGeom>
          <a:solidFill>
            <a:srgbClr val="142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648456"/>
            <a:ext cx="33009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3EC6FF"/>
                </a:solidFill>
                <a:latin typeface="Arial"/>
              </a:rPr>
              <a:t>COST &amp; IMPLEMENTATION ROADMAP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425696" y="3922776"/>
          <a:ext cx="3355846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1988"/>
                <a:gridCol w="525263"/>
                <a:gridCol w="1517426"/>
                <a:gridCol w="671169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3EC6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73152" marR="73152" marT="27432" marB="27432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3EC6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27432" marB="27432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3EC6FF"/>
                          </a:solidFill>
                          <a:latin typeface="Arial"/>
                        </a:rPr>
                        <a:t>Squad</a:t>
                      </a:r>
                    </a:p>
                  </a:txBody>
                  <a:tcPr marL="73152" marR="73152" marT="27432" marB="27432" anchor="ctr">
                    <a:solidFill>
                      <a:srgbClr val="1C3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1">
                          <a:solidFill>
                            <a:srgbClr val="3EC6FF"/>
                          </a:solidFill>
                          <a:latin typeface="Arial"/>
                        </a:rPr>
                        <a:t>Illustrative cost</a:t>
                      </a:r>
                    </a:p>
                  </a:txBody>
                  <a:tcPr marL="73152" marR="73152" marT="27432" marB="27432" anchor="ctr">
                    <a:solidFill>
                      <a:srgbClr val="1C3480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MVP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30" b="0">
                          <a:solidFill>
                            <a:srgbClr val="FFFFFF"/>
                          </a:solidFill>
                          <a:latin typeface="Arial"/>
                        </a:rPr>
                        <a:t>Mo. 0-3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30" b="0">
                          <a:solidFill>
                            <a:srgbClr val="FFFFFF"/>
                          </a:solidFill>
                          <a:latin typeface="Arial"/>
                        </a:rPr>
                        <a:t>~6 (PM, 2-3 AI/ML eng, 1-2 full-stack, design)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30" b="0">
                          <a:solidFill>
                            <a:srgbClr val="FFFFFF"/>
                          </a:solidFill>
                          <a:latin typeface="Arial"/>
                        </a:rPr>
                        <a:t>$250-400K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Pilot expand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30" b="0">
                          <a:solidFill>
                            <a:srgbClr val="FFFFFF"/>
                          </a:solidFill>
                          <a:latin typeface="Arial"/>
                        </a:rPr>
                        <a:t>Mo. 4-6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30" b="0">
                          <a:solidFill>
                            <a:srgbClr val="FFFFFF"/>
                          </a:solidFill>
                          <a:latin typeface="Arial"/>
                        </a:rPr>
                        <a:t>Same squad + brand/legal governance lead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30" b="0">
                          <a:solidFill>
                            <a:srgbClr val="FFFFFF"/>
                          </a:solidFill>
                          <a:latin typeface="Arial"/>
                        </a:rPr>
                        <a:t>$150-250K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Phase 2 rollout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30" b="0">
                          <a:solidFill>
                            <a:srgbClr val="FFFFFF"/>
                          </a:solidFill>
                          <a:latin typeface="Arial"/>
                        </a:rPr>
                        <a:t>Mo. 7-12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30" b="0">
                          <a:solidFill>
                            <a:srgbClr val="FFFFFF"/>
                          </a:solidFill>
                          <a:latin typeface="Arial"/>
                        </a:rPr>
                        <a:t>+2 eng for Campaign Composer, Dashboard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30" b="0">
                          <a:solidFill>
                            <a:srgbClr val="FFFFFF"/>
                          </a:solidFill>
                          <a:latin typeface="Arial"/>
                        </a:rPr>
                        <a:t>$400-600K</a:t>
                      </a:r>
                    </a:p>
                  </a:txBody>
                  <a:tcPr marL="73152" marR="73152" marT="18288" marB="18288" anchor="ctr">
                    <a:solidFill>
                      <a:srgbClr val="142863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453128" y="5550408"/>
            <a:ext cx="3300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40" b="0" i="1">
                <a:solidFill>
                  <a:srgbClr val="8791B8"/>
                </a:solidFill>
                <a:latin typeface="Arial"/>
              </a:rPr>
              <a:t>Illustrative planning estimates only — not sourced Unilever cost data. Assumes reuse of existing Brand DNAi / digital-twin infrastructure.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3520440"/>
            <a:ext cx="3630168" cy="2697480"/>
          </a:xfrm>
          <a:prstGeom prst="roundRect">
            <a:avLst>
              <a:gd name="adj" fmla="val 5000"/>
            </a:avLst>
          </a:prstGeom>
          <a:solidFill>
            <a:srgbClr val="142863"/>
          </a:solidFill>
          <a:ln w="1651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3648456"/>
            <a:ext cx="33009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FF6B4A"/>
                </a:solidFill>
                <a:latin typeface="Arial"/>
              </a:rPr>
              <a:t>PROTOTYPE — TRY IT LIVE</a:t>
            </a:r>
          </a:p>
        </p:txBody>
      </p:sp>
      <p:pic>
        <p:nvPicPr>
          <p:cNvPr id="26" name="Picture 25" descr="prototype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456" y="3904488"/>
            <a:ext cx="3337560" cy="15727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38744" y="5532120"/>
            <a:ext cx="3300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" b="0" i="0">
                <a:solidFill>
                  <a:srgbClr val="C2CBE8"/>
                </a:solidFill>
                <a:latin typeface="Arial"/>
              </a:rPr>
              <a:t>Functional console: signal detected → AI-tiered → variants drafted → human approve → publish → performance feedback loop.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5916168"/>
            <a:ext cx="33009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1" i="0">
                <a:solidFill>
                  <a:srgbClr val="3EC6FF"/>
                </a:solidFill>
                <a:latin typeface="Arial"/>
              </a:rPr>
              <a:t>claude.ai/code/artifact/07a83b55…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Project NEXT  |  PULSE — Unilever's Always-On Brand Nervous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Page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09360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 i="1">
                <a:solidFill>
                  <a:srgbClr val="8791B8"/>
                </a:solidFill>
                <a:latin typeface="Arial"/>
              </a:rPr>
              <a:t>Full architecture, agent detail and cost assumptions in the appendix and analysis.md.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6B4A"/>
                </a:solidFill>
                <a:latin typeface="Arial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Sources, assumptions &amp; governance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EC6FF"/>
                </a:solidFill>
                <a:latin typeface="Arial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How Unilever is building an AI-first enterprise at scale — Unilever (unilever.com/news/news-search/2026)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66543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How AI is helping drive Desire at Scale across Unilever — Unilever (unilever.com/news/news-search/2025)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39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Unilever reinvents product shoots with digital twins and AI — Unilever press release (unilever.com/news/press-and-media/2025)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88335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How AI is transforming Unilever's Personal Care business (names “Brand DNAi”) — Unilever (unilever.com/news/news-search/2025)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99231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Behind The Scenes Of Oreo's Real-Time Super Bowl Slam Dunk — Forbes, 2013 (forbes.com/sites/jenniferrooney)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7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From ideation to execution: generative AI in modern digital marketing — ScienceDirect systematic review,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21023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C2CBE8"/>
                </a:solidFill>
                <a:latin typeface="Arial"/>
              </a:rPr>
              <a:t>•  AI Marketing Case Studies 2026 — Pragmatic Digital (pragmatic.digital/blog)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EC6FF"/>
                </a:solidFill>
                <a:latin typeface="Arial"/>
              </a:rPr>
              <a:t>ASSUMPTIONS &amp; GOVERNANCE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976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C2CBE8"/>
                </a:solidFill>
                <a:latin typeface="Arial"/>
              </a:rPr>
              <a:t>•  Official brief (Techtonic Season 8, source PDF) requires 3 submission slides + a mandatory prototype; cover and this appendix sit outside that 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0016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C2CBE8"/>
                </a:solidFill>
                <a:latin typeface="Arial"/>
              </a:rPr>
              <a:t>•  Timings in the Moment Studio walkthrough are illustrative targets for a system proposal, not measured data — the honest reference point is the cited literature's 30-50% production-time reduction from generative AI adoption.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0235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C2CBE8"/>
                </a:solidFill>
                <a:latin typeface="Arial"/>
              </a:rPr>
              <a:t>•  Cost estimates on slide 3 are illustrative planning placeholders, not sourced Unilever figures — flagged explicitly rather than presented as researched.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04688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C2CBE8"/>
                </a:solidFill>
                <a:latin typeface="Arial"/>
              </a:rPr>
              <a:t>•  Real-time computer-vision detection of an unscripted brand appearance (e.g. a logo on a match official's armband) is a genuinely hard sensing problem beyond text/social listening, flagged as build risk, not assumed solved.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07024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C2CBE8"/>
                </a:solidFill>
                <a:latin typeface="Arial"/>
              </a:rPr>
              <a:t>•  Human-tap approval, even fast-tracked (Tier 1, ≤15 min SLA), is a deliberate choice over fully autonomous publish — speed traded for governance rigor.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C2CBE8"/>
                </a:solidFill>
                <a:latin typeface="Arial"/>
              </a:rPr>
              <a:t>•  The prototype (linked on cover and slide 3) is a UI/flow mock-up demonstrating the intended experience and decision logic — not wired to real Unilever data, Brand DNAi, or distribution systems.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Project NEXT  |  PULSE — Unilever's Always-On Brand Nervous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791B8"/>
                </a:solidFill>
                <a:latin typeface="Arial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