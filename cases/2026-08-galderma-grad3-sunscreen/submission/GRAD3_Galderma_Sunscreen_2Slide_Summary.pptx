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8734A"/>
                </a:solidFill>
                <a:latin typeface="Arial"/>
              </a:rPr>
              <a:t>GRAD 3.0 -- GALDERMA SUNSCREEN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07899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083F42"/>
                </a:solidFill>
                <a:latin typeface="Georgia"/>
              </a:rPr>
              <a:t>Galderma has the derm credibility.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083F42"/>
                </a:solidFill>
                <a:latin typeface="Georgia"/>
              </a:rPr>
              <a:t>It doesn't have the format range -- yet.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822960" cy="36576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A9494"/>
                </a:solidFill>
                <a:latin typeface="Arial"/>
              </a:rPr>
              <a:t>GRAD 3.0 -- Galderma Sunscreen Challenge -- 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47104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A9494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53212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1200"/>
              </a:spcAft>
            </a:pPr>
            <a:r>
              <a:rPr sz="1250" b="1" i="0">
                <a:solidFill>
                  <a:srgbClr val="083F42"/>
                </a:solidFill>
                <a:latin typeface="Arial"/>
              </a:rPr>
              <a:t>The gap is translation, not science: </a:t>
            </a:r>
            <a:r>
              <a:rPr sz="1250" b="0" i="0">
                <a:solidFill>
                  <a:srgbClr val="1E2626"/>
                </a:solidFill>
                <a:latin typeface="Arial"/>
              </a:rPr>
              <a:t>Cetaphil and Biluma already carry the dermatological credibility indie D2C brands (Minimalist, Dot &amp; Key, The Derma Co.) are still building. What they haven't built is the format range and content presence that makes that credibility legible to India's 25-35 sunscreen buyer.</a:t>
            </a:r>
          </a:p>
          <a:p>
            <a:pPr algn="l">
              <a:lnSpc>
                <a:spcPct val="132000"/>
              </a:lnSpc>
              <a:spcAft>
                <a:spcPts val="1200"/>
              </a:spcAft>
            </a:pPr>
            <a:r>
              <a:rPr sz="1250" b="1" i="0">
                <a:solidFill>
                  <a:srgbClr val="083F42"/>
                </a:solidFill>
                <a:latin typeface="Arial"/>
              </a:rPr>
              <a:t>Three consumer jobs -- Commuter, Skintok Regular, Occasional Buyer -- share one blocker: </a:t>
            </a:r>
            <a:r>
              <a:rPr sz="1250" b="0" i="0">
                <a:solidFill>
                  <a:srgbClr val="1E2626"/>
                </a:solidFill>
                <a:latin typeface="Arial"/>
              </a:rPr>
              <a:t>white cast, the single most cited reason Indian consumers skip reapplication.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566160"/>
            <a:ext cx="178308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6510">
            <a:solidFill>
              <a:srgbClr val="0B5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657600"/>
            <a:ext cx="1563624" cy="5468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B5F63"/>
                </a:solidFill>
                <a:latin typeface="Georgia"/>
              </a:rPr>
              <a:t>6-9%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134002"/>
            <a:ext cx="1563624" cy="4416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55F5F"/>
                </a:solidFill>
                <a:latin typeface="Arial"/>
              </a:rPr>
              <a:t>India sun care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55F5F"/>
                </a:solidFill>
                <a:latin typeface="Arial"/>
              </a:rPr>
              <a:t>CAGR (2024-30)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50592" y="3566160"/>
            <a:ext cx="178308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6510">
            <a:solidFill>
              <a:srgbClr val="E87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657600"/>
            <a:ext cx="1563624" cy="5468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E8734A"/>
                </a:solidFill>
                <a:latin typeface="Georgia"/>
              </a:rPr>
              <a:t>10.8%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4134002"/>
            <a:ext cx="1563624" cy="4416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55F5F"/>
                </a:solidFill>
                <a:latin typeface="Arial"/>
              </a:rPr>
              <a:t>sunscreen stick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55F5F"/>
                </a:solidFill>
                <a:latin typeface="Arial"/>
              </a:rPr>
              <a:t>CAGR (fastest)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3566160"/>
            <a:ext cx="1728216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6510">
            <a:solidFill>
              <a:srgbClr val="E3A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3657600"/>
            <a:ext cx="1508760" cy="5468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E3A93E"/>
                </a:solidFill>
                <a:latin typeface="Georgia"/>
              </a:rPr>
              <a:t>White cast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4134002"/>
            <a:ext cx="1508760" cy="4416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55F5F"/>
                </a:solidFill>
                <a:latin typeface="Arial"/>
              </a:rPr>
              <a:t>#1 reapplication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55F5F"/>
                </a:solidFill>
                <a:latin typeface="Arial"/>
              </a:rPr>
              <a:t>barrier, India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54880"/>
            <a:ext cx="5532120" cy="1417320"/>
          </a:xfrm>
          <a:prstGeom prst="roundRect">
            <a:avLst>
              <a:gd name="adj" fmla="val 8000"/>
            </a:avLst>
          </a:prstGeom>
          <a:solidFill>
            <a:srgbClr val="083F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901184"/>
            <a:ext cx="5074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 i="0">
                <a:solidFill>
                  <a:srgbClr val="E3A93E"/>
                </a:solidFill>
                <a:latin typeface="Arial"/>
              </a:rPr>
              <a:t>The white space: </a:t>
            </a:r>
            <a:r>
              <a:rPr sz="1200" b="0" i="0">
                <a:solidFill>
                  <a:srgbClr val="FFFFFF"/>
                </a:solidFill>
                <a:latin typeface="Arial"/>
              </a:rPr>
              <a:t>high derm credibility + high format/sensorial modernity -- where La Roche-Posay Anthelios plays internationally but hasn't fully localized for Indian skin and climate. Nobody owns it here yet.</a:t>
            </a:r>
          </a:p>
        </p:txBody>
      </p:sp>
      <p:pic>
        <p:nvPicPr>
          <p:cNvPr id="19" name="Picture 18" descr="competitiv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54480"/>
            <a:ext cx="550292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8734A"/>
                </a:solidFill>
                <a:latin typeface="Arial"/>
              </a:rPr>
              <a:t>GRAD 3.0 -- GALDERMA SUNSCREEN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0789920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083F42"/>
                </a:solidFill>
                <a:latin typeface="Georgia"/>
              </a:rPr>
              <a:t>Two brands, two systems, one standard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9264"/>
            <a:ext cx="822960" cy="36576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A9494"/>
                </a:solidFill>
                <a:latin typeface="Arial"/>
              </a:rPr>
              <a:t>GRAD 3.0 -- Galderma Sunscreen Challenge -- 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47104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A9494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555F5F"/>
                </a:solidFill>
                <a:latin typeface="Arial"/>
              </a:rPr>
              <a:t>A 3-5 year portfolio, built to eliminate white cast portfolio-wide and win the trial-to-repeat path via quick commerce and dermatologist-creator partnerships.</a:t>
            </a:r>
          </a:p>
        </p:txBody>
      </p:sp>
      <p:pic>
        <p:nvPicPr>
          <p:cNvPr id="8" name="Picture 7" descr="portfolio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828800"/>
            <a:ext cx="4519197" cy="26517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4617720"/>
            <a:ext cx="3611880" cy="384048"/>
          </a:xfrm>
          <a:prstGeom prst="rect">
            <a:avLst/>
          </a:prstGeom>
          <a:solidFill>
            <a:srgbClr val="0B5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4617720"/>
            <a:ext cx="33558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PHASE 1 -- Year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01768"/>
            <a:ext cx="3611880" cy="1188720"/>
          </a:xfrm>
          <a:prstGeom prst="rect">
            <a:avLst/>
          </a:prstGeom>
          <a:solidFill>
            <a:srgbClr val="FFFFFF"/>
          </a:solidFill>
          <a:ln w="13970">
            <a:solidFill>
              <a:srgbClr val="0B5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102352"/>
            <a:ext cx="3337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 i="0">
                <a:solidFill>
                  <a:srgbClr val="083F42"/>
                </a:solidFill>
                <a:latin typeface="Arial"/>
              </a:rPr>
              <a:t>Fix the core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 i="0">
                <a:solidFill>
                  <a:srgbClr val="1E2626"/>
                </a:solidFill>
                <a:latin typeface="Arial"/>
              </a:rPr>
              <a:t>Zero-white-cast reformulation portfolio-wide; launch Cetaphil Sun Stick + Biluma Sun Mist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4256" y="4617720"/>
            <a:ext cx="3611880" cy="384048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4617720"/>
            <a:ext cx="33558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PHASE 2 -- Yrs 2-3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5001768"/>
            <a:ext cx="3611880" cy="1188720"/>
          </a:xfrm>
          <a:prstGeom prst="rect">
            <a:avLst/>
          </a:prstGeom>
          <a:solidFill>
            <a:srgbClr val="FFFFFF"/>
          </a:solidFill>
          <a:ln w="13970">
            <a:solidFill>
              <a:srgbClr val="E87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1416" y="5102352"/>
            <a:ext cx="3337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 i="0">
                <a:solidFill>
                  <a:srgbClr val="083F42"/>
                </a:solidFill>
                <a:latin typeface="Arial"/>
              </a:rPr>
              <a:t>Build the premium tier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 i="0">
                <a:solidFill>
                  <a:srgbClr val="1E2626"/>
                </a:solidFill>
                <a:latin typeface="Arial"/>
              </a:rPr>
              <a:t>Launch Biluma Sun Tinted + Cetaphil Gel-Cream; scale dermatologist-creator content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9872" y="4617720"/>
            <a:ext cx="3611880" cy="384048"/>
          </a:xfrm>
          <a:prstGeom prst="rect">
            <a:avLst/>
          </a:prstGeom>
          <a:solidFill>
            <a:srgbClr val="E3A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4617720"/>
            <a:ext cx="33558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PHASE 3 -- Yrs 3-5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19872" y="5001768"/>
            <a:ext cx="3611880" cy="1188720"/>
          </a:xfrm>
          <a:prstGeom prst="rect">
            <a:avLst/>
          </a:prstGeom>
          <a:solidFill>
            <a:srgbClr val="FFFFFF"/>
          </a:solidFill>
          <a:ln w="13970">
            <a:solidFill>
              <a:srgbClr val="E3A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2" y="5102352"/>
            <a:ext cx="3337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 i="0">
                <a:solidFill>
                  <a:srgbClr val="083F42"/>
                </a:solidFill>
                <a:latin typeface="Arial"/>
              </a:rPr>
              <a:t>Defend and extend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 i="0">
                <a:solidFill>
                  <a:srgbClr val="1E2626"/>
                </a:solidFill>
                <a:latin typeface="Arial"/>
              </a:rPr>
              <a:t>Trial-size SKUs across the range; quick-commerce reorder mechanics; evaluate Kids/Family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263640"/>
            <a:ext cx="11091672" cy="18288"/>
          </a:xfrm>
          <a:prstGeom prst="rect">
            <a:avLst/>
          </a:prstGeom>
          <a:solidFill>
            <a:srgbClr val="8A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300216"/>
            <a:ext cx="110916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8A9494"/>
                </a:solidFill>
                <a:latin typeface="Arial"/>
              </a:rPr>
              <a:t>Full detail -- SPF architecture, claims, pricing ladder, GTM by channel -- in GRAD3_Galderma_Sunscreen_Portfolio_Strategy.pptx (10-slide version).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