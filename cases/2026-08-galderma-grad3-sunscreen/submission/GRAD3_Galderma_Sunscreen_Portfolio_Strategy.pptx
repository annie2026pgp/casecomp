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F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54864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3A93E"/>
                </a:solidFill>
                <a:latin typeface="Arial"/>
              </a:rPr>
              <a:t>GRAD 3.0 -- GALDERMA SUNSCREEN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Two Brands, One System: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A Sunscreen Portfolio for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India's Next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 i="0">
                <a:solidFill>
                  <a:srgbClr val="D8E6E4"/>
                </a:solidFill>
                <a:latin typeface="Arial"/>
              </a:rPr>
              <a:t>A 3-5 year portfolio and go-to-market strategy for Cetaphil Sun and Biluma Sun, built to convert Galderma's dermatological credibility into the formats, claims and channels India's 25-35 sunscreen consumer already trusts.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892040"/>
            <a:ext cx="2926080" cy="18288"/>
          </a:xfrm>
          <a:prstGeom prst="rect">
            <a:avLst/>
          </a:prstGeom>
          <a:solidFill>
            <a:srgbClr val="3E7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A9494"/>
                </a:solidFill>
                <a:latin typeface="Arial"/>
              </a:rPr>
              <a:t>Strategic consultants to Galderma India | GRAD 3.0 submission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486400"/>
            <a:ext cx="7772400" cy="566928"/>
          </a:xfrm>
          <a:prstGeom prst="roundRect">
            <a:avLst>
              <a:gd name="adj" fmla="val 15000"/>
            </a:avLst>
          </a:prstGeom>
          <a:solidFill>
            <a:srgbClr val="0F4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5614416"/>
            <a:ext cx="7406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B8CECC"/>
                </a:solidFill>
                <a:latin typeface="Arial"/>
              </a:rPr>
              <a:t>Secondary-research-driven strategy case -- no dataset or exhibits were provided; all market figures cited in research/sources.md.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734A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051560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083F42"/>
                </a:solidFill>
                <a:latin typeface="Georgia"/>
              </a:rPr>
              <a:t>Galderma has the derm credibility.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083F42"/>
                </a:solidFill>
                <a:latin typeface="Georgia"/>
              </a:rPr>
              <a:t>It doesn't yet have the format range.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822960" cy="41148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GRAD 3.0 -- Galderma Sunscreen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3949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350" b="0" i="0">
                <a:solidFill>
                  <a:srgbClr val="1E2626"/>
                </a:solidFill>
                <a:latin typeface="Arial"/>
              </a:rPr>
              <a:t>Cetaphil Sun and Biluma Sun deliver trusted, dermatologically tested protection. But the 25-35 Indian consumer is choosing sunscreen on format, sensorial feel and content presence as much as on protection science.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350" b="1" i="0">
                <a:solidFill>
                  <a:srgbClr val="083F42"/>
                </a:solidFill>
                <a:latin typeface="Arial"/>
              </a:rPr>
              <a:t>That's a translation gap, not a science gap: </a:t>
            </a:r>
            <a:r>
              <a:rPr sz="1350" b="0" i="0">
                <a:solidFill>
                  <a:srgbClr val="1E2626"/>
                </a:solidFill>
                <a:latin typeface="Arial"/>
              </a:rPr>
              <a:t>Galderma already owns the credibility indie D2C brands are still building. What's missing is the format range and claims architecture to make that credibility legible to a skincare-literate buyer.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B5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242816"/>
            <a:ext cx="2185416" cy="7795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B5F63"/>
                </a:solidFill>
                <a:latin typeface="Georgia"/>
              </a:rPr>
              <a:t>6-9%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936845"/>
            <a:ext cx="21854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55F5F"/>
                </a:solidFill>
                <a:latin typeface="Arial"/>
              </a:rPr>
              <a:t>India sun care CAGR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55F5F"/>
                </a:solidFill>
                <a:latin typeface="Arial"/>
              </a:rPr>
              <a:t>(2024-2030, est.)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411480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E8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4242816"/>
            <a:ext cx="2185416" cy="7795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E8734A"/>
                </a:solidFill>
                <a:latin typeface="Georgia"/>
              </a:rPr>
              <a:t>10.8%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4936845"/>
            <a:ext cx="21854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55F5F"/>
                </a:solidFill>
                <a:latin typeface="Arial"/>
              </a:rPr>
              <a:t>sunscreen stick format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55F5F"/>
                </a:solidFill>
                <a:latin typeface="Arial"/>
              </a:rPr>
              <a:t>CAGR -- fastest-growing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623560"/>
            <a:ext cx="51663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E3A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751576"/>
            <a:ext cx="4837176" cy="4274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E3A93E"/>
                </a:solidFill>
                <a:latin typeface="Georgia"/>
              </a:rPr>
              <a:t>White 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074359"/>
            <a:ext cx="48371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55F5F"/>
                </a:solidFill>
                <a:latin typeface="Arial"/>
              </a:rPr>
              <a:t>the #1 cited reason for skipped reapplication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55F5F"/>
                </a:solidFill>
                <a:latin typeface="Arial"/>
              </a:rPr>
              <a:t>among Indian consumers</a:t>
            </a:r>
          </a:p>
        </p:txBody>
      </p:sp>
      <p:pic>
        <p:nvPicPr>
          <p:cNvPr id="17" name="Picture 16" descr="competitiv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54480"/>
            <a:ext cx="5486400" cy="41024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734A"/>
                </a:solidFill>
                <a:latin typeface="Arial"/>
              </a:rPr>
              <a:t>CONSUMER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0515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083F42"/>
                </a:solidFill>
                <a:latin typeface="Georgia"/>
              </a:rPr>
              <a:t>Three jobs, one shared blocker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22960" cy="41148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GRAD 3.0 -- Galderma Sunscreen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611880" cy="548640"/>
          </a:xfrm>
          <a:prstGeom prst="rect">
            <a:avLst/>
          </a:prstGeom>
          <a:solidFill>
            <a:srgbClr val="0B5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600200"/>
            <a:ext cx="33192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THE COMMUTER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3611880" cy="2788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B5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246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1" i="0">
                <a:solidFill>
                  <a:srgbClr val="0B5F63"/>
                </a:solidFill>
                <a:latin typeface="Arial"/>
              </a:rPr>
              <a:t>JOB: </a:t>
            </a:r>
            <a:r>
              <a:rPr sz="1050" b="0" i="0">
                <a:solidFill>
                  <a:srgbClr val="1E2626"/>
                </a:solidFill>
                <a:latin typeface="Arial"/>
              </a:rPr>
              <a:t>Daily, defensive habit before stepping out. Wants fast absorption and zero mid-day retouching.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1" i="0">
                <a:solidFill>
                  <a:srgbClr val="0B5F63"/>
                </a:solidFill>
                <a:latin typeface="Arial"/>
              </a:rPr>
              <a:t>BARRIER: </a:t>
            </a:r>
            <a:r>
              <a:rPr sz="1050" b="0" i="0">
                <a:solidFill>
                  <a:srgbClr val="1E2626"/>
                </a:solidFill>
                <a:latin typeface="Arial"/>
              </a:rPr>
              <a:t>Reapplication friction -- white cast + greasy feel mean the 2pm top-up just doesn't happen.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600200"/>
            <a:ext cx="3611880" cy="548640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00200"/>
            <a:ext cx="33192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THE SKINTOK REGULAR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2148840"/>
            <a:ext cx="3611880" cy="2788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331720"/>
            <a:ext cx="3246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1" i="0">
                <a:solidFill>
                  <a:srgbClr val="E8734A"/>
                </a:solidFill>
                <a:latin typeface="Arial"/>
              </a:rPr>
              <a:t>JOB: </a:t>
            </a:r>
            <a:r>
              <a:rPr sz="1050" b="0" i="0">
                <a:solidFill>
                  <a:srgbClr val="1E2626"/>
                </a:solidFill>
                <a:latin typeface="Arial"/>
              </a:rPr>
              <a:t>Sunscreen as step 5-7 of a routine, filmed or content-influenced. Wants ingredient literacy and a pack worth showing.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70332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1" i="0">
                <a:solidFill>
                  <a:srgbClr val="E8734A"/>
                </a:solidFill>
                <a:latin typeface="Arial"/>
              </a:rPr>
              <a:t>BARRIER: </a:t>
            </a:r>
            <a:r>
              <a:rPr sz="1050" b="0" i="0">
                <a:solidFill>
                  <a:srgbClr val="1E2626"/>
                </a:solidFill>
                <a:latin typeface="Arial"/>
              </a:rPr>
              <a:t>Today's format reads "medicinal," not "routine-worthy" -- credibility isn't signaled visually.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1600200"/>
            <a:ext cx="3611880" cy="548640"/>
          </a:xfrm>
          <a:prstGeom prst="rect">
            <a:avLst/>
          </a:prstGeom>
          <a:solidFill>
            <a:srgbClr val="E3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600200"/>
            <a:ext cx="33192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THE OCCASIONAL BUYER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9872" y="2148840"/>
            <a:ext cx="3611880" cy="2788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3A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331720"/>
            <a:ext cx="3246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1" i="0">
                <a:solidFill>
                  <a:srgbClr val="E3A93E"/>
                </a:solidFill>
                <a:latin typeface="Arial"/>
              </a:rPr>
              <a:t>JOB: </a:t>
            </a:r>
            <a:r>
              <a:rPr sz="1050" b="0" i="0">
                <a:solidFill>
                  <a:srgbClr val="1E2626"/>
                </a:solidFill>
                <a:latin typeface="Arial"/>
              </a:rPr>
              <a:t>Reaches for sunscreen only for high-exposure occasions -- beach, wedding, a long outdoor day.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70332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1" i="0">
                <a:solidFill>
                  <a:srgbClr val="E3A93E"/>
                </a:solidFill>
                <a:latin typeface="Arial"/>
              </a:rPr>
              <a:t>BARRIER: </a:t>
            </a:r>
            <a:r>
              <a:rPr sz="1050" b="0" i="0">
                <a:solidFill>
                  <a:srgbClr val="1E2626"/>
                </a:solidFill>
                <a:latin typeface="Arial"/>
              </a:rPr>
              <a:t>Low category education -- buys on brand recall and pack size, not SPF/PA understanding.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20640"/>
            <a:ext cx="11091672" cy="1051560"/>
          </a:xfrm>
          <a:prstGeom prst="roundRect">
            <a:avLst>
              <a:gd name="adj" fmla="val 8000"/>
            </a:avLst>
          </a:prstGeom>
          <a:solidFill>
            <a:srgbClr val="083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85232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1" i="0">
                <a:solidFill>
                  <a:srgbClr val="E3A93E"/>
                </a:solidFill>
                <a:latin typeface="Arial"/>
              </a:rPr>
              <a:t>The unifying insight: </a:t>
            </a:r>
            <a:r>
              <a:rPr sz="1250" b="0" i="0">
                <a:solidFill>
                  <a:srgbClr val="FFFFFF"/>
                </a:solidFill>
                <a:latin typeface="Arial"/>
              </a:rPr>
              <a:t>white cast is not a niche complaint -- it hits every persona differently, and fixing it across formats is the single highest-leverage move available to this portfolio.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734A"/>
                </a:solidFill>
                <a:latin typeface="Arial"/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0515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083F42"/>
                </a:solidFill>
                <a:latin typeface="Georgia"/>
              </a:rPr>
              <a:t>The white space: derm credibility, modern format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22960" cy="41148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GRAD 3.0 -- Galderma Sunscreen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4</a:t>
            </a:r>
          </a:p>
        </p:txBody>
      </p:sp>
      <p:pic>
        <p:nvPicPr>
          <p:cNvPr id="7" name="Picture 6" descr="competitiv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417320"/>
            <a:ext cx="6542367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600200"/>
            <a:ext cx="2514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1" i="0">
                <a:solidFill>
                  <a:srgbClr val="0B5F63"/>
                </a:solidFill>
                <a:latin typeface="Arial"/>
              </a:rPr>
              <a:t>Indie-derma brands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080" b="0" i="0">
                <a:solidFill>
                  <a:srgbClr val="1E2626"/>
                </a:solidFill>
                <a:latin typeface="Arial"/>
              </a:rPr>
              <a:t>have won the format and content narrative with far less R&amp;D pedigree than Galderma actually has.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1" i="0">
                <a:solidFill>
                  <a:srgbClr val="083F42"/>
                </a:solidFill>
                <a:latin typeface="Arial"/>
              </a:rPr>
              <a:t>La Roche-Posay Anthelios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080" b="0" i="0">
                <a:solidFill>
                  <a:srgbClr val="1E2626"/>
                </a:solidFill>
                <a:latin typeface="Arial"/>
              </a:rPr>
              <a:t>is the international benchmark for this exact move -- derm heritage, multi-format range -- not yet fully localized for India.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1" i="0">
                <a:solidFill>
                  <a:srgbClr val="E8734A"/>
                </a:solidFill>
                <a:latin typeface="Arial"/>
              </a:rPr>
              <a:t>Cetaphil / Biluma today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080" b="0" i="0">
                <a:solidFill>
                  <a:srgbClr val="1E2626"/>
                </a:solidFill>
                <a:latin typeface="Arial"/>
              </a:rPr>
              <a:t>sit bottom-right: real credibility, narrow format range. That gap is the strategy.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734A"/>
                </a:solidFill>
                <a:latin typeface="Arial"/>
              </a:rPr>
              <a:t>PORTFOLIO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0515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083F42"/>
                </a:solidFill>
                <a:latin typeface="Georgia"/>
              </a:rPr>
              <a:t>Two brands, two systems, one standard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22960" cy="41148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GRAD 3.0 -- Galderma Sunscreen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1">
                <a:solidFill>
                  <a:srgbClr val="555F5F"/>
                </a:solidFill>
                <a:latin typeface="Arial"/>
              </a:rPr>
              <a:t>Cetaphil and Biluma stop being two sunscreens and become two systems -- each built around a distinct job, both engineered to eliminate white cast.</a:t>
            </a:r>
          </a:p>
        </p:txBody>
      </p:sp>
      <p:pic>
        <p:nvPicPr>
          <p:cNvPr id="8" name="Picture 7" descr="portfolio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1965960"/>
            <a:ext cx="7557967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734A"/>
                </a:solidFill>
                <a:latin typeface="Arial"/>
              </a:rPr>
              <a:t>PORTFOLIO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0515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083F42"/>
                </a:solidFill>
                <a:latin typeface="Georgia"/>
              </a:rPr>
              <a:t>SPF architecture, claims and ingredients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22960" cy="41148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GRAD 3.0 -- Galderma Sunscreen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11091672" cy="1005840"/>
          </a:xfrm>
          <a:prstGeom prst="roundRect">
            <a:avLst>
              <a:gd name="adj" fmla="val 6000"/>
            </a:avLst>
          </a:prstGeom>
          <a:solidFill>
            <a:srgbClr val="E3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7335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00" b="1" i="0">
                <a:solidFill>
                  <a:srgbClr val="083F42"/>
                </a:solidFill>
                <a:latin typeface="Arial"/>
              </a:rPr>
              <a:t>SPF50+ PA++++ across the entire portfolio. </a:t>
            </a:r>
            <a:r>
              <a:rPr sz="1250" b="0" i="0">
                <a:solidFill>
                  <a:srgbClr val="083F42"/>
                </a:solidFill>
                <a:latin typeface="Arial"/>
              </a:rPr>
              <a:t>India's climate makes a lower-SPF "everyday" tier a false economy. Differentiate by format and finish, not protection level -- every Galderma sunscreen is "the good one," which also avoids fragmenting a still low-education category.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53492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B5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5349240" cy="548640"/>
          </a:xfrm>
          <a:prstGeom prst="rect">
            <a:avLst/>
          </a:prstGeom>
          <a:solidFill>
            <a:srgbClr val="0B5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49834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CETAPHIL SUN -- claims &amp; ingredients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56432"/>
            <a:ext cx="48920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150" b="1" i="0">
                <a:solidFill>
                  <a:srgbClr val="083F42"/>
                </a:solidFill>
                <a:latin typeface="Arial"/>
              </a:rPr>
              <a:t>Portfolio-wide baseline: </a:t>
            </a:r>
            <a:r>
              <a:rPr sz="1150" b="0" i="0">
                <a:solidFill>
                  <a:srgbClr val="1E2626"/>
                </a:solidFill>
                <a:latin typeface="Arial"/>
              </a:rPr>
              <a:t>"No White Cast" -- extended from Biluma-only to every SKU.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150" b="1" i="0">
                <a:solidFill>
                  <a:srgbClr val="083F42"/>
                </a:solidFill>
                <a:latin typeface="Arial"/>
              </a:rPr>
              <a:t>Lead claim: </a:t>
            </a:r>
            <a:r>
              <a:rPr sz="1150" b="0" i="0">
                <a:solidFill>
                  <a:srgbClr val="1E2626"/>
                </a:solidFill>
                <a:latin typeface="Arial"/>
              </a:rPr>
              <a:t>"Dermatologist-recommended, all-day comfort."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150" b="1" i="0">
                <a:solidFill>
                  <a:srgbClr val="083F42"/>
                </a:solidFill>
                <a:latin typeface="Arial"/>
              </a:rPr>
              <a:t>Retained: </a:t>
            </a:r>
            <a:r>
              <a:rPr sz="1150" b="0" i="0">
                <a:solidFill>
                  <a:srgbClr val="1E2626"/>
                </a:solidFill>
                <a:latin typeface="Arial"/>
              </a:rPr>
              <a:t>Vitamin E -- Cetaphil's existing sensitive-skin anchor.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150" b="1" i="0">
                <a:solidFill>
                  <a:srgbClr val="083F42"/>
                </a:solidFill>
                <a:latin typeface="Arial"/>
              </a:rPr>
              <a:t>New: </a:t>
            </a:r>
            <a:r>
              <a:rPr sz="1150" b="0" i="0">
                <a:solidFill>
                  <a:srgbClr val="1E2626"/>
                </a:solidFill>
                <a:latin typeface="Arial"/>
              </a:rPr>
              <a:t>lightweight/non-greasy claim on the stick and gel-cream formats.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743200"/>
            <a:ext cx="53492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E8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743200"/>
            <a:ext cx="5349240" cy="548640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743200"/>
            <a:ext cx="49834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BILUMA SUN -- claims &amp; ingredients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456432"/>
            <a:ext cx="48920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150" b="1" i="0">
                <a:solidFill>
                  <a:srgbClr val="A8431E"/>
                </a:solidFill>
                <a:latin typeface="Arial"/>
              </a:rPr>
              <a:t>Portfolio-wide baseline: </a:t>
            </a:r>
            <a:r>
              <a:rPr sz="1150" b="0" i="0">
                <a:solidFill>
                  <a:srgbClr val="1E2626"/>
                </a:solidFill>
                <a:latin typeface="Arial"/>
              </a:rPr>
              <a:t>"No White Cast" -- Biluma's existing claim, now the standard.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150" b="1" i="0">
                <a:solidFill>
                  <a:srgbClr val="A8431E"/>
                </a:solidFill>
                <a:latin typeface="Arial"/>
              </a:rPr>
              <a:t>Lead claim: </a:t>
            </a:r>
            <a:r>
              <a:rPr sz="1150" b="0" i="0">
                <a:solidFill>
                  <a:srgbClr val="1E2626"/>
                </a:solidFill>
                <a:latin typeface="Arial"/>
              </a:rPr>
              <a:t>"Protection + Visible Skin Goal."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150" b="1" i="0">
                <a:solidFill>
                  <a:srgbClr val="A8431E"/>
                </a:solidFill>
                <a:latin typeface="Arial"/>
              </a:rPr>
              <a:t>Retained: </a:t>
            </a:r>
            <a:r>
              <a:rPr sz="1150" b="0" i="0">
                <a:solidFill>
                  <a:srgbClr val="1E2626"/>
                </a:solidFill>
                <a:latin typeface="Arial"/>
              </a:rPr>
              <a:t>Lactic Acid + Hyaluronic Acid -- Biluma's existing actives.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150" b="1" i="0">
                <a:solidFill>
                  <a:srgbClr val="A8431E"/>
                </a:solidFill>
                <a:latin typeface="Arial"/>
              </a:rPr>
              <a:t>New: </a:t>
            </a:r>
            <a:r>
              <a:rPr sz="1150" b="0" i="0">
                <a:solidFill>
                  <a:srgbClr val="1E2626"/>
                </a:solidFill>
                <a:latin typeface="Arial"/>
              </a:rPr>
              <a:t>brightening / anti-pollution claim on the tinted variant, with real clinical substantiation indie brands can't match.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734A"/>
                </a:solidFill>
                <a:latin typeface="Arial"/>
              </a:rPr>
              <a:t>PORTFOLIO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0515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083F42"/>
                </a:solidFill>
                <a:latin typeface="Georgia"/>
              </a:rPr>
              <a:t>Phased rollout, Year 1 to Year 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22960" cy="41148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GRAD 3.0 -- Galderma Sunscreen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7</a:t>
            </a:r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91672" cy="46750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734A"/>
                </a:solidFill>
                <a:latin typeface="Arial"/>
              </a:rPr>
              <a:t>PORTFOLIO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0515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083F42"/>
                </a:solidFill>
                <a:latin typeface="Georgia"/>
              </a:rPr>
              <a:t>Pack formats, sizes and pricing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22960" cy="41148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GRAD 3.0 -- Galderma Sunscreen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8</a:t>
            </a:r>
          </a:p>
        </p:txBody>
      </p:sp>
      <p:pic>
        <p:nvPicPr>
          <p:cNvPr id="7" name="Picture 6" descr="pricing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707136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09560" y="1737360"/>
            <a:ext cx="3749039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300" b="1" i="0">
                <a:solidFill>
                  <a:srgbClr val="083F42"/>
                </a:solidFill>
                <a:latin typeface="Arial"/>
              </a:rPr>
              <a:t>Why this ladder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100" b="0" i="0">
                <a:solidFill>
                  <a:srgbClr val="1E2626"/>
                </a:solidFill>
                <a:latin typeface="Arial"/>
              </a:rPr>
              <a:t>Cetaphil stays mass-premium, priced against The Derma Co. and Re'equil.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100" b="0" i="0">
                <a:solidFill>
                  <a:srgbClr val="1E2626"/>
                </a:solidFill>
                <a:latin typeface="Arial"/>
              </a:rPr>
              <a:t>Biluma stays derma-cosmetic premium, approaching (not matching) La Roche-Posay import pricing.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100" b="0" i="0">
                <a:solidFill>
                  <a:srgbClr val="1E2626"/>
                </a:solidFill>
                <a:latin typeface="Arial"/>
              </a:rPr>
              <a:t>Trial sizes exist purely for quick-commerce discovery economics -- not a margin play.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100" b="0" i="0">
                <a:solidFill>
                  <a:srgbClr val="1E2626"/>
                </a:solidFill>
                <a:latin typeface="Arial"/>
              </a:rPr>
              <a:t>The two-tier hierarchy is preserved throughout: no SKU collapses both brands into one price band.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734A"/>
                </a:solidFill>
                <a:latin typeface="Arial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0515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083F42"/>
                </a:solidFill>
                <a:latin typeface="Georgia"/>
              </a:rPr>
              <a:t>Channels, partnerships, and the trial-to-repeat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22960" cy="41148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GRAD 3.0 -- Galderma Sunscreen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3611880" cy="502920"/>
          </a:xfrm>
          <a:prstGeom prst="rect">
            <a:avLst/>
          </a:prstGeom>
          <a:solidFill>
            <a:srgbClr val="0B5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3337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CHANNELS &amp; TERRITORIES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3611880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0B5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12848"/>
            <a:ext cx="32461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100" b="0" i="0">
                <a:solidFill>
                  <a:srgbClr val="1E2626"/>
                </a:solidFill>
                <a:latin typeface="Arial"/>
              </a:rPr>
              <a:t>• Lead with quick commerce + Nykaa/Amazon for trial-size and reapplication SKUs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100" b="0" i="0">
                <a:solidFill>
                  <a:srgbClr val="1E2626"/>
                </a:solidFill>
                <a:latin typeface="Arial"/>
              </a:rPr>
              <a:t>• Pharmacy &amp; dermatologist-clinic channels reinforce the credibility claim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100" b="0" i="0">
                <a:solidFill>
                  <a:srgbClr val="1E2626"/>
                </a:solidFill>
                <a:latin typeface="Arial"/>
              </a:rPr>
              <a:t>• Metro / Tier-1 first; Tier-2 expansion in Years 2-3 with mass-tier Cetaphil formats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1508760"/>
            <a:ext cx="3611880" cy="502920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508760"/>
            <a:ext cx="3337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PARTNERSHIPS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2011680"/>
            <a:ext cx="3611880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212848"/>
            <a:ext cx="32461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100" b="0" i="0">
                <a:solidFill>
                  <a:srgbClr val="1E2626"/>
                </a:solidFill>
                <a:latin typeface="Arial"/>
              </a:rPr>
              <a:t>• Dermatologist-creator partnerships, not generic beauty influencers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100" b="0" i="0">
                <a:solidFill>
                  <a:srgbClr val="1E2626"/>
                </a:solidFill>
                <a:latin typeface="Arial"/>
              </a:rPr>
              <a:t>• Carries credibility into the content-first discovery journey this cohort uses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100" b="0" i="0">
                <a:solidFill>
                  <a:srgbClr val="1E2626"/>
                </a:solidFill>
                <a:latin typeface="Arial"/>
              </a:rPr>
              <a:t>• A structural advantage no indie D2C brand can fully replicate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2" y="1508760"/>
            <a:ext cx="3611880" cy="502920"/>
          </a:xfrm>
          <a:prstGeom prst="rect">
            <a:avLst/>
          </a:prstGeom>
          <a:solidFill>
            <a:srgbClr val="E3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1508760"/>
            <a:ext cx="3337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TRIAL -&gt; ADOPTION -&gt; REPEAT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2011680"/>
            <a:ext cx="3611880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3A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212848"/>
            <a:ext cx="32461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100" b="0" i="0">
                <a:solidFill>
                  <a:srgbClr val="1E2626"/>
                </a:solidFill>
                <a:latin typeface="Arial"/>
              </a:rPr>
              <a:t>• Trial: small-format SKUs on quick commerce, low-commitment pricing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100" b="0" i="0">
                <a:solidFill>
                  <a:srgbClr val="1E2626"/>
                </a:solidFill>
                <a:latin typeface="Arial"/>
              </a:rPr>
              <a:t>• Adoption: stick + mist are the wedge -- fix reapplication, daily use follows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100" b="0" i="0">
                <a:solidFill>
                  <a:srgbClr val="1E2626"/>
                </a:solidFill>
                <a:latin typeface="Arial"/>
              </a:rPr>
              <a:t>• Repeat: subscribe/reorder mechanics, plus a Cetaphil-to-Biluma "graduate" path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734A"/>
                </a:solidFill>
                <a:latin typeface="Arial"/>
              </a:rPr>
              <a:t>RISKS &amp;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0515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083F42"/>
                </a:solidFill>
                <a:latin typeface="Georgia"/>
              </a:rPr>
              <a:t>What this strategy assumes, and what to validate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822960" cy="41148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GRAD 3.0 -- Galderma Sunscreen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94"/>
                </a:solidFill>
                <a:latin typeface="Arial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864" cy="1051560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83F42"/>
                </a:solidFill>
                <a:latin typeface="Arial"/>
              </a:rPr>
              <a:t>Reformulation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842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E2626"/>
                </a:solidFill>
                <a:latin typeface="Arial"/>
              </a:rPr>
              <a:t>"No white cast" is a real R&amp;D commitment, not a marketing claim -- achievability within the phase timeline needs Galderma's own formulation science.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07208"/>
            <a:ext cx="54864" cy="1051560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0720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83F42"/>
                </a:solidFill>
                <a:latin typeface="Arial"/>
              </a:rPr>
              <a:t>Cannibalization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91256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E2626"/>
                </a:solidFill>
                <a:latin typeface="Arial"/>
              </a:rPr>
              <a:t>Cetaphil's new gel-cream and Biluma's existing lotion could overlap -- pricing and claims must stay differentiated by finish and skin-goal.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14216"/>
            <a:ext cx="54864" cy="1051560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1421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83F42"/>
                </a:solidFill>
                <a:latin typeface="Arial"/>
              </a:rPr>
              <a:t>Distribution execution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9826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E2626"/>
                </a:solidFill>
                <a:latin typeface="Arial"/>
              </a:rPr>
              <a:t>Winning quick commerce needs fulfillment and reorder readiness outside this analysis's scope -- validate with actual channel partners.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221224"/>
            <a:ext cx="54864" cy="1051560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22122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83F42"/>
                </a:solidFill>
                <a:latin typeface="Arial"/>
              </a:rPr>
              <a:t>Data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0527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E2626"/>
                </a:solidFill>
                <a:latin typeface="Arial"/>
              </a:rPr>
              <a:t>Market sizing and channel growth are secondary research with real variance across sources -- see research/sources.md -- treat as directional, not internal-grade.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