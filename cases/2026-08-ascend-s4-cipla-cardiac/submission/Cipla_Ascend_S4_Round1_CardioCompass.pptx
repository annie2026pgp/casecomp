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9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94B3C"/>
                </a:solidFill>
                <a:latin typeface="Arial"/>
              </a:rPr>
              <a:t>CIPLA ASCEND — SEASON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CARDIO-COMPASS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31012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C3CAD9"/>
                </a:solidFill>
                <a:latin typeface="Arial"/>
              </a:rPr>
              <a:t>A transparent, reproducible AI agent for prioritizing Cipla's Cardiac opportunity spaces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7763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1">
                <a:solidFill>
                  <a:srgbClr val="8A93A8"/>
                </a:solidFill>
                <a:latin typeface="Arial"/>
              </a:rPr>
              <a:t>AI-Enabled Prioritization with Integrated Trend Analytics  |  Round 1 Submission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806440"/>
            <a:ext cx="2926080" cy="18288"/>
          </a:xfrm>
          <a:prstGeom prst="rect">
            <a:avLst/>
          </a:prstGeom>
          <a:solidFill>
            <a:srgbClr val="2C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Ranjana Mainani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A93A8"/>
                </a:solidFill>
                <a:latin typeface="Arial"/>
              </a:rPr>
              <a:t>cases/2026-08-ascend-s4-cipla-cardiac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"/>
            <a:ext cx="502920" cy="45720"/>
          </a:xfrm>
          <a:prstGeom prst="rect">
            <a:avLst/>
          </a:prstGeom>
          <a:solidFill>
            <a:srgbClr val="E9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94B3C"/>
                </a:solidFill>
                <a:latin typeface="Arial"/>
              </a:rPr>
              <a:t>1 / 3  —  THE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CARDIO-COMPASS is a transparent scoring pipeline, not a black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3CAD9"/>
                </a:solidFill>
                <a:latin typeface="Arial"/>
              </a:rPr>
              <a:t>Every input, weight, and formula below is visible and re-runnable — the finale can test it live.</a:t>
            </a:r>
          </a:p>
        </p:txBody>
      </p:sp>
      <p:pic>
        <p:nvPicPr>
          <p:cNvPr id="6" name="Picture 5" descr="agen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11155680" cy="1965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3703320"/>
            <a:ext cx="5440680" cy="2514600"/>
          </a:xfrm>
          <a:prstGeom prst="roundRect">
            <a:avLst>
              <a:gd name="adj" fmla="val 4000"/>
            </a:avLst>
          </a:prstGeom>
          <a:solidFill>
            <a:srgbClr val="12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5876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A90E2"/>
                </a:solidFill>
                <a:latin typeface="Arial"/>
              </a:rPr>
              <a:t>OBJECTIVE &amp; DATA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49834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 i="0">
                <a:solidFill>
                  <a:srgbClr val="C3CAD9"/>
                </a:solidFill>
                <a:latin typeface="Arial"/>
              </a:rPr>
              <a:t>Rank Cardiac opportunity spaces by likelihood of outperforming the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broader market over 3-5 years</a:t>
            </a:r>
            <a:r>
              <a:rPr sz="1050" b="0" i="0">
                <a:solidFill>
                  <a:srgbClr val="C3CAD9"/>
                </a:solidFill>
                <a:latin typeface="Arial"/>
              </a:rPr>
              <a:t>, and by Cipla's ability to actually capture that growth.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1" i="0">
                <a:solidFill>
                  <a:srgbClr val="4A90E2"/>
                </a:solidFill>
                <a:latin typeface="Arial"/>
              </a:rPr>
              <a:t>Inputs: </a:t>
            </a:r>
            <a:r>
              <a:rPr sz="1050" b="0" i="0">
                <a:solidFill>
                  <a:srgbClr val="C3CAD9"/>
                </a:solidFill>
                <a:latin typeface="Arial"/>
              </a:rPr>
              <a:t>7,452-row IQVIA-style MAT dataset (brand/company/molecule level, Feb'24-'26) + a curated, source-cited external trend layer (epidemiology, dyslipidemia/hypertension guidelines, pipeline &amp; launch signals).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50" b="0" i="0">
                <a:solidFill>
                  <a:srgbClr val="C3CAD9"/>
                </a:solidFill>
                <a:latin typeface="Arial"/>
              </a:rPr>
              <a:t>Opportunity spaces are defined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programmatically</a:t>
            </a:r>
            <a:r>
              <a:rPr sz="1050" b="0" i="0">
                <a:solidFill>
                  <a:srgbClr val="C3CAD9"/>
                </a:solidFill>
                <a:latin typeface="Arial"/>
              </a:rPr>
              <a:t> by molecule-pattern rules over MOLECULE_DESC — editable, auditable, not manual bucketing.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703320"/>
            <a:ext cx="5513832" cy="2514600"/>
          </a:xfrm>
          <a:prstGeom prst="roundRect">
            <a:avLst>
              <a:gd name="adj" fmla="val 4000"/>
            </a:avLst>
          </a:prstGeom>
          <a:solidFill>
            <a:srgbClr val="12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85876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A90E2"/>
                </a:solidFill>
                <a:latin typeface="Arial"/>
              </a:rPr>
              <a:t>PRIORITIZATION FORMULA (WEIGHTS ARE VISIBLE)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224528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1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65676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A90E2"/>
                </a:solidFill>
                <a:latin typeface="Arial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206240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Market attractiveness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443941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8A93A8"/>
                </a:solidFill>
                <a:latin typeface="Arial"/>
              </a:rPr>
              <a:t>0.5×norm(market size) + 0.5×norm(2yr value CAGR)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709160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1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750308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FB84D"/>
                </a:solidFill>
                <a:latin typeface="Arial"/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690872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Future potential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924044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8A93A8"/>
                </a:solidFill>
                <a:latin typeface="Arial"/>
              </a:rPr>
              <a:t>curated 0-100 signal score, cited to secondary research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193792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1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5234940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2C38F"/>
                </a:solidFill>
                <a:latin typeface="Arial"/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5175504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Competitive whitespace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540867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8A93A8"/>
                </a:solidFill>
                <a:latin typeface="Arial"/>
              </a:rPr>
              <a:t>100 − norm(HHI) — inverse of concentration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678424"/>
            <a:ext cx="566928" cy="292608"/>
          </a:xfrm>
          <a:prstGeom prst="roundRect">
            <a:avLst>
              <a:gd name="adj" fmla="val 25000"/>
            </a:avLst>
          </a:prstGeom>
          <a:solidFill>
            <a:srgbClr val="1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719572"/>
            <a:ext cx="5669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2C38F"/>
                </a:solidFill>
                <a:latin typeface="Arial"/>
              </a:rPr>
              <a:t>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5660136"/>
            <a:ext cx="44805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Cipla right-to-win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58933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0" b="0" i="0">
                <a:solidFill>
                  <a:srgbClr val="8A93A8"/>
                </a:solidFill>
                <a:latin typeface="Arial"/>
              </a:rPr>
              <a:t>0.4×share + 0.3×rank + 0.3×momentum (capped, low-base-safe)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93A8"/>
                </a:solidFill>
                <a:latin typeface="Arial"/>
              </a:rPr>
              <a:t>Cipla Ascend Season 4  |  CARDIO-COMPASS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47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93A8"/>
                </a:solidFill>
                <a:latin typeface="Arial"/>
              </a:rPr>
              <a:t>Page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09360"/>
            <a:ext cx="11155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 i="1">
                <a:solidFill>
                  <a:srgbClr val="8A93A8"/>
                </a:solidFill>
                <a:latin typeface="Arial"/>
              </a:rPr>
              <a:t>Reproducible: `python analysis/agent_prioritization.py` regenerates this ranking straight from the raw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"/>
            <a:ext cx="502920" cy="45720"/>
          </a:xfrm>
          <a:prstGeom prst="rect">
            <a:avLst/>
          </a:prstGeom>
          <a:solidFill>
            <a:srgbClr val="E9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94B3C"/>
                </a:solidFill>
                <a:latin typeface="Arial"/>
              </a:rPr>
              <a:t>2 / 3  —  THE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5 opportunity spaces ranked; 3 clear the bar to actively prioritize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C3CAD9"/>
                </a:solidFill>
                <a:latin typeface="Arial"/>
              </a:rPr>
              <a:t>Trade-offs the agent resolves: ARB-CCB wins size AND growth together; Statin-Ezetimibe wins growth despite low competition; Fibrates win on Cipla's existing right-to-win over a bigger, slower field.</a:t>
            </a:r>
          </a:p>
        </p:txBody>
      </p:sp>
      <p:pic>
        <p:nvPicPr>
          <p:cNvPr id="6" name="Picture 5" descr="prior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81328"/>
            <a:ext cx="6858000" cy="416052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60920" y="1481328"/>
          <a:ext cx="4434837" cy="4160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49773"/>
                <a:gridCol w="438008"/>
                <a:gridCol w="520135"/>
                <a:gridCol w="492760"/>
                <a:gridCol w="547511"/>
                <a:gridCol w="438008"/>
                <a:gridCol w="848642"/>
              </a:tblGrid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780" b="1">
                          <a:solidFill>
                            <a:srgbClr val="22C38F"/>
                          </a:solidFill>
                          <a:latin typeface="Arial"/>
                        </a:rPr>
                        <a:t>Opportunity space</a:t>
                      </a:r>
                    </a:p>
                  </a:txBody>
                  <a:tcPr marL="73152" marR="73152" marT="27432" marB="27432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1">
                          <a:solidFill>
                            <a:srgbClr val="22C38F"/>
                          </a:solidFill>
                          <a:latin typeface="Arial"/>
                        </a:rPr>
                        <a:t>₹Cr,
MAT'26</a:t>
                      </a:r>
                    </a:p>
                  </a:txBody>
                  <a:tcPr marL="73152" marR="73152" marT="27432" marB="27432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1">
                          <a:solidFill>
                            <a:srgbClr val="22C38F"/>
                          </a:solidFill>
                          <a:latin typeface="Arial"/>
                        </a:rPr>
                        <a:t>2yr
value CAGR</a:t>
                      </a:r>
                    </a:p>
                  </a:txBody>
                  <a:tcPr marL="73152" marR="73152" marT="27432" marB="27432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1">
                          <a:solidFill>
                            <a:srgbClr val="22C38F"/>
                          </a:solidFill>
                          <a:latin typeface="Arial"/>
                        </a:rPr>
                        <a:t>HHI</a:t>
                      </a:r>
                    </a:p>
                  </a:txBody>
                  <a:tcPr marL="73152" marR="73152" marT="27432" marB="27432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1">
                          <a:solidFill>
                            <a:srgbClr val="22C38F"/>
                          </a:solidFill>
                          <a:latin typeface="Arial"/>
                        </a:rPr>
                        <a:t>Cipla
share / rank</a:t>
                      </a:r>
                    </a:p>
                  </a:txBody>
                  <a:tcPr marL="73152" marR="73152" marT="27432" marB="27432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1">
                          <a:solidFill>
                            <a:srgbClr val="22C38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73152" marR="73152" marT="27432" marB="27432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1">
                          <a:solidFill>
                            <a:srgbClr val="22C38F"/>
                          </a:solidFill>
                          <a:latin typeface="Arial"/>
                        </a:rPr>
                        <a:t>Action</a:t>
                      </a:r>
                    </a:p>
                  </a:txBody>
                  <a:tcPr marL="73152" marR="73152" marT="27432" marB="27432" anchor="ctr">
                    <a:solidFill>
                      <a:srgbClr val="1A335C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ARB-CCB combination AHT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3,748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+15.8%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683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1.6% / #18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62.8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22C38F"/>
                          </a:solidFill>
                          <a:latin typeface="Arial"/>
                        </a:rPr>
                        <a:t>BUILD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Statin-Ezetimibe combo therapy</a:t>
                      </a:r>
                    </a:p>
                  </a:txBody>
                  <a:tcPr marL="73152" marR="73152" marT="18288" marB="18288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73152" marR="73152" marT="18288" marB="18288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+60.8%</a:t>
                      </a:r>
                    </a:p>
                  </a:txBody>
                  <a:tcPr marL="73152" marR="73152" marT="18288" marB="18288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1,380</a:t>
                      </a:r>
                    </a:p>
                  </a:txBody>
                  <a:tcPr marL="73152" marR="73152" marT="18288" marB="18288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0.3% / #21</a:t>
                      </a:r>
                    </a:p>
                  </a:txBody>
                  <a:tcPr marL="73152" marR="73152" marT="18288" marB="18288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57.9</a:t>
                      </a:r>
                    </a:p>
                  </a:txBody>
                  <a:tcPr marL="73152" marR="73152" marT="18288" marB="18288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22C38F"/>
                          </a:solidFill>
                          <a:latin typeface="Arial"/>
                        </a:rPr>
                        <a:t>BUILD</a:t>
                      </a:r>
                    </a:p>
                  </a:txBody>
                  <a:tcPr marL="73152" marR="73152" marT="18288" marB="18288" anchor="ctr">
                    <a:solidFill>
                      <a:srgbClr val="1A335C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Fibrate-based lipid regulation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1,002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+14.8%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1,319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6.6% / #5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52.5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22C38F"/>
                          </a:solidFill>
                          <a:latin typeface="Arial"/>
                        </a:rPr>
                        <a:t>DOUBLE DOWN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Next-gen non-statin lipid lowering</a:t>
                      </a:r>
                    </a:p>
                  </a:txBody>
                  <a:tcPr marL="73152" marR="73152" marT="18288" marB="18288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73152" marR="73152" marT="18288" marB="18288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+110.1%</a:t>
                      </a:r>
                    </a:p>
                  </a:txBody>
                  <a:tcPr marL="73152" marR="73152" marT="18288" marB="18288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1,948</a:t>
                      </a:r>
                    </a:p>
                  </a:txBody>
                  <a:tcPr marL="73152" marR="73152" marT="18288" marB="18288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0.0% / n/a</a:t>
                      </a:r>
                    </a:p>
                  </a:txBody>
                  <a:tcPr marL="73152" marR="73152" marT="18288" marB="18288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46.6</a:t>
                      </a:r>
                    </a:p>
                  </a:txBody>
                  <a:tcPr marL="73152" marR="73152" marT="18288" marB="18288" anchor="ctr">
                    <a:solidFill>
                      <a:srgbClr val="1A33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FFB84D"/>
                          </a:solidFill>
                          <a:latin typeface="Arial"/>
                        </a:rPr>
                        <a:t>SELECTIVE</a:t>
                      </a:r>
                    </a:p>
                  </a:txBody>
                  <a:tcPr marL="73152" marR="73152" marT="18288" marB="18288" anchor="ctr">
                    <a:solidFill>
                      <a:srgbClr val="1A335C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Arial"/>
                        </a:rPr>
                        <a:t>Legacy AHT monotherapy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+8.5%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4,647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1.3% / #6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>
                          <a:solidFill>
                            <a:srgbClr val="FFFFFF"/>
                          </a:solidFill>
                          <a:latin typeface="Arial"/>
                        </a:rPr>
                        <a:t>14.1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1">
                          <a:solidFill>
                            <a:srgbClr val="9AA0A6"/>
                          </a:solidFill>
                          <a:latin typeface="Arial"/>
                        </a:rPr>
                        <a:t>AVOID</a:t>
                      </a:r>
                    </a:p>
                  </a:txBody>
                  <a:tcPr marL="73152" marR="73152" marT="18288" marB="18288" anchor="ctr">
                    <a:solidFill>
                      <a:srgbClr val="12274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93A8"/>
                </a:solidFill>
                <a:latin typeface="Arial"/>
              </a:rPr>
              <a:t>Cipla Ascend Season 4  |  CARDIO-COMPASS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47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93A8"/>
                </a:solidFill>
                <a:latin typeface="Arial"/>
              </a:rPr>
              <a:t>Page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309360"/>
            <a:ext cx="11155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80" b="0" i="1">
                <a:solidFill>
                  <a:srgbClr val="8A93A8"/>
                </a:solidFill>
                <a:latin typeface="Arial"/>
              </a:rPr>
              <a:t>HHI = Herfindahl-Hirschman Index of company concentration within the space (lower = more fragmented / more whitespace).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"/>
            <a:ext cx="502920" cy="45720"/>
          </a:xfrm>
          <a:prstGeom prst="rect">
            <a:avLst/>
          </a:prstGeom>
          <a:solidFill>
            <a:srgbClr val="E9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94B3C"/>
                </a:solidFill>
                <a:latin typeface="Arial"/>
              </a:rPr>
              <a:t>3 / 3  —  RIGHT-TO-WIN &amp; THE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Cipla trails the category leader everywhere except Fibrates — and the biggest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underpenetrated opportunity is patent-gated, not just uncontested.</a:t>
            </a:r>
          </a:p>
        </p:txBody>
      </p:sp>
      <p:pic>
        <p:nvPicPr>
          <p:cNvPr id="6" name="Picture 5" descr="rtw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36192"/>
            <a:ext cx="6492240" cy="2331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78040" y="1536192"/>
            <a:ext cx="4526280" cy="2331720"/>
          </a:xfrm>
          <a:prstGeom prst="roundRect">
            <a:avLst>
              <a:gd name="adj" fmla="val 5000"/>
            </a:avLst>
          </a:prstGeom>
          <a:solidFill>
            <a:srgbClr val="12274A"/>
          </a:solidFill>
          <a:ln w="15875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8352" y="16916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FB84D"/>
                </a:solidFill>
                <a:latin typeface="Arial"/>
              </a:rPr>
              <a:t>UNDERPENETRATED, DESPITE STRONG POTENTIAL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8352" y="2011680"/>
            <a:ext cx="41605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030" b="1" i="0">
                <a:solidFill>
                  <a:srgbClr val="FFFFFF"/>
                </a:solidFill>
                <a:latin typeface="Arial"/>
              </a:rPr>
              <a:t>Next-gen non-statin lipid lowering</a:t>
            </a:r>
            <a:r>
              <a:rPr sz="1030" b="0" i="0">
                <a:solidFill>
                  <a:srgbClr val="C3CAD9"/>
                </a:solidFill>
                <a:latin typeface="Arial"/>
              </a:rPr>
              <a:t> (+110% CAGR, highest in the dataset) splits in two: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980" b="1" i="0">
                <a:solidFill>
                  <a:srgbClr val="FFFFFF"/>
                </a:solidFill>
                <a:latin typeface="Arial"/>
              </a:rPr>
              <a:t>• Inclisiran </a:t>
            </a:r>
            <a:r>
              <a:rPr sz="980" b="0" i="0">
                <a:solidFill>
                  <a:srgbClr val="C3CAD9"/>
                </a:solidFill>
                <a:latin typeface="Arial"/>
              </a:rPr>
              <a:t>— ₹60 Cr, 100% Novartis, patent-locked. Not accessible near-term.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980" b="1" i="0">
                <a:solidFill>
                  <a:srgbClr val="FFFFFF"/>
                </a:solidFill>
                <a:latin typeface="Arial"/>
              </a:rPr>
              <a:t>• Bempedoic acid combos </a:t>
            </a:r>
            <a:r>
              <a:rPr sz="980" b="0" i="0">
                <a:solidFill>
                  <a:srgbClr val="C3CAD9"/>
                </a:solidFill>
                <a:latin typeface="Arial"/>
              </a:rPr>
              <a:t>— ₹57 Cr, already fragmenting across 7+ Indian generics majors post-Zydus's 2022 first-mover launch.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980" b="0" i="1">
                <a:solidFill>
                  <a:srgbClr val="FFB84D"/>
                </a:solidFill>
                <a:latin typeface="Arial"/>
              </a:rPr>
              <a:t>→ Selective fast-follower generic entry into bempedoic acid combinations; skip inclisiran.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14800"/>
            <a:ext cx="2679192" cy="1965960"/>
          </a:xfrm>
          <a:prstGeom prst="roundRect">
            <a:avLst>
              <a:gd name="adj" fmla="val 6000"/>
            </a:avLst>
          </a:prstGeom>
          <a:solidFill>
            <a:srgbClr val="12274A"/>
          </a:solidFill>
          <a:ln w="19050">
            <a:solidFill>
              <a:srgbClr val="22C3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4114800"/>
            <a:ext cx="2679192" cy="329184"/>
          </a:xfrm>
          <a:prstGeom prst="roundRect">
            <a:avLst>
              <a:gd name="adj" fmla="val 0"/>
            </a:avLst>
          </a:prstGeom>
          <a:solidFill>
            <a:srgbClr val="22C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15594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A1F3D"/>
                </a:solidFill>
                <a:latin typeface="Arial"/>
              </a:rPr>
              <a:t>DOUBLE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90288"/>
            <a:ext cx="24048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30" b="1" i="0">
                <a:solidFill>
                  <a:srgbClr val="FFFFFF"/>
                </a:solidFill>
                <a:latin typeface="Arial"/>
              </a:rPr>
              <a:t>Fibrate-based lipid regulation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85232"/>
            <a:ext cx="2404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3CAD9"/>
                </a:solidFill>
                <a:latin typeface="Arial"/>
              </a:rPr>
              <a:t>Already rank #5, 6.6% share — defend and extend the FDC 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4992" y="4114800"/>
            <a:ext cx="2679192" cy="1965960"/>
          </a:xfrm>
          <a:prstGeom prst="roundRect">
            <a:avLst>
              <a:gd name="adj" fmla="val 6000"/>
            </a:avLst>
          </a:prstGeom>
          <a:solidFill>
            <a:srgbClr val="12274A"/>
          </a:solidFill>
          <a:ln w="19050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64992" y="4114800"/>
            <a:ext cx="2679192" cy="329184"/>
          </a:xfrm>
          <a:prstGeom prst="roundRect">
            <a:avLst>
              <a:gd name="adj" fmla="val 0"/>
            </a:avLst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4992" y="415594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A1F3D"/>
                </a:solidFill>
                <a:latin typeface="Arial"/>
              </a:rP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4590288"/>
            <a:ext cx="24048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30" b="1" i="0">
                <a:solidFill>
                  <a:srgbClr val="FFFFFF"/>
                </a:solidFill>
                <a:latin typeface="Arial"/>
              </a:rPr>
              <a:t>ARB-CCB combo + Statin-Ezetimibe combo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5285232"/>
            <a:ext cx="2404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3CAD9"/>
                </a:solidFill>
                <a:latin typeface="Arial"/>
              </a:rPr>
              <a:t>Biggest prize + fastest grower; fragmented fields, real entry room.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4114800"/>
            <a:ext cx="2679192" cy="1965960"/>
          </a:xfrm>
          <a:prstGeom prst="roundRect">
            <a:avLst>
              <a:gd name="adj" fmla="val 6000"/>
            </a:avLst>
          </a:prstGeom>
          <a:solidFill>
            <a:srgbClr val="12274A"/>
          </a:solidFill>
          <a:ln w="19050">
            <a:solidFill>
              <a:srgbClr val="FFB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27064" y="4114800"/>
            <a:ext cx="2679192" cy="329184"/>
          </a:xfrm>
          <a:prstGeom prst="roundRect">
            <a:avLst>
              <a:gd name="adj" fmla="val 0"/>
            </a:avLst>
          </a:prstGeom>
          <a:solidFill>
            <a:srgbClr val="FFB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415594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A1F3D"/>
                </a:solidFill>
                <a:latin typeface="Arial"/>
              </a:rPr>
              <a:t>SELECTIVE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4590288"/>
            <a:ext cx="24048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30" b="1" i="0">
                <a:solidFill>
                  <a:srgbClr val="FFFFFF"/>
                </a:solidFill>
                <a:latin typeface="Arial"/>
              </a:rPr>
              <a:t>Next-gen non-statin lipid lowering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5285232"/>
            <a:ext cx="2404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3CAD9"/>
                </a:solidFill>
                <a:latin typeface="Arial"/>
              </a:rPr>
              <a:t>Fast-follow bempedoic acid generics only; inclisiran is off the table.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9136" y="4114800"/>
            <a:ext cx="2679192" cy="1965960"/>
          </a:xfrm>
          <a:prstGeom prst="roundRect">
            <a:avLst>
              <a:gd name="adj" fmla="val 6000"/>
            </a:avLst>
          </a:prstGeom>
          <a:solidFill>
            <a:srgbClr val="12274A"/>
          </a:solidFill>
          <a:ln w="1905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89136" y="4114800"/>
            <a:ext cx="2679192" cy="329184"/>
          </a:xfrm>
          <a:prstGeom prst="roundRect">
            <a:avLst>
              <a:gd name="adj" fmla="val 0"/>
            </a:avLst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9136" y="415594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A1F3D"/>
                </a:solidFill>
                <a:latin typeface="Arial"/>
              </a:rPr>
              <a:t>AVOID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6296" y="4590288"/>
            <a:ext cx="240487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30" b="1" i="0">
                <a:solidFill>
                  <a:srgbClr val="FFFFFF"/>
                </a:solidFill>
                <a:latin typeface="Arial"/>
              </a:rPr>
              <a:t>Legacy AHT monotherapy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5285232"/>
            <a:ext cx="240487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80" b="0" i="0">
                <a:solidFill>
                  <a:srgbClr val="C3CAD9"/>
                </a:solidFill>
                <a:latin typeface="Arial"/>
              </a:rPr>
              <a:t>Flat real volume (+0.07% CAGR), HHI 4,647 — fading, not investable.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93A8"/>
                </a:solidFill>
                <a:latin typeface="Arial"/>
              </a:rPr>
              <a:t>Cipla Ascend Season 4  |  CARDIO-COMPASS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547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93A8"/>
                </a:solidFill>
                <a:latin typeface="Arial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69164"/>
            <a:ext cx="502920" cy="45720"/>
          </a:xfrm>
          <a:prstGeom prst="rect">
            <a:avLst/>
          </a:prstGeom>
          <a:solidFill>
            <a:srgbClr val="E9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94B3C"/>
                </a:solidFill>
                <a:latin typeface="Arial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rial"/>
              </a:rPr>
              <a:t>Sources for external data &amp; methodology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A90E2"/>
                </a:solidFill>
                <a:latin typeface="Arial"/>
              </a:rPr>
              <a:t>EXTERNAL SOURCES CITED (FUTURE-POTENTIAL SCORING)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55648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3CAD9"/>
                </a:solidFill>
                <a:latin typeface="Arial"/>
              </a:rPr>
              <a:t>•  Bempedoic Acid for Lipid Management in the Indian Population: An Expert Opinion — PMC (pmc.ncbi.nlm.nih.gov/articles/PMC10040092)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43684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3CAD9"/>
                </a:solidFill>
                <a:latin typeface="Arial"/>
              </a:rPr>
              <a:t>•  Zydus launches Bemdac to treat LDL-Cholesterol — Indian Pharma Post (indianpharmapost.com)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3CAD9"/>
                </a:solidFill>
                <a:latin typeface="Arial"/>
              </a:rPr>
              <a:t>•  Bempedoic acid market in India will become crowded soon with more generic launches — GlobalData (globaldata.com)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19756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3CAD9"/>
                </a:solidFill>
                <a:latin typeface="Arial"/>
              </a:rPr>
              <a:t>•  Unmet Need for Further LDL-C Lowering in India despite Statin Therapy: LAI Recommendations — PubMed (pubmed.ncbi.nlm.nih.gov/36082889)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07791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3CAD9"/>
                </a:solidFill>
                <a:latin typeface="Arial"/>
              </a:rPr>
              <a:t>•  Guidelines for dyslipidemia management in India: current scenario and gaps — PMC (pmc.ncbi.nlm.nih.gov/articles/PMC9647649)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95827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3CAD9"/>
                </a:solidFill>
                <a:latin typeface="Arial"/>
              </a:rPr>
              <a:t>•  CSI Clinical Practice Guidelines for Dyslipidemia Management — ScienceDirect (sciencedirect.com/science/article/pii/S0019483223004698)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83863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3CAD9"/>
                </a:solidFill>
                <a:latin typeface="Arial"/>
              </a:rPr>
              <a:t>•  Epidemiological trends and age-period-cohort effects on CVD burden attributable to ambient air pollution across BRICS — Nature Sci Reports (nature.com/articles/s41598-024-62295-6)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7190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3CAD9"/>
                </a:solidFill>
                <a:latin typeface="Arial"/>
              </a:rPr>
              <a:t>•  Does Ambient/Indoor Air Pollution Drive Hypertension in Women in India? — Air Qual Atmos Health, Springer (link.springer.com/article/10.1007/s11869-025-01770-z)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59936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3CAD9"/>
                </a:solidFill>
                <a:latin typeface="Arial"/>
              </a:rPr>
              <a:t>•  The India Hypertension Control Initiative — early outcomes, 2018-2020 — J Human Hypertension, Nature (nature.com/articles/s41371-022-00742-5)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47972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30" b="0" i="0">
                <a:solidFill>
                  <a:srgbClr val="C3CAD9"/>
                </a:solidFill>
                <a:latin typeface="Arial"/>
              </a:rPr>
              <a:t>•  Treatment Optimisation for BP with Single-Pill Combinations in India (TOPSPIN protocol) — PMC (ncbi.nlm.nih.gov/pmc/articles/PMC11565424)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9204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4A90E2"/>
                </a:solidFill>
                <a:latin typeface="Arial"/>
              </a:rPr>
              <a:t>METHODOLOGY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12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C3CAD9"/>
                </a:solidFill>
                <a:latin typeface="Arial"/>
              </a:rPr>
              <a:t>•  Primary dataset: Ascend Season 4 Cardiac market MAT dataset (IQVIA-style, 7,452 SKU-level rows, India, MAT Feb'24/'25/'26).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577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C3CAD9"/>
                </a:solidFill>
                <a:latin typeface="Arial"/>
              </a:rPr>
              <a:t>•  "Future potential" pillar is analyst-curated from the sources above, not a live external feed — documented transparently given offline/sandboxed constraints.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C3CAD9"/>
                </a:solidFill>
                <a:latin typeface="Arial"/>
              </a:rPr>
              <a:t>•  Cipla's own CAGR is capped at +100% before scoring to prevent low-base outliers (e.g. Statin-Ezetimibe, &lt;₹1 Cr in FY24) from dominating the right-to-win pillar.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93A8"/>
                </a:solidFill>
                <a:latin typeface="Arial"/>
              </a:rPr>
              <a:t>Cipla Ascend Season 4  |  CARDIO-COMPASS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47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0" i="0">
                <a:solidFill>
                  <a:srgbClr val="8A93A8"/>
                </a:solidFill>
                <a:latin typeface="Arial"/>
              </a:rP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