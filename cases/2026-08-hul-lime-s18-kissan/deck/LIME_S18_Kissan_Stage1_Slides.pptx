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51A1A"/>
                </a:solidFill>
                <a:latin typeface="Arial"/>
              </a:rPr>
              <a:t>L.I.M.E. SEASON 18 —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151515"/>
                </a:solidFill>
                <a:latin typeface="Arial"/>
              </a:rPr>
              <a:t>The Next Shelf: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151515"/>
                </a:solidFill>
                <a:latin typeface="Arial"/>
              </a:rPr>
              <a:t>Building the Future of Kissan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9601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Arial"/>
              </a:rPr>
              <a:t>Two required submission slides — Consumer Job and Concept Card — for the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Arial"/>
              </a:rPr>
              <a:t>Kissan Chutney opportunity, built on a secondary-research hypothesis pending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Arial"/>
              </a:rPr>
              <a:t>the team's own Task 1 interviews.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069080"/>
            <a:ext cx="2926080" cy="1828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24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cases/2026-08-hul-lime-s18-kissan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6460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D51A1A"/>
                </a:solidFill>
                <a:latin typeface="Arial"/>
              </a:rPr>
              <a:t>Not a real deliverable substitute: </a:t>
            </a:r>
            <a:r>
              <a:rPr sz="1200" b="0" i="0">
                <a:solidFill>
                  <a:srgbClr val="151515"/>
                </a:solidFill>
                <a:latin typeface="Arial"/>
              </a:rPr>
              <a:t>the case grades a real 20-person consumer immersion (Task 1) hardest. This deck is a strong starting hypothesis and a ready-to-run interview guide — swap in real quotes before this goes anywhere near a jury.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51515"/>
                </a:solidFill>
                <a:latin typeface="Arial"/>
              </a:rPr>
              <a:t>Slide 1: Consumer Job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77240"/>
            <a:ext cx="822960" cy="45720"/>
          </a:xfrm>
          <a:prstGeom prst="rect">
            <a:avLst/>
          </a:prstGeom>
          <a:solidFill>
            <a:srgbClr val="D5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3063240" cy="548640"/>
          </a:xfrm>
          <a:prstGeom prst="rect">
            <a:avLst/>
          </a:prstGeom>
          <a:solidFill>
            <a:srgbClr val="0E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234440"/>
            <a:ext cx="28072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DEFINE YOUR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CONSUMER PERSONA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10512"/>
            <a:ext cx="3063240" cy="3977639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75104"/>
            <a:ext cx="2724912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 i="0">
                <a:solidFill>
                  <a:srgbClr val="D51A1A"/>
                </a:solidFill>
                <a:latin typeface="Arial"/>
              </a:rPr>
              <a:t>“The Chatora”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51515"/>
                </a:solidFill>
                <a:latin typeface="Arial"/>
              </a:rPr>
              <a:t>18–30, urban India (Tier 1 &amp; 2 India). Grew up on Kissan ketchup. Discovers food on Instagram/YouTube reels before it shows up in a store.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51515"/>
                </a:solidFill>
                <a:latin typeface="Arial"/>
              </a:rPr>
              <a:t>Already eats without asking permission: ketchup on dosa, chutney on pizza, double-dips, triple-dips — the exact behaviour in the case's own moodboard.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234440"/>
            <a:ext cx="3063240" cy="548640"/>
          </a:xfrm>
          <a:prstGeom prst="rect">
            <a:avLst/>
          </a:prstGeom>
          <a:solidFill>
            <a:srgbClr val="0E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31335" y="1234440"/>
            <a:ext cx="28072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IDENTIFY THE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810512"/>
            <a:ext cx="3063240" cy="3977639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975104"/>
            <a:ext cx="2724912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 i="0">
                <a:solidFill>
                  <a:srgbClr val="151515"/>
                </a:solidFill>
                <a:latin typeface="Arial"/>
              </a:rPr>
              <a:t>Packaged chutney hasn't caught up to how this generation actually eats.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51515"/>
                </a:solidFill>
                <a:latin typeface="Arial"/>
              </a:rPr>
              <a:t>It's still homemade, or stuck in jars/pouches nobody fully trusts or reaches for on the go.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51515"/>
                </a:solidFill>
                <a:latin typeface="Arial"/>
              </a:rPr>
              <a:t>Ketchup already made the leap to “trust it, squeeze it, done.” Chutney hasn't — yet.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234440"/>
            <a:ext cx="4782312" cy="548640"/>
          </a:xfrm>
          <a:prstGeom prst="rect">
            <a:avLst/>
          </a:prstGeom>
          <a:solidFill>
            <a:srgbClr val="D5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31736" y="1234440"/>
            <a:ext cx="4526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JOB TO BE 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810512"/>
            <a:ext cx="4782312" cy="1325880"/>
          </a:xfrm>
          <a:prstGeom prst="rect">
            <a:avLst/>
          </a:prstGeom>
          <a:solidFill>
            <a:srgbClr val="144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938528"/>
            <a:ext cx="4379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C93D"/>
                </a:solidFill>
                <a:latin typeface="Arial"/>
              </a:rPr>
              <a:t>WHEN I...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231136"/>
            <a:ext cx="4379976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am eating literally anything — pizza, noodles, dosa, momos, even Maggi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3255264"/>
            <a:ext cx="4782312" cy="1325880"/>
          </a:xfrm>
          <a:prstGeom prst="rect">
            <a:avLst/>
          </a:prstGeom>
          <a:solidFill>
            <a:srgbClr val="144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383280"/>
            <a:ext cx="4379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C93D"/>
                </a:solidFill>
                <a:latin typeface="Arial"/>
              </a:rPr>
              <a:t>I WANT TO...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675888"/>
            <a:ext cx="4379976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reach for a chutney that's as trusted and ready as ketchup already 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4700016"/>
            <a:ext cx="4782312" cy="1325880"/>
          </a:xfrm>
          <a:prstGeom prst="rect">
            <a:avLst/>
          </a:prstGeom>
          <a:solidFill>
            <a:srgbClr val="144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4828032"/>
            <a:ext cx="4379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C93D"/>
                </a:solidFill>
                <a:latin typeface="Arial"/>
              </a:rPr>
              <a:t>SO THAT...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5120640"/>
            <a:ext cx="4379976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 can dip and fuse whatever I want, without cooking it myself or gambling on a random jar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rial"/>
              </a:rPr>
              <a:t>Hypothesis pending Task 1 interviews — see research/discovery-guide.md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6B6B6B"/>
                </a:solidFill>
                <a:latin typeface="Arial"/>
              </a:rPr>
              <a:t>Slide 2: Concept Card</a:t>
            </a:r>
          </a:p>
        </p:txBody>
      </p:sp>
      <p:pic>
        <p:nvPicPr>
          <p:cNvPr id="3" name="Picture 2" descr="pack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85800"/>
            <a:ext cx="11183112" cy="5074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5870448"/>
            <a:ext cx="11183112" cy="1828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16752"/>
            <a:ext cx="11183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F5EEDD"/>
                </a:solidFill>
                <a:latin typeface="Arial"/>
              </a:rPr>
              <a:t>Kissan Chutney — Mint, Imli &amp; Schezwan, in the same trusted squeeze as your ketchup. No chopping. No random jars. Just a clean burst of real flavour on literally anything — dosa, pizza, noodles, Maggi. Because when you already dip everything in everything, your chutney deserves to keep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