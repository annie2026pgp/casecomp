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7863840" y="3886200"/>
            <a:ext cx="2834640" cy="566928"/>
          </a:xfrm>
          <a:prstGeom prst="parallelogram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189720" y="4617720"/>
            <a:ext cx="2103120" cy="566928"/>
          </a:xfrm>
          <a:prstGeom prst="parallelogram">
            <a:avLst/>
          </a:prstGeom>
          <a:solidFill>
            <a:srgbClr val="E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8686800" y="3154680"/>
            <a:ext cx="1417320" cy="566928"/>
          </a:xfrm>
          <a:prstGeom prst="parallelogram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601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2D2D2D"/>
                </a:solidFill>
                <a:latin typeface="Georgia"/>
              </a:rPr>
              <a:t>pwc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04A02"/>
                </a:solidFill>
                <a:latin typeface="Arial"/>
              </a:rPr>
              <a:t>PwC CHALLENGE 8.0  |  ROUND 1 SUBMISSION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i="0">
                <a:solidFill>
                  <a:srgbClr val="2D2D2D"/>
                </a:solidFill>
                <a:latin typeface="Georgia"/>
              </a:rPr>
              <a:t>Designing a Better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i="0">
                <a:solidFill>
                  <a:srgbClr val="2D2D2D"/>
                </a:solidFill>
                <a:latin typeface="Georgia"/>
              </a:rPr>
              <a:t>Organization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913632"/>
            <a:ext cx="1463040" cy="32004"/>
          </a:xfrm>
          <a:prstGeom prst="rect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7498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2D2D2D"/>
                </a:solidFill>
                <a:latin typeface="Arial"/>
              </a:rPr>
              <a:t>An enterprise AI operating-model blueprint for StyleVerse Global —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2D2D2D"/>
                </a:solidFill>
                <a:latin typeface="Arial"/>
              </a:rPr>
              <a:t>automating 40% of routine work while protecting all 28,000 roles.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7498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50" b="0" i="1">
                <a:solidFill>
                  <a:srgbClr val="7D7D7D"/>
                </a:solidFill>
                <a:latin typeface="Arial"/>
              </a:rPr>
              <a:t>“Our next phase of growth depends on designing a better organization.”</a:t>
            </a:r>
            <a:r>
              <a:rPr sz="1050" b="0" i="0">
                <a:solidFill>
                  <a:srgbClr val="7D7D7D"/>
                </a:solidFill>
                <a:latin typeface="Arial"/>
              </a:rPr>
              <a:t>   — CEO, StyleVerse Global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5897880"/>
            <a:ext cx="10972800" cy="10972"/>
          </a:xfrm>
          <a:prstGeom prst="rect">
            <a:avLst/>
          </a:prstGeom>
          <a:solidFill>
            <a:srgbClr val="C9C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053328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D2D2D"/>
                </a:solidFill>
                <a:latin typeface="Arial"/>
              </a:rPr>
              <a:t>Ranjana Mainani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09360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Strategic consultant team, StyleVerse AI transformation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"/>
            <a:ext cx="457200" cy="50292"/>
          </a:xfrm>
          <a:prstGeom prst="rect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20624"/>
            <a:ext cx="10515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04A02"/>
                </a:solidFill>
                <a:latin typeface="Arial"/>
              </a:rPr>
              <a:t>EXECUTIVE SUMMARY  | 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338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2D2D2D"/>
                </a:solidFill>
                <a:latin typeface="Georgia"/>
              </a:rPr>
              <a:t>AI should touch 82% of StyleVerse's work — and replace none of its 28,000 people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16736"/>
            <a:ext cx="11274552" cy="822960"/>
          </a:xfrm>
          <a:prstGeom prst="rect">
            <a:avLst/>
          </a:prstGeom>
          <a:solidFill>
            <a:srgbClr val="F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1" i="0">
                <a:solidFill>
                  <a:srgbClr val="2D2D2D"/>
                </a:solidFill>
                <a:latin typeface="Arial"/>
              </a:rPr>
              <a:t>StyleVerse does not have a growth problem — it has a conversion problem. </a:t>
            </a:r>
            <a:r>
              <a:rPr sz="1250" b="0" i="0">
                <a:solidFill>
                  <a:srgbClr val="2D2D2D"/>
                </a:solidFill>
                <a:latin typeface="Arial"/>
              </a:rPr>
              <a:t>Insight becomes action too slowly because work, not talent, is mis-allocated. We re-architect every role into three tiers, automate 40% of routine work, and redeploy the released capacity into customer-facing 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49424"/>
            <a:ext cx="26791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49424"/>
            <a:ext cx="2679192" cy="41148"/>
          </a:xfrm>
          <a:prstGeom prst="rect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395728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D04A02"/>
                </a:solidFill>
                <a:latin typeface="Georgia"/>
              </a:rPr>
              <a:t>54%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798064"/>
            <a:ext cx="2286000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of all work is routine —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not the 48% Exhibit 4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averages to (weighted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by headcount)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00984" y="2249424"/>
            <a:ext cx="26791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00984" y="2249424"/>
            <a:ext cx="2679192" cy="41148"/>
          </a:xfrm>
          <a:prstGeom prst="rect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2152" y="2395728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D04A02"/>
                </a:solidFill>
                <a:latin typeface="Georgia"/>
              </a:rPr>
              <a:t>6,056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798064"/>
            <a:ext cx="2286000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FTE-equivalents of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capacity released —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converted, not cut,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under Zero-Layoff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4768" y="2249424"/>
            <a:ext cx="26791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4768" y="2249424"/>
            <a:ext cx="2679192" cy="41148"/>
          </a:xfrm>
          <a:prstGeom prst="rect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2395728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D04A02"/>
                </a:solidFill>
                <a:latin typeface="Georgia"/>
              </a:rPr>
              <a:t>₹311 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798064"/>
            <a:ext cx="2286000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annual run-rate value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against a ₹200 Cr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one-time investment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(payback &lt; 12 months)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88552" y="2249424"/>
            <a:ext cx="26791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88552" y="2249424"/>
            <a:ext cx="2679192" cy="41148"/>
          </a:xfrm>
          <a:prstGeom prst="rect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2395728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D04A02"/>
                </a:solidFill>
                <a:latin typeface="Georgia"/>
              </a:rPr>
              <a:t>13.1%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798064"/>
            <a:ext cx="2286000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EBITDA margin by FY26,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up from 9.5% today —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on 15% revenue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growth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13632"/>
            <a:ext cx="5532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059936"/>
            <a:ext cx="5120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D04A02"/>
                </a:solidFill>
                <a:latin typeface="Arial"/>
              </a:rPr>
              <a:t>WHAT WE FOUND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352544"/>
            <a:ext cx="5138928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2D2D2D"/>
                </a:solidFill>
                <a:latin typeface="Arial"/>
              </a:rPr>
              <a:t>The operating model is the constraint. </a:t>
            </a:r>
            <a:r>
              <a:rPr sz="1100" b="0" i="0">
                <a:solidFill>
                  <a:srgbClr val="2D2D2D"/>
                </a:solidFill>
                <a:latin typeface="Arial"/>
              </a:rPr>
              <a:t>Every function optimises locally; nobody owns the handoffs between them.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2D2D2D"/>
                </a:solidFill>
                <a:latin typeface="Arial"/>
              </a:rPr>
              <a:t>Routine work is under-counted. </a:t>
            </a:r>
            <a:r>
              <a:rPr sz="1100" b="0" i="0">
                <a:solidFill>
                  <a:srgbClr val="2D2D2D"/>
                </a:solidFill>
                <a:latin typeface="Arial"/>
              </a:rPr>
              <a:t>The two largest functions are the most routine-heavy, so the true load is 54%, not 48%.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2D2D2D"/>
                </a:solidFill>
                <a:latin typeface="Arial"/>
              </a:rPr>
              <a:t>The biggest prize is the least ready. </a:t>
            </a:r>
            <a:r>
              <a:rPr sz="1100" b="0" i="0">
                <a:solidFill>
                  <a:srgbClr val="2D2D2D"/>
                </a:solidFill>
                <a:latin typeface="Arial"/>
              </a:rPr>
              <a:t>Retail Operations ranks #2 on value but scores 1.35/5 on adoption readiness (fear 4.3/5).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9632" y="3913632"/>
            <a:ext cx="5532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059936"/>
            <a:ext cx="5120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D04A02"/>
                </a:solidFill>
                <a:latin typeface="Arial"/>
              </a:rPr>
              <a:t>WHAT WE RECOMMEND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352544"/>
            <a:ext cx="5138928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2D2D2D"/>
                </a:solidFill>
                <a:latin typeface="Arial"/>
              </a:rPr>
              <a:t>Phase 1: Marketing &amp; CX, Merchandising, Retail Ops </a:t>
            </a:r>
            <a:r>
              <a:rPr sz="1100" b="0" i="0">
                <a:solidFill>
                  <a:srgbClr val="2D2D2D"/>
                </a:solidFill>
                <a:latin typeface="Arial"/>
              </a:rPr>
              <a:t>— but Retail enters as a 20-store readiness pilot, not a 200-store rollout.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2D2D2D"/>
                </a:solidFill>
                <a:latin typeface="Arial"/>
              </a:rPr>
              <a:t>Federated hub-and-spoke AI CoE </a:t>
            </a:r>
            <a:r>
              <a:rPr sz="1100" b="0" i="0">
                <a:solidFill>
                  <a:srgbClr val="2D2D2D"/>
                </a:solidFill>
                <a:latin typeface="Arial"/>
              </a:rPr>
              <a:t>— a central platform and standards hub with embedded squads in each function.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2D2D2D"/>
                </a:solidFill>
                <a:latin typeface="Arial"/>
              </a:rPr>
              <a:t>Brand-differentiated governance. </a:t>
            </a:r>
            <a:r>
              <a:rPr sz="1100" b="0" i="0">
                <a:solidFill>
                  <a:srgbClr val="2D2D2D"/>
                </a:solidFill>
                <a:latin typeface="Arial"/>
              </a:rPr>
              <a:t>Maison Luxe stays human-led by design; SpeedStyle goes AI-forward. One policy would damage one of them.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336792"/>
            <a:ext cx="11274552" cy="10972"/>
          </a:xfrm>
          <a:prstGeom prst="rect">
            <a:avLst/>
          </a:prstGeom>
          <a:solidFill>
            <a:srgbClr val="C9C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419088"/>
            <a:ext cx="9966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All figures derived from case Exhibits 1–5. Assumptions: markdown reduction at 35% pass-through; return cost = 25% of item value; ₹1.2 L replacement cost per exit. See Appendix A3.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19088"/>
            <a:ext cx="12161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"/>
            <a:ext cx="457200" cy="50292"/>
          </a:xfrm>
          <a:prstGeom prst="rect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20624"/>
            <a:ext cx="10515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04A02"/>
                </a:solidFill>
                <a:latin typeface="Arial"/>
              </a:rPr>
              <a:t>EXECUTIVE SUMMARY  | 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338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2D2D2D"/>
                </a:solidFill>
                <a:latin typeface="Georgia"/>
              </a:rPr>
              <a:t>Four deliverables, one integrated answer — sequenced to build trust before scale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74550" cy="24871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86705"/>
                <a:gridCol w="5562774"/>
                <a:gridCol w="2880722"/>
                <a:gridCol w="844349"/>
              </a:tblGrid>
              <a:tr h="49743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Deliverable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Our answer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The number that proves it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Slide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</a:tr>
              <a:tr h="49743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1. Task audit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Three-gate test applied to every activity → 22% Automatable, 60% Augmentable, 18% Fundamentally Human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6,056 FTE-equivalents released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B2–B3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49743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2. Priority + operating model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Phase 1 = Marketing &amp; CX, Merchandising, Retail Ops (pilot-first); federated hub-and-spoke CoE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Model reproduces leadership's own ranking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B4–B7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</a:tr>
              <a:tr h="49743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3. Workforce strategy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Four learning journeys, 12 → 40 learning hours, six new role families as redeployment destinations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Zero roles lost; 31% → 25% attrition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B8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4974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4. Governance + change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Brand-differentiated AI policy, four-tier decision rights, Zero-Layoff Charter in month 1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100% of AI decisions tiered and logged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B9–B10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059936"/>
            <a:ext cx="112745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D04A02"/>
                </a:solidFill>
                <a:latin typeface="Arial"/>
              </a:rPr>
              <a:t>THE ROADMAP — TRUST FIRST, THEN SCALE</a:t>
            </a:r>
          </a:p>
        </p:txBody>
      </p:sp>
      <p:pic>
        <p:nvPicPr>
          <p:cNvPr id="7" name="Picture 6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5968"/>
            <a:ext cx="6720840" cy="187451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06640" y="4315968"/>
            <a:ext cx="4325112" cy="1874519"/>
          </a:xfrm>
          <a:prstGeom prst="rect">
            <a:avLst/>
          </a:prstGeom>
          <a:solidFill>
            <a:srgbClr val="F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07808" y="4462272"/>
            <a:ext cx="3931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D04A02"/>
                </a:solidFill>
                <a:latin typeface="Arial"/>
              </a:rPr>
              <a:t>WHY THIS SEQUENCE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754880"/>
            <a:ext cx="3950208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Highest-readiness functions go first so the first visible AI story inside StyleVerse is a </a:t>
            </a:r>
            <a:r>
              <a:rPr sz="1050" b="1" i="0">
                <a:solidFill>
                  <a:srgbClr val="2D2D2D"/>
                </a:solidFill>
                <a:latin typeface="Arial"/>
              </a:rPr>
              <a:t>success, not a threat</a:t>
            </a:r>
            <a:r>
              <a:rPr sz="1050" b="0" i="0">
                <a:solidFill>
                  <a:srgbClr val="2D2D2D"/>
                </a:solidFill>
                <a:latin typeface="Arial"/>
              </a:rPr>
              <a:t>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Manufacturing is last despite the largest headcount — fear is 4.5/5 and digital skill 1.8/5. Sequencing it early would confirm employees' worst fear and stall the whole programme.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336792"/>
            <a:ext cx="11274552" cy="10972"/>
          </a:xfrm>
          <a:prstGeom prst="rect">
            <a:avLst/>
          </a:prstGeom>
          <a:solidFill>
            <a:srgbClr val="C9C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19088"/>
            <a:ext cx="9966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Phase-1 selection scored on the five criteria named in the case: business impact, customer value, workforce size, automation potential and implementation feasibility.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19088"/>
            <a:ext cx="12161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"/>
            <a:ext cx="457200" cy="50292"/>
          </a:xfrm>
          <a:prstGeom prst="rect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20624"/>
            <a:ext cx="10515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04A02"/>
                </a:solidFill>
                <a:latin typeface="Arial"/>
              </a:rPr>
              <a:t>BODY  |  B1  · 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338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2D2D2D"/>
                </a:solidFill>
                <a:latin typeface="Georgia"/>
              </a:rPr>
              <a:t>Growth is not the problem. The gap between insight and action 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7919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04A02"/>
                </a:solidFill>
                <a:latin typeface="Arial"/>
              </a:rPr>
              <a:t>SPEED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73936"/>
            <a:ext cx="22860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2D2D2D"/>
                </a:solidFill>
                <a:latin typeface="Georgia"/>
              </a:rPr>
              <a:t>14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49424"/>
            <a:ext cx="23317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trend-to-store, against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&lt;4 weeks for digitally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native competitors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00984" y="1371600"/>
            <a:ext cx="267919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2152" y="1517904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04A02"/>
                </a:solidFill>
                <a:latin typeface="Arial"/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1773936"/>
            <a:ext cx="22860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2D2D2D"/>
                </a:solidFill>
                <a:latin typeface="Georgia"/>
              </a:rPr>
              <a:t>62%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249424"/>
            <a:ext cx="23317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forecast accuracy drives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26% unsold inventory and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₹380 Cr of markdowns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1371600"/>
            <a:ext cx="267919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517904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04A02"/>
                </a:solidFill>
                <a:latin typeface="Arial"/>
              </a:rPr>
              <a:t>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1773936"/>
            <a:ext cx="22860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2D2D2D"/>
                </a:solidFill>
                <a:latin typeface="Georgia"/>
              </a:rPr>
              <a:t>88,000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249424"/>
            <a:ext cx="23317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customer queries a month;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48 hrs to resolve; 58%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first-time fit accuracy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88552" y="1371600"/>
            <a:ext cx="267919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517904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04A02"/>
                </a:solidFill>
                <a:latin typeface="Arial"/>
              </a:rPr>
              <a:t>PEOPLE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1773936"/>
            <a:ext cx="22860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2D2D2D"/>
                </a:solidFill>
                <a:latin typeface="Georgia"/>
              </a:rPr>
              <a:t>42%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249424"/>
            <a:ext cx="23317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attrition in Retail Ops on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just 12 hours of structured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learning a year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27248"/>
            <a:ext cx="11274552" cy="1024128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310128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1" i="0">
                <a:solidFill>
                  <a:srgbClr val="FFB600"/>
                </a:solidFill>
                <a:latin typeface="Arial"/>
              </a:rPr>
              <a:t>The common cause:  </a:t>
            </a:r>
            <a:r>
              <a:rPr sz="1250" b="0" i="0">
                <a:solidFill>
                  <a:srgbClr val="FFFFFF"/>
                </a:solidFill>
                <a:latin typeface="Arial"/>
              </a:rPr>
              <a:t>each function has optimised its own systems and processes — so the handoffs between them are owned by nobody and bridged manually.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DEDAD6"/>
                </a:solidFill>
                <a:latin typeface="Arial"/>
              </a:rPr>
              <a:t>AI applied function-by-function would automate the silos instead of dissolving them. The unit of redesign has to be the workflow, not the department.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34256"/>
            <a:ext cx="5532120" cy="1865376"/>
          </a:xfrm>
          <a:prstGeom prst="rect">
            <a:avLst/>
          </a:prstGeom>
          <a:solidFill>
            <a:srgbClr val="F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480560"/>
            <a:ext cx="5120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D04A02"/>
                </a:solidFill>
                <a:latin typeface="Arial"/>
              </a:rPr>
              <a:t>AND THE PRIZE IS BIGGER THAN IT LOOKS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773168"/>
            <a:ext cx="51389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2D2D2D"/>
                </a:solidFill>
                <a:latin typeface="Arial"/>
              </a:rPr>
              <a:t>Exhibit 4 reports an organisation average of 48% routine work. That is an </a:t>
            </a:r>
            <a:r>
              <a:rPr sz="1100" b="1" i="0">
                <a:solidFill>
                  <a:srgbClr val="2D2D2D"/>
                </a:solidFill>
                <a:latin typeface="Arial"/>
              </a:rPr>
              <a:t>unweighted</a:t>
            </a:r>
            <a:r>
              <a:rPr sz="1100" b="0" i="0">
                <a:solidFill>
                  <a:srgbClr val="2D2D2D"/>
                </a:solidFill>
                <a:latin typeface="Arial"/>
              </a:rPr>
              <a:t> mean of the six functions.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1" i="0">
                <a:solidFill>
                  <a:srgbClr val="D04A02"/>
                </a:solidFill>
                <a:latin typeface="Arial"/>
              </a:rPr>
              <a:t>Weighted by headcount it is 54.1%</a:t>
            </a:r>
            <a:r>
              <a:rPr sz="1100" b="0" i="0">
                <a:solidFill>
                  <a:srgbClr val="2D2D2D"/>
                </a:solidFill>
                <a:latin typeface="Arial"/>
              </a:rPr>
              <a:t> — because the two largest functions (Manufacturing 11,000 at 60%; Retail 10,000 at 55%) are the most routine-heavy of all.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9632" y="4334256"/>
            <a:ext cx="5532120" cy="1865376"/>
          </a:xfrm>
          <a:prstGeom prst="rect">
            <a:avLst/>
          </a:prstGeom>
          <a:solidFill>
            <a:srgbClr val="F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480560"/>
            <a:ext cx="5120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D04A02"/>
                </a:solidFill>
                <a:latin typeface="Arial"/>
              </a:rPr>
              <a:t>WHY THAT MATTERS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773168"/>
            <a:ext cx="51389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2D2D2D"/>
                </a:solidFill>
                <a:latin typeface="Arial"/>
              </a:rPr>
              <a:t>A 5.7-point understatement is roughly </a:t>
            </a:r>
            <a:r>
              <a:rPr sz="1100" b="1" i="0">
                <a:solidFill>
                  <a:srgbClr val="2D2D2D"/>
                </a:solidFill>
                <a:latin typeface="Arial"/>
              </a:rPr>
              <a:t>1,600 FTE-equivalents</a:t>
            </a:r>
            <a:r>
              <a:rPr sz="1100" b="0" i="0">
                <a:solidFill>
                  <a:srgbClr val="2D2D2D"/>
                </a:solidFill>
                <a:latin typeface="Arial"/>
              </a:rPr>
              <a:t> of routine work missing from the plan — larger than the entire Corporate function.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2D2D2D"/>
                </a:solidFill>
                <a:latin typeface="Arial"/>
              </a:rPr>
              <a:t>Sizing the programme off the headline average would under-scope the platform, the reskilling budget and the redeployment pipeline.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336792"/>
            <a:ext cx="11274552" cy="10972"/>
          </a:xfrm>
          <a:prstGeom prst="rect">
            <a:avLst/>
          </a:prstGeom>
          <a:solidFill>
            <a:srgbClr val="C9C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419088"/>
            <a:ext cx="9966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Source: case Exhibits 3 and 4. Weighted routine load = Σ(headcount × routine %) ÷ 28,000 = 54.1%.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19088"/>
            <a:ext cx="12161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"/>
            <a:ext cx="457200" cy="50292"/>
          </a:xfrm>
          <a:prstGeom prst="rect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20624"/>
            <a:ext cx="10515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04A02"/>
                </a:solidFill>
                <a:latin typeface="Arial"/>
              </a:rPr>
              <a:t>BODY  |  B2  ·  DELIVERABLE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338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2D2D2D"/>
                </a:solidFill>
                <a:latin typeface="Georgia"/>
              </a:rPr>
              <a:t>Every activity passes the same three gates — so the classification is defensible, not arbitrary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85032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04A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685032" cy="45720"/>
          </a:xfrm>
          <a:prstGeom prst="rect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04A02"/>
                </a:solidFill>
                <a:latin typeface="Arial"/>
              </a:rPr>
              <a:t>GATE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7393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D2D2D"/>
                </a:solidFill>
                <a:latin typeface="Georgia"/>
              </a:rPr>
              <a:t>Rule stability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21408"/>
            <a:ext cx="3337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Is the activity governed by stable, codifiable rules,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at high volume and low variance?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371600"/>
            <a:ext cx="3685032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B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371600"/>
            <a:ext cx="3685032" cy="45720"/>
          </a:xfrm>
          <a:prstGeom prst="rect">
            <a:avLst/>
          </a:prstGeom>
          <a:solidFill>
            <a:srgbClr val="E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536192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EB8C00"/>
                </a:solidFill>
                <a:latin typeface="Arial"/>
              </a:rPr>
              <a:t>GATE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177393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D2D2D"/>
                </a:solidFill>
                <a:latin typeface="Georgia"/>
              </a:rPr>
              <a:t>Consequence of 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121408"/>
            <a:ext cx="3337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Would a mistake cause irreversible customer,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regulatory or brand harm?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3685032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B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71600"/>
            <a:ext cx="3685032" cy="45720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536192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B600"/>
                </a:solidFill>
                <a:latin typeface="Arial"/>
              </a:rPr>
              <a:t>GATE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77393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D2D2D"/>
                </a:solidFill>
                <a:latin typeface="Georgia"/>
              </a:rPr>
              <a:t>Human premium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121408"/>
            <a:ext cx="3337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Does the customer or the business specifically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value that a human did it?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2944368"/>
          <a:ext cx="11274551" cy="148132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2423160"/>
                <a:gridCol w="3566159"/>
                <a:gridCol w="3182112"/>
              </a:tblGrid>
              <a:tr h="37033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Classification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Gate signature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What the human does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Design principle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Automatable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G1 yes · G2 low · G3 no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Sets the rules, handles exceptions, audits the output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AI executes; human owns the standard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Augmentable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G1 partial, or G2 high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Decides, using AI-prepared options and evidence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AI proposes; human disposes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Fundamentally Human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G3 yes, or G2 critical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Creates, judges, empathises, takes accountability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AI supplies inputs; never the output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457200" y="4626864"/>
            <a:ext cx="11274552" cy="1572768"/>
          </a:xfrm>
          <a:prstGeom prst="rect">
            <a:avLst/>
          </a:prstGeom>
          <a:solidFill>
            <a:srgbClr val="F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773168"/>
            <a:ext cx="10881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D04A02"/>
                </a:solidFill>
                <a:latin typeface="Arial"/>
              </a:rPr>
              <a:t>WHERE WE CHALLENGE EXHIBIT 4 — as the case invites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065776"/>
            <a:ext cx="5212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 i="0">
                <a:solidFill>
                  <a:srgbClr val="2D2D2D"/>
                </a:solidFill>
                <a:latin typeface="Arial"/>
              </a:rPr>
              <a:t>Retail Operations — the human share is a design choice, not a constant. </a:t>
            </a:r>
            <a:r>
              <a:rPr sz="1100" b="0" i="0">
                <a:solidFill>
                  <a:srgbClr val="2D2D2D"/>
                </a:solidFill>
                <a:latin typeface="Arial"/>
              </a:rPr>
              <a:t>Exhibit 4 shows 20% creative/strategic. Once AI removes stock look-ups and admin, we deliberately redesign the role upward to ~35% relationship work.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53328" y="5065776"/>
            <a:ext cx="5394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 i="0">
                <a:solidFill>
                  <a:srgbClr val="2D2D2D"/>
                </a:solidFill>
                <a:latin typeface="Arial"/>
              </a:rPr>
              <a:t>Manufacturing — routine ≠ automatable. </a:t>
            </a:r>
            <a:r>
              <a:rPr sz="1100" b="0" i="0">
                <a:solidFill>
                  <a:srgbClr val="2D2D2D"/>
                </a:solidFill>
                <a:latin typeface="Arial"/>
              </a:rPr>
              <a:t>60% of its work is routine, but quality inspection carries safety and regulatory consequence (Gate 2). Most of it is Augmentable — AI-assisted vision with human sign-off — not Automatable.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336792"/>
            <a:ext cx="11274552" cy="10972"/>
          </a:xfrm>
          <a:prstGeom prst="rect">
            <a:avLst/>
          </a:prstGeom>
          <a:solidFill>
            <a:srgbClr val="C9C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19088"/>
            <a:ext cx="9966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Classification applied to all six functions in case Exhibit 4; activity-level detail in Appendix A1.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19088"/>
            <a:ext cx="12161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"/>
            <a:ext cx="457200" cy="50292"/>
          </a:xfrm>
          <a:prstGeom prst="rect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20624"/>
            <a:ext cx="10515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04A02"/>
                </a:solidFill>
                <a:latin typeface="Arial"/>
              </a:rPr>
              <a:t>BODY  |  B3  ·  DELIVERABLE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338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2D2D2D"/>
                </a:solidFill>
                <a:latin typeface="Georgia"/>
              </a:rPr>
              <a:t>AI touches 82% of the work and replaces 0% of the people</a:t>
            </a:r>
          </a:p>
        </p:txBody>
      </p:sp>
      <p:pic>
        <p:nvPicPr>
          <p:cNvPr id="5" name="Picture 4" descr="task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35024"/>
            <a:ext cx="7452360" cy="281635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335024"/>
            <a:ext cx="3593592" cy="2816352"/>
          </a:xfrm>
          <a:prstGeom prst="rect">
            <a:avLst/>
          </a:prstGeom>
          <a:solidFill>
            <a:srgbClr val="F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39327" y="1481328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D04A02"/>
                </a:solidFill>
                <a:latin typeface="Arial"/>
              </a:rPr>
              <a:t>TARGET STATE, ORGANISATION-WIDE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8339327" y="1856231"/>
            <a:ext cx="100584" cy="310896"/>
          </a:xfrm>
          <a:prstGeom prst="rect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58784" y="1810512"/>
            <a:ext cx="1005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D04A02"/>
                </a:solidFill>
                <a:latin typeface="Georgia"/>
              </a:rPr>
              <a:t>22%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8048" y="186537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D2D2D"/>
                </a:solidFill>
                <a:latin typeface="Arial"/>
              </a:rPr>
              <a:t>Automatable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39327" y="2331720"/>
            <a:ext cx="100584" cy="310896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2286000"/>
            <a:ext cx="1005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FFB600"/>
                </a:solidFill>
                <a:latin typeface="Georgia"/>
              </a:rPr>
              <a:t>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8048" y="234086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D2D2D"/>
                </a:solidFill>
                <a:latin typeface="Arial"/>
              </a:rPr>
              <a:t>Augmentable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39327" y="2807208"/>
            <a:ext cx="100584" cy="310896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58784" y="2761488"/>
            <a:ext cx="1005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2D2D2D"/>
                </a:solidFill>
                <a:latin typeface="Georgia"/>
              </a:rPr>
              <a:t>18%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8048" y="281635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D2D2D"/>
                </a:solidFill>
                <a:latin typeface="Arial"/>
              </a:rPr>
              <a:t>Fundamentally Human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39327" y="3310128"/>
            <a:ext cx="3200400" cy="10972"/>
          </a:xfrm>
          <a:prstGeom prst="rect">
            <a:avLst/>
          </a:prstGeom>
          <a:solidFill>
            <a:srgbClr val="C9C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3438144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Only the 22% is executed by AI alone. The 60% is where humans get faster and better — and it is the largest prize.</a:t>
            </a:r>
          </a:p>
        </p:txBody>
      </p:sp>
      <p:pic>
        <p:nvPicPr>
          <p:cNvPr id="19" name="Picture 18" descr="capa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5968"/>
            <a:ext cx="6035040" cy="1883664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720840" y="4315968"/>
            <a:ext cx="5010912" cy="1883664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22008" y="4462272"/>
            <a:ext cx="4617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B600"/>
                </a:solidFill>
                <a:latin typeface="Arial"/>
              </a:rPr>
              <a:t>THE ZERO-LAYOFF ARITHMETIC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2008" y="4754880"/>
            <a:ext cx="462686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15,140 </a:t>
            </a:r>
            <a:r>
              <a:rPr sz="1100" b="0" i="0">
                <a:solidFill>
                  <a:srgbClr val="DEDAD6"/>
                </a:solidFill>
                <a:latin typeface="Arial"/>
              </a:rPr>
              <a:t>FTE-equivalents of routine work exist today. Automating 40% of it releases </a:t>
            </a:r>
            <a:r>
              <a:rPr sz="1200" b="1" i="0">
                <a:solidFill>
                  <a:srgbClr val="FFB600"/>
                </a:solidFill>
                <a:latin typeface="Arial"/>
              </a:rPr>
              <a:t>6,056 FTE-equivalents</a:t>
            </a:r>
            <a:r>
              <a:rPr sz="1100" b="0" i="0">
                <a:solidFill>
                  <a:srgbClr val="DEDAD6"/>
                </a:solidFill>
                <a:latin typeface="Arial"/>
              </a:rPr>
              <a:t> — 21.6% of the workforce.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DEDAD6"/>
                </a:solidFill>
                <a:latin typeface="Arial"/>
              </a:rPr>
              <a:t>Under Zero-Layoff this is capacity </a:t>
            </a:r>
            <a:r>
              <a:rPr sz="1100" b="1" i="0">
                <a:solidFill>
                  <a:srgbClr val="FFFFFF"/>
                </a:solidFill>
                <a:latin typeface="Arial"/>
              </a:rPr>
              <a:t>converted, not cost cut</a:t>
            </a:r>
            <a:r>
              <a:rPr sz="1100" b="0" i="0">
                <a:solidFill>
                  <a:srgbClr val="DEDAD6"/>
                </a:solidFill>
                <a:latin typeface="Arial"/>
              </a:rPr>
              <a:t>. The ₹200 Cr does not buy a smaller payroll — it buys the same payroll doing higher-value work.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336792"/>
            <a:ext cx="11274552" cy="10972"/>
          </a:xfrm>
          <a:prstGeom prst="rect">
            <a:avLst/>
          </a:prstGeom>
          <a:solidFill>
            <a:srgbClr val="C9C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19088"/>
            <a:ext cx="9966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Automatable = 40% of routine work per the case constraint. Augmentable = residual routine + all judgment work. Fundamentally Human = all creative/strategic work.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19088"/>
            <a:ext cx="12161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"/>
            <a:ext cx="457200" cy="50292"/>
          </a:xfrm>
          <a:prstGeom prst="rect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20624"/>
            <a:ext cx="10515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04A02"/>
                </a:solidFill>
                <a:latin typeface="Arial"/>
              </a:rPr>
              <a:t>BODY  |  B4  ·  DELIVERABLE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338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2D2D2D"/>
                </a:solidFill>
                <a:latin typeface="Georgia"/>
              </a:rPr>
              <a:t>The highest-value function is the least ready — so value alone cannot set the sequence</a:t>
            </a:r>
          </a:p>
        </p:txBody>
      </p:sp>
      <p:pic>
        <p:nvPicPr>
          <p:cNvPr id="5" name="Picture 4" descr="readiness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335024"/>
            <a:ext cx="6035040" cy="40233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0" y="1335024"/>
          <a:ext cx="5148071" cy="2286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63055"/>
                <a:gridCol w="821961"/>
                <a:gridCol w="951744"/>
                <a:gridCol w="1211311"/>
              </a:tblGrid>
              <a:tr h="32657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Function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Readiness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Case priority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Marketing &amp; CX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4.05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3.68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Very High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Retail Operations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3.95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1.35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Very High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Merchandising &amp; Planning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3.55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2.73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Manufacturing &amp; Quality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3.10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0.98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Design &amp; Creative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3.05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3.83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2657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Corporate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2.80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3.63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583680" y="3785615"/>
            <a:ext cx="5148072" cy="1042415"/>
          </a:xfrm>
          <a:prstGeom prst="rect">
            <a:avLst/>
          </a:prstGeom>
          <a:solidFill>
            <a:srgbClr val="F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84848" y="3931920"/>
            <a:ext cx="475488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1" i="0">
                <a:solidFill>
                  <a:srgbClr val="2D2D2D"/>
                </a:solidFill>
                <a:latin typeface="Arial"/>
              </a:rPr>
              <a:t>Our model independently reproduces leadership's own ranking</a:t>
            </a:r>
            <a:r>
              <a:rPr sz="1100" b="0" i="0">
                <a:solidFill>
                  <a:srgbClr val="2D2D2D"/>
                </a:solidFill>
                <a:latin typeface="Arial"/>
              </a:rPr>
              <a:t> — the two “Very High” functions score #1 and #2, and “High” scores #3. The model does not overturn management judgment; it explains and sizes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4974336"/>
            <a:ext cx="5148072" cy="1225296"/>
          </a:xfrm>
          <a:prstGeom prst="rect">
            <a:avLst/>
          </a:prstGeom>
          <a:solidFill>
            <a:srgbClr val="FFFFFF"/>
          </a:solidFill>
          <a:ln w="19050">
            <a:solidFill>
              <a:srgbClr val="E03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5120640"/>
            <a:ext cx="4754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E0301E"/>
                </a:solidFill>
                <a:latin typeface="Arial"/>
              </a:rPr>
              <a:t>THE READINESS PARADOX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5413248"/>
            <a:ext cx="477316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1" i="0">
                <a:solidFill>
                  <a:srgbClr val="2D2D2D"/>
                </a:solidFill>
                <a:latin typeface="Arial"/>
              </a:rPr>
              <a:t>Retail Operations: </a:t>
            </a:r>
            <a:r>
              <a:rPr sz="1100" b="0" i="0">
                <a:solidFill>
                  <a:srgbClr val="2D2D2D"/>
                </a:solidFill>
                <a:latin typeface="Arial"/>
              </a:rPr>
              <a:t>10,000 people, 200 stores, #2 on value — and 1.35/5 on readiness, with fear at 4.3/5 and digital skill at 2.2/5. Deploying at scale here first would fail.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336792"/>
            <a:ext cx="11274552" cy="10972"/>
          </a:xfrm>
          <a:prstGeom prst="rect">
            <a:avLst/>
          </a:prstGeom>
          <a:solidFill>
            <a:srgbClr val="C9C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9966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Priority score = 0.25×business impact + 0.20×customer value + 0.15×workforce scale + 0.20×automation potential + 0.20×feasibility. Readiness = mean(awareness, willingness, digital skill) − 0.5×(fear − 2.0). Scoring detail in Appendix A2.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19088"/>
            <a:ext cx="12161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"/>
            <a:ext cx="457200" cy="50292"/>
          </a:xfrm>
          <a:prstGeom prst="rect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20624"/>
            <a:ext cx="10515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04A02"/>
                </a:solidFill>
                <a:latin typeface="Arial"/>
              </a:rPr>
              <a:t>BODY  |  B5  ·  DELIVERABLE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338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2D2D2D"/>
                </a:solidFill>
                <a:latin typeface="Georgia"/>
              </a:rPr>
              <a:t>Phase 1: two functions scale, one function earns trust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35024"/>
            <a:ext cx="1127455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35024"/>
            <a:ext cx="54864" cy="1298448"/>
          </a:xfrm>
          <a:prstGeom prst="rect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53895"/>
            <a:ext cx="5760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D2D2D"/>
                </a:solidFill>
                <a:latin typeface="Georgia"/>
              </a:rPr>
              <a:t>MARKETING &amp; CUSTOMER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728216"/>
            <a:ext cx="5760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04A02"/>
                </a:solidFill>
                <a:latin typeface="Arial"/>
              </a:rPr>
              <a:t>2,500 people  ·  readiness 3.68  ·  SCALE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84248"/>
            <a:ext cx="5806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AI service agent deflects delivery, returns and size/fit queries; unified customer profile across five brands; generative campaign variants.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481328"/>
            <a:ext cx="10972" cy="1005840"/>
          </a:xfrm>
          <a:prstGeom prst="rect">
            <a:avLst/>
          </a:prstGeom>
          <a:solidFill>
            <a:srgbClr val="C9C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4032" y="1481328"/>
            <a:ext cx="4480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7D7D7D"/>
                </a:solidFill>
                <a:latin typeface="Arial"/>
              </a:rPr>
              <a:t>TARGET MOVEMENT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2" y="1755648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 i="0">
                <a:solidFill>
                  <a:srgbClr val="2D2D2D"/>
                </a:solidFill>
                <a:latin typeface="Georgia"/>
              </a:rPr>
              <a:t>48 hrs → under 6 hrs resolution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 i="0">
                <a:solidFill>
                  <a:srgbClr val="2D2D2D"/>
                </a:solidFill>
                <a:latin typeface="Georgia"/>
              </a:rPr>
              <a:t>58% → 75% first-time fit 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34056"/>
            <a:ext cx="1127455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34056"/>
            <a:ext cx="54864" cy="1298448"/>
          </a:xfrm>
          <a:prstGeom prst="rect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852928"/>
            <a:ext cx="5760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D2D2D"/>
                </a:solidFill>
                <a:latin typeface="Georgia"/>
              </a:rPr>
              <a:t>MERCHANDISING &amp; PLANNING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127248"/>
            <a:ext cx="5760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04A02"/>
                </a:solidFill>
                <a:latin typeface="Arial"/>
              </a:rPr>
              <a:t>1,200 people  ·  readiness 2.73  ·  SCALE 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383280"/>
            <a:ext cx="5806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Demand sensing on external signals (social, weather, events); AI allocation and size-curve optimisation; exception-based planning replaces spreadsheets.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2880360"/>
            <a:ext cx="10972" cy="1005840"/>
          </a:xfrm>
          <a:prstGeom prst="rect">
            <a:avLst/>
          </a:prstGeom>
          <a:solidFill>
            <a:srgbClr val="C9C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14032" y="2880360"/>
            <a:ext cx="4480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7D7D7D"/>
                </a:solidFill>
                <a:latin typeface="Arial"/>
              </a:rPr>
              <a:t>TARGET MOVEMENT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315468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 i="0">
                <a:solidFill>
                  <a:srgbClr val="2D2D2D"/>
                </a:solidFill>
                <a:latin typeface="Georgia"/>
              </a:rPr>
              <a:t>62% → 78% forecast accuracy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 i="0">
                <a:solidFill>
                  <a:srgbClr val="2D2D2D"/>
                </a:solidFill>
                <a:latin typeface="Georgia"/>
              </a:rPr>
              <a:t>₹380 Cr → ₹247 Cr markdowns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33088"/>
            <a:ext cx="1127455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133088"/>
            <a:ext cx="54864" cy="1298448"/>
          </a:xfrm>
          <a:prstGeom prst="rect">
            <a:avLst/>
          </a:prstGeom>
          <a:solidFill>
            <a:srgbClr val="E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251960"/>
            <a:ext cx="5760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D2D2D"/>
                </a:solidFill>
                <a:latin typeface="Georgia"/>
              </a:rPr>
              <a:t>RETAIL 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526280"/>
            <a:ext cx="5760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EB8C00"/>
                </a:solidFill>
                <a:latin typeface="Arial"/>
              </a:rPr>
              <a:t>10,000 people  ·  readiness 1.35  ·  PILOT FIRST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782312"/>
            <a:ext cx="5806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20-store pilot: voice stock look-up, AI clienteling prompts, auto-rostering. Scale to 200 stores only after adoption and sentiment gates are met.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4279392"/>
            <a:ext cx="10972" cy="1005840"/>
          </a:xfrm>
          <a:prstGeom prst="rect">
            <a:avLst/>
          </a:prstGeom>
          <a:solidFill>
            <a:srgbClr val="C9C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14032" y="4279392"/>
            <a:ext cx="4480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7D7D7D"/>
                </a:solidFill>
                <a:latin typeface="Arial"/>
              </a:rPr>
              <a:t>TARGET MOVEMENT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2" y="4553712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 i="0">
                <a:solidFill>
                  <a:srgbClr val="2D2D2D"/>
                </a:solidFill>
                <a:latin typeface="Georgia"/>
              </a:rPr>
              <a:t>42% → 32% attrition in pilot stores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 i="0">
                <a:solidFill>
                  <a:srgbClr val="2D2D2D"/>
                </a:solidFill>
                <a:latin typeface="Georgia"/>
              </a:rPr>
              <a:t>Associate selling time +30%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532120"/>
            <a:ext cx="11274552" cy="667512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566928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1" i="0">
                <a:solidFill>
                  <a:srgbClr val="FFB600"/>
                </a:solidFill>
                <a:latin typeface="Arial"/>
              </a:rPr>
              <a:t>Deferred deliberately:  </a:t>
            </a:r>
            <a:r>
              <a:rPr sz="1150" b="0" i="0">
                <a:solidFill>
                  <a:srgbClr val="FFFFFF"/>
                </a:solidFill>
                <a:latin typeface="Arial"/>
              </a:rPr>
              <a:t>Manufacturing &amp; Quality (11,000 people) carries the largest routine load but the lowest readiness — it is Phase 3, paired with EPR traceability where AI creates new compliance roles rather than displacing existing ones.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336792"/>
            <a:ext cx="11274552" cy="10972"/>
          </a:xfrm>
          <a:prstGeom prst="rect">
            <a:avLst/>
          </a:prstGeom>
          <a:solidFill>
            <a:srgbClr val="C9C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419088"/>
            <a:ext cx="9966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Pilot gate: adoption ≥70% of associates using the tool weekly and no decline in employee sentiment before scaling beyond 20 stores.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19088"/>
            <a:ext cx="12161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"/>
            <a:ext cx="457200" cy="50292"/>
          </a:xfrm>
          <a:prstGeom prst="rect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20624"/>
            <a:ext cx="10515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04A02"/>
                </a:solidFill>
                <a:latin typeface="Arial"/>
              </a:rPr>
              <a:t>BODY  |  B6  ·  DELIVERABLE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338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2D2D2D"/>
                </a:solidFill>
                <a:latin typeface="Georgia"/>
              </a:rPr>
              <a:t>The workflow, not the org chart, is the unit of redesign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16736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7D7D7D"/>
                </a:solidFill>
                <a:latin typeface="Arial"/>
              </a:rPr>
              <a:t>TODAY — SEQUENTIAL HANDOFFS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91056"/>
            <a:ext cx="1298448" cy="786384"/>
          </a:xfrm>
          <a:prstGeom prst="rect">
            <a:avLst/>
          </a:prstGeom>
          <a:solidFill>
            <a:srgbClr val="F4F1EF"/>
          </a:solidFill>
          <a:ln w="12700">
            <a:solidFill>
              <a:srgbClr val="C9C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700784"/>
            <a:ext cx="113385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Designer researches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trends manually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1856232" y="1591056"/>
            <a:ext cx="1298448" cy="786384"/>
          </a:xfrm>
          <a:prstGeom prst="rect">
            <a:avLst/>
          </a:prstGeom>
          <a:solidFill>
            <a:srgbClr val="F4F1EF"/>
          </a:solidFill>
          <a:ln w="12700">
            <a:solidFill>
              <a:srgbClr val="C9C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38528" y="1700784"/>
            <a:ext cx="113385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Merchandising reviews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historical sales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55264" y="1591056"/>
            <a:ext cx="1298448" cy="786384"/>
          </a:xfrm>
          <a:prstGeom prst="rect">
            <a:avLst/>
          </a:prstGeom>
          <a:solidFill>
            <a:srgbClr val="F4F1EF"/>
          </a:solidFill>
          <a:ln w="12700">
            <a:solidFill>
              <a:srgbClr val="C9C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700784"/>
            <a:ext cx="113385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Multiple approval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cycles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54296" y="1591056"/>
            <a:ext cx="1298448" cy="786384"/>
          </a:xfrm>
          <a:prstGeom prst="rect">
            <a:avLst/>
          </a:prstGeom>
          <a:solidFill>
            <a:srgbClr val="F4F1EF"/>
          </a:solidFill>
          <a:ln w="12700">
            <a:solidFill>
              <a:srgbClr val="C9C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1700784"/>
            <a:ext cx="113385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Retail executes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with no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5059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0301E"/>
                </a:solidFill>
                <a:latin typeface="Arial"/>
              </a:rPr>
              <a:t>14 weeks  ·  62% forecast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316736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D04A02"/>
                </a:solidFill>
                <a:latin typeface="Arial"/>
              </a:rPr>
              <a:t>FUTURE — ONE CONCURRENT WORKFLOW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591056"/>
            <a:ext cx="5422392" cy="786384"/>
          </a:xfrm>
          <a:prstGeom prst="rect">
            <a:avLst/>
          </a:prstGeom>
          <a:solidFill>
            <a:srgbClr val="FFFFFF"/>
          </a:solidFill>
          <a:ln w="19050">
            <a:solidFill>
              <a:srgbClr val="D04A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0078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D2D2D"/>
                </a:solidFill>
                <a:latin typeface="Georgia"/>
              </a:rPr>
              <a:t>Shared signal &amp; decision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9933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Design · Merchandising · Retail work on the same live 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5059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D04A02"/>
                </a:solidFill>
                <a:latin typeface="Arial"/>
              </a:rPr>
              <a:t>8 weeks  ·  78% forecast accuracy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2889504"/>
          <a:ext cx="11274551" cy="2084831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40"/>
                <a:gridCol w="6309359"/>
                <a:gridCol w="3502152"/>
              </a:tblGrid>
              <a:tr h="41696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What changes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Who owns it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</a:tr>
              <a:tr h="41696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Structure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Cross-functional Product &amp; Customer squads replace function-only teams for the 3 Phase-1 workflows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Chief AI &amp; Transformation Officer (new, reports to CEO)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41696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Roles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Six new role families created as redeployment destinations; no role eliminated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Function heads with CHRO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</a:tr>
              <a:tr h="41696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Workflows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Approval cycles replaced by exception-based review — humans intervene where AI flags uncertainty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Squad leads, standards set by the AI CoE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41696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Decision rights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Every AI-influenced decision assigned to one of four tiers with a named accountable human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AI Governance Council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457200" y="5120640"/>
            <a:ext cx="11274552" cy="1078992"/>
          </a:xfrm>
          <a:prstGeom prst="rect">
            <a:avLst/>
          </a:prstGeom>
          <a:solidFill>
            <a:srgbClr val="F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266944"/>
            <a:ext cx="10881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D04A02"/>
                </a:solidFill>
                <a:latin typeface="Arial"/>
              </a:rPr>
              <a:t>THE ONE STRUCTURAL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541264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1" i="0">
                <a:solidFill>
                  <a:srgbClr val="2D2D2D"/>
                </a:solidFill>
                <a:latin typeface="Arial"/>
              </a:rPr>
              <a:t>No AI system is deployed into a workflow that still requires a manual handoff to complete. </a:t>
            </a:r>
            <a:r>
              <a:rPr sz="1150" b="0" i="0">
                <a:solidFill>
                  <a:srgbClr val="2D2D2D"/>
                </a:solidFill>
                <a:latin typeface="Arial"/>
              </a:rPr>
              <a:t>Automating either side of a broken handoff makes the handoff the bottleneck and delivers none of the cycle-time gain — this is precisely how StyleVerse's current fragmentation was created.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336792"/>
            <a:ext cx="11274552" cy="10972"/>
          </a:xfrm>
          <a:prstGeom prst="rect">
            <a:avLst/>
          </a:prstGeom>
          <a:solidFill>
            <a:srgbClr val="C9C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19088"/>
            <a:ext cx="9966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Cycle-time target of 8 weeks assumes concurrent design–merchandising review replaces three sequential approval cycles; benchmark competitors operate at under 4 weeks.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19088"/>
            <a:ext cx="12161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"/>
            <a:ext cx="457200" cy="50292"/>
          </a:xfrm>
          <a:prstGeom prst="rect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20624"/>
            <a:ext cx="10515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04A02"/>
                </a:solidFill>
                <a:latin typeface="Arial"/>
              </a:rPr>
              <a:t>BODY  |  B7  ·  DELIVERABLE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338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2D2D2D"/>
                </a:solidFill>
                <a:latin typeface="Georgia"/>
              </a:rPr>
              <a:t>Recommendation: a federated hub-and-spoke CoE — centralised standards, embedded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35024"/>
            <a:ext cx="3685032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04A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35024"/>
            <a:ext cx="3685032" cy="45720"/>
          </a:xfrm>
          <a:prstGeom prst="rect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99616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04A02"/>
                </a:solidFill>
                <a:latin typeface="Arial"/>
              </a:rPr>
              <a:t>THE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3736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D2D2D"/>
                </a:solidFill>
                <a:latin typeface="Georgia"/>
              </a:rPr>
              <a:t>AI Centre of Excellence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48256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7D7D7D"/>
                </a:solidFill>
                <a:latin typeface="Arial"/>
              </a:rPr>
              <a:t>~60 FTE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40864"/>
            <a:ext cx="3337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Owns the data platform, MLOps, reusable components, model risk, standards and talent development. Reports to the Chief AI &amp; Transformation Officer.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335024"/>
            <a:ext cx="3685032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B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335024"/>
            <a:ext cx="3685032" cy="45720"/>
          </a:xfrm>
          <a:prstGeom prst="rect">
            <a:avLst/>
          </a:prstGeom>
          <a:solidFill>
            <a:srgbClr val="E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499616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EB8C00"/>
                </a:solidFill>
                <a:latin typeface="Arial"/>
              </a:rPr>
              <a:t>THE SPOKES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173736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D2D2D"/>
                </a:solidFill>
                <a:latin typeface="Georgia"/>
              </a:rPr>
              <a:t>Embedded AI squads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048256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7D7D7D"/>
                </a:solidFill>
                <a:latin typeface="Arial"/>
              </a:rPr>
              <a:t>8–10 FTE each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2340864"/>
            <a:ext cx="3337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One squad per Phase-1 function, sitting inside the business. Owns use cases end to end. Dual reporting: outcomes to the function head, standards to the hub.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335024"/>
            <a:ext cx="3685032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B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335024"/>
            <a:ext cx="3685032" cy="45720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499616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B600"/>
                </a:solidFill>
                <a:latin typeface="Arial"/>
              </a:rPr>
              <a:t>THE BRIDGE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173736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D2D2D"/>
                </a:solidFill>
                <a:latin typeface="Georgia"/>
              </a:rPr>
              <a:t>AI Translators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048256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7D7D7D"/>
                </a:solidFill>
                <a:latin typeface="Arial"/>
              </a:rPr>
              <a:t>~30, rotating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340864"/>
            <a:ext cx="3337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Business people trained to specify and test use cases — drawn from existing employees, making this the first and most visible redeployment destination.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57200" y="3529584"/>
          <a:ext cx="11274552" cy="148132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06040"/>
                <a:gridCol w="3657600"/>
                <a:gridCol w="5010912"/>
              </a:tblGrid>
              <a:tr h="37033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Strength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Why it fails at StyleVerse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Fully centralised CoE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Consistent standards, no duplicated spend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Too far from five brands with genuinely different value propositions; becomes a queue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Fully embedded in functions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Fast, close to the business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Recreates the exact fragmentation the case describes — duplicated tools, no shared model risk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Federated hub-and-spoke  ✓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Shared platform and governance, local ownership of outcomes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Requires disciplined dual reporting — mitigated by a single standards charter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457200" y="5193792"/>
            <a:ext cx="11274552" cy="100584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358384"/>
            <a:ext cx="1078992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FFB600"/>
                </a:solidFill>
                <a:latin typeface="Arial"/>
              </a:rPr>
              <a:t>The deciding argument:  </a:t>
            </a:r>
            <a:r>
              <a:rPr sz="1150" b="0" i="0">
                <a:solidFill>
                  <a:srgbClr val="FFFFFF"/>
                </a:solidFill>
                <a:latin typeface="Arial"/>
              </a:rPr>
              <a:t>StyleVerse's current problem was caused by functions independently introducing “their own systems, processes and ways of working.” A fully embedded AI model would repeat that mistake with higher stakes — five brands each training their own models on their own data, with no shared governance and no shared learning.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336792"/>
            <a:ext cx="11274552" cy="10972"/>
          </a:xfrm>
          <a:prstGeom prst="rect">
            <a:avLst/>
          </a:prstGeom>
          <a:solidFill>
            <a:srgbClr val="C9C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419088"/>
            <a:ext cx="9966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CoE sizing assumption: ~60 hub FTE and 3 squads of 8–10 in Phase 1, funded from the ₹55 Cr use-case build and ₹60 Cr platform allocations. Roles filled substantially by internal redeployment.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19088"/>
            <a:ext cx="12161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"/>
            <a:ext cx="457200" cy="50292"/>
          </a:xfrm>
          <a:prstGeom prst="rect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20624"/>
            <a:ext cx="10515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04A02"/>
                </a:solidFill>
                <a:latin typeface="Arial"/>
              </a:rPr>
              <a:t>BODY  |  B8  ·  DELIVERABLE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338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2D2D2D"/>
                </a:solidFill>
                <a:latin typeface="Georgia"/>
              </a:rPr>
              <a:t>6,056 FTE-equivalents of capacity need a destination — we name six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35024"/>
          <a:ext cx="11274552" cy="2084831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657600"/>
                <a:gridCol w="2468880"/>
                <a:gridCol w="4114800"/>
                <a:gridCol w="1033272"/>
              </a:tblGrid>
              <a:tr h="29783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From (routine work automated)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To (new role family)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What the role does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Scale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</a:tr>
              <a:tr h="29783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Retail associates — stock look-ups, billing, admin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Style Advisor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Clienteling, styling, repeat-purchase building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~2,200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29783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Planners — spreadsheet consolidation, sales pulls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Demand Scientist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Scenario planning, exceptions, model challenge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~240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</a:tr>
              <a:tr h="29783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Service reps — delivery, returns, size/fit queries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Experience Specialist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Complex, high-value, multi-brand resolution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~400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29783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Manufacturing QC — repetitive inspection, reporting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Traceability &amp; Compliance Analyst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EPR and circular-textiles traceability; supplier audit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~2,640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</a:tr>
              <a:tr h="29783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Corporate — report preparation, data gathering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AI Translator / Process Owner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Specifies, tests and owns AI use cases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~396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29783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Designers — trend scanning, competitor collation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Concept Lead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More concepts per designer; EcoWeave expansion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~180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584448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D04A02"/>
                </a:solidFill>
                <a:latin typeface="Arial"/>
              </a:rPr>
              <a:t>FOUR LEARNING JOURNEYS  ·  12 → 40 HOURS PER EMPLOYEE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840480"/>
          <a:ext cx="5806439" cy="1554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00200"/>
                <a:gridCol w="3017520"/>
                <a:gridCol w="1188719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Journey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Who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Hours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AI Aware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All 28,000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AI Assisted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~18,000 operational roles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AI Enabled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~8,000 judgment roles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AI Builders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~800 squads &amp; translators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92240" y="3840480"/>
            <a:ext cx="5239512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03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93408" y="3968496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E0301E"/>
                </a:solidFill>
                <a:latin typeface="Arial"/>
              </a:rPr>
              <a:t>KNOWLEDGE CAPTURE IS A RACE AGAINST ATTRITION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3408" y="4242816"/>
            <a:ext cx="48646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00" b="0" i="0">
                <a:solidFill>
                  <a:srgbClr val="2D2D2D"/>
                </a:solidFill>
                <a:latin typeface="Arial"/>
              </a:rPr>
              <a:t>Retail tenure is 1.7 years at 42% attrition — institutional knowledge is already leaking faster than it is being recorded.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00" b="0" i="0">
                <a:solidFill>
                  <a:srgbClr val="2D2D2D"/>
                </a:solidFill>
                <a:latin typeface="Arial"/>
              </a:rPr>
              <a:t>We capture tacit know-how from the high-tenure functions (Corporate 5.1 yrs, Design 4.6 yrs) into structured knowledge bases </a:t>
            </a:r>
            <a:r>
              <a:rPr sz="1100" b="1" i="0">
                <a:solidFill>
                  <a:srgbClr val="2D2D2D"/>
                </a:solidFill>
                <a:latin typeface="Arial"/>
              </a:rPr>
              <a:t>in Phase 0</a:t>
            </a:r>
            <a:r>
              <a:rPr sz="1100" b="0" i="0">
                <a:solidFill>
                  <a:srgbClr val="2D2D2D"/>
                </a:solidFill>
                <a:latin typeface="Arial"/>
              </a:rPr>
              <a:t> — before automation changes the roles that hold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486400"/>
            <a:ext cx="11274552" cy="713232"/>
          </a:xfrm>
          <a:prstGeom prst="rect">
            <a:avLst/>
          </a:prstGeom>
          <a:solidFill>
            <a:srgbClr val="F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632704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1" i="0">
                <a:solidFill>
                  <a:srgbClr val="D04A02"/>
                </a:solidFill>
                <a:latin typeface="Arial"/>
              </a:rPr>
              <a:t>The Zero-Layoff mechanism:  </a:t>
            </a:r>
            <a:r>
              <a:rPr sz="1150" b="0" i="0">
                <a:solidFill>
                  <a:srgbClr val="2D2D2D"/>
                </a:solidFill>
                <a:latin typeface="Arial"/>
              </a:rPr>
              <a:t>a written redeployment guarantee, an internal talent marketplace matching released capacity to open roles on skills rather than titles, and a 90-day paid transition window with the learning journey completed before the role changes.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36792"/>
            <a:ext cx="11274552" cy="10972"/>
          </a:xfrm>
          <a:prstGeom prst="rect">
            <a:avLst/>
          </a:prstGeom>
          <a:solidFill>
            <a:srgbClr val="C9C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9966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Scale column = FTE-equivalents released per function (Appendix A1). Learning-hour targets benchmarked against the case's stated 12 hours per employee per year.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19088"/>
            <a:ext cx="12161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"/>
            <a:ext cx="457200" cy="50292"/>
          </a:xfrm>
          <a:prstGeom prst="rect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20624"/>
            <a:ext cx="10515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04A02"/>
                </a:solidFill>
                <a:latin typeface="Arial"/>
              </a:rPr>
              <a:t>BODY  |  B9  ·  DELIVERABLE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338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2D2D2D"/>
                </a:solidFill>
                <a:latin typeface="Georgia"/>
              </a:rPr>
              <a:t>One AI policy across five brands would damage the most valuable one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35024"/>
          <a:ext cx="11274552" cy="17922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80"/>
                <a:gridCol w="640080"/>
                <a:gridCol w="2743200"/>
                <a:gridCol w="4206240"/>
                <a:gridCol w="2130552"/>
              </a:tblGrid>
              <a:tr h="2987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Brand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NPS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Brand promise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AI posture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Disclosure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Maison Luxe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Craftsmanship and human exclusivity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Back-office only — no generative design, no AI-written client contact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Human-crafted assurance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EcoWeave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Environmental responsibility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AI for traceability, EPR compliance and transparency reporting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Publish AI use openly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UrbanEdge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Seamless omnichannel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AI personalisation and service across channels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Disclosed at interaction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SpeedStyle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Speed and trend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AI-forward — trend sensing, generative concepts, service automation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Disclosed at interaction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ThreadBasics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Affordability and efficiency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Maximum service and supply-chain automation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Disclosed at interaction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291840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D04A02"/>
                </a:solidFill>
                <a:latin typeface="Arial"/>
              </a:rPr>
              <a:t>AI DECISION RIGHTS — FOUR TIERS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566160"/>
          <a:ext cx="5806439" cy="17739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95443"/>
                <a:gridCol w="2817831"/>
                <a:gridCol w="1793165"/>
              </a:tblGrid>
              <a:tr h="35478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</a:tr>
              <a:tr h="35478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1 Auto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Stock look-up, delivery status reply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Logged, sampled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5478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2 Assisted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Allocation, campaign targeting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Human approves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</a:tr>
              <a:tr h="35478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3 Sign-off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Pricing, markdown, QC release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Named accountable owner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547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4 Prohibited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Hiring, exit, credit decisions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No AI involvement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92240" y="3566160"/>
            <a:ext cx="5239512" cy="1773936"/>
          </a:xfrm>
          <a:prstGeom prst="rect">
            <a:avLst/>
          </a:prstGeom>
          <a:solidFill>
            <a:srgbClr val="F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93408" y="3712463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D04A02"/>
                </a:solidFill>
                <a:latin typeface="Arial"/>
              </a:rPr>
              <a:t>TRUST, DATA, IP AND REGULATION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3408" y="4005072"/>
            <a:ext cx="486460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2D2D2D"/>
                </a:solidFill>
                <a:latin typeface="Arial"/>
              </a:rPr>
              <a:t>Data privacy: </a:t>
            </a:r>
            <a:r>
              <a:rPr sz="1050" b="0" i="0">
                <a:solidFill>
                  <a:srgbClr val="2D2D2D"/>
                </a:solidFill>
                <a:latin typeface="Arial"/>
              </a:rPr>
              <a:t>DPDP Act 2023 for India, GDPR for European operations — consent, purpose limitation and residency enforced in the platform, not per project.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2D2D2D"/>
                </a:solidFill>
                <a:latin typeface="Arial"/>
              </a:rPr>
              <a:t>IP: </a:t>
            </a:r>
            <a:r>
              <a:rPr sz="1050" b="0" i="0">
                <a:solidFill>
                  <a:srgbClr val="2D2D2D"/>
                </a:solidFill>
                <a:latin typeface="Arial"/>
              </a:rPr>
              <a:t>training-data provenance recorded for every model; no competitor imagery scraped; designer attribution retained on AI-assisted concepts.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2D2D2D"/>
                </a:solidFill>
                <a:latin typeface="Arial"/>
              </a:rPr>
              <a:t>Bias: </a:t>
            </a:r>
            <a:r>
              <a:rPr sz="1050" b="0" i="0">
                <a:solidFill>
                  <a:srgbClr val="2D2D2D"/>
                </a:solidFill>
                <a:latin typeface="Arial"/>
              </a:rPr>
              <a:t>sizing and recommendation models tested across body types and demographics before release, and quarterly thereafter.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486400"/>
            <a:ext cx="11274552" cy="713232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632704"/>
            <a:ext cx="1088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1" i="0">
                <a:solidFill>
                  <a:srgbClr val="FFB600"/>
                </a:solidFill>
                <a:latin typeface="Arial"/>
              </a:rPr>
              <a:t>Why brand-differentiated governance is the right call:  </a:t>
            </a:r>
            <a:r>
              <a:rPr sz="1150" b="0" i="0">
                <a:solidFill>
                  <a:srgbClr val="FFFFFF"/>
                </a:solidFill>
                <a:latin typeface="Arial"/>
              </a:rPr>
              <a:t>Maison Luxe earns the highest NPS (62) and the lowest return rate (8%) precisely because customers believe a person made it. Applying SpeedStyle's AI posture there would automate away the thing being sold.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36792"/>
            <a:ext cx="11274552" cy="10972"/>
          </a:xfrm>
          <a:prstGeom prst="rect">
            <a:avLst/>
          </a:prstGeom>
          <a:solidFill>
            <a:srgbClr val="C9C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9966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References: European Parliament. (2024). Regulation (EU) 2024/1689 (AI Act). Ministry of Electronics and IT. (2023). Digital Personal Data Protection Act, 2023. NIST. (2023). AI Risk Management Framework 1.0.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19088"/>
            <a:ext cx="12161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"/>
            <a:ext cx="457200" cy="50292"/>
          </a:xfrm>
          <a:prstGeom prst="rect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20624"/>
            <a:ext cx="10515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04A02"/>
                </a:solidFill>
                <a:latin typeface="Arial"/>
              </a:rPr>
              <a:t>BODY  |  B10  ·  DELIVERABLE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338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2D2D2D"/>
                </a:solidFill>
                <a:latin typeface="Georgia"/>
              </a:rPr>
              <a:t>Fear is measurable, so it is manageable — we treat it as the primary delivery risk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35024"/>
          <a:ext cx="5806438" cy="18470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75217"/>
                <a:gridCol w="628722"/>
                <a:gridCol w="3402499"/>
              </a:tblGrid>
              <a:tr h="36941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Function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Fear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Intervention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</a:tr>
              <a:tr h="36941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Manufacturing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4.5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Phase 3 entry; EPR roles announced before tooling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6941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Retail Operations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4.3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20-store pilot; associates co-design the tool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</a:tr>
              <a:tr h="36941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Merchandising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3.0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Planners become model challengers, not subjects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6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2D2D2D"/>
                          </a:solidFill>
                          <a:latin typeface="Arial"/>
                        </a:rPr>
                        <a:t>Marketing / Design / Corp.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≤2.5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Arial"/>
                        </a:rPr>
                        <a:t>Champion source — seed advocates into the above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92240" y="1335024"/>
            <a:ext cx="5239512" cy="1847088"/>
          </a:xfrm>
          <a:prstGeom prst="rect">
            <a:avLst/>
          </a:prstGeom>
          <a:solidFill>
            <a:srgbClr val="FFFFFF"/>
          </a:solidFill>
          <a:ln w="19050">
            <a:solidFill>
              <a:srgbClr val="D04A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93408" y="1463040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D04A02"/>
                </a:solidFill>
                <a:latin typeface="Arial"/>
              </a:rPr>
              <a:t>FOUR MOVES, IN THIS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93408" y="1755648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D04A02"/>
                </a:solidFill>
                <a:latin typeface="Arial"/>
              </a:rPr>
              <a:t>BELIEVE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75564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Zero-Layoff Charter, board-backed, published month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3408" y="2093976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D04A02"/>
                </a:solidFill>
                <a:latin typeface="Arial"/>
              </a:rPr>
              <a:t>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093976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Learning journeys start before tools arrive, not 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2432304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D04A02"/>
                </a:solidFill>
                <a:latin typeface="Arial"/>
              </a:rPr>
              <a:t>BOND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43230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500 AI Champions (~2%) from high-willingness functions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2770632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D04A02"/>
                </a:solidFill>
                <a:latin typeface="Arial"/>
              </a:rPr>
              <a:t>BEHAVE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770632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Adoption written into KPIs; redeployment celebrated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46704"/>
            <a:ext cx="112745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D04A02"/>
                </a:solidFill>
                <a:latin typeface="Arial"/>
              </a:rPr>
              <a:t>THE ₹200 CRORE, ALLOCATED</a:t>
            </a:r>
          </a:p>
        </p:txBody>
      </p:sp>
      <p:pic>
        <p:nvPicPr>
          <p:cNvPr id="17" name="Picture 16" descr="inves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02736"/>
            <a:ext cx="6858000" cy="122529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543800" y="3602736"/>
            <a:ext cx="4187952" cy="1225296"/>
          </a:xfrm>
          <a:prstGeom prst="rect">
            <a:avLst/>
          </a:prstGeom>
          <a:solidFill>
            <a:srgbClr val="F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44968" y="3730752"/>
            <a:ext cx="37947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100" b="1" i="0">
                <a:solidFill>
                  <a:srgbClr val="2D2D2D"/>
                </a:solidFill>
                <a:latin typeface="Arial"/>
              </a:rPr>
              <a:t>22% on people is deliberate. </a:t>
            </a:r>
            <a:r>
              <a:rPr sz="1100" b="0" i="0">
                <a:solidFill>
                  <a:srgbClr val="2D2D2D"/>
                </a:solidFill>
                <a:latin typeface="Arial"/>
              </a:rPr>
              <a:t>Most transformations underfund reskilling and then discover the technology landed but the behaviour did not. Zero-Layoff is only credible if the redeployment budget is real.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56048"/>
            <a:ext cx="112745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D04A02"/>
                </a:solidFill>
                <a:latin typeface="Arial"/>
              </a:rPr>
              <a:t>THE VALUE THIS UNLOCKS</a:t>
            </a:r>
          </a:p>
        </p:txBody>
      </p:sp>
      <p:pic>
        <p:nvPicPr>
          <p:cNvPr id="21" name="Picture 20" descr="value_bri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175504"/>
            <a:ext cx="7040880" cy="106070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7726679" y="5175504"/>
            <a:ext cx="4005072" cy="1060704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7848" y="5285232"/>
            <a:ext cx="365760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700" b="1" i="0">
                <a:solidFill>
                  <a:srgbClr val="FFB600"/>
                </a:solidFill>
                <a:latin typeface="Georgia"/>
              </a:rPr>
              <a:t>₹311 Cr</a:t>
            </a:r>
            <a:r>
              <a:rPr sz="1100" b="0" i="0">
                <a:solidFill>
                  <a:srgbClr val="FFFFFF"/>
                </a:solidFill>
                <a:latin typeface="Arial"/>
              </a:rPr>
              <a:t>  annual run-rate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DEDAD6"/>
                </a:solidFill>
                <a:latin typeface="Arial"/>
              </a:rPr>
              <a:t>against ₹200 Cr one-time — payback under 12 months, and EBITDA margin from 9.5% to 13.1%.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336792"/>
            <a:ext cx="11274552" cy="10972"/>
          </a:xfrm>
          <a:prstGeom prst="rect">
            <a:avLst/>
          </a:prstGeom>
          <a:solidFill>
            <a:srgbClr val="C9C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19088"/>
            <a:ext cx="9966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Value bridge assumptions: markdown reduction at 35% pass-through of the ₹380 Cr pool; return cost = 25% of item value; ₹1.2 L replacement cost per exit; 5pp of the 15% growth target attributed to AI at 42% gross margin. Full workings in Appendix A3.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19088"/>
            <a:ext cx="12161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"/>
            <a:ext cx="457200" cy="50292"/>
          </a:xfrm>
          <a:prstGeom prst="rect">
            <a:avLst/>
          </a:prstGeom>
          <a:solidFill>
            <a:srgbClr val="7D7D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20624"/>
            <a:ext cx="10515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7D7D7D"/>
                </a:solidFill>
                <a:latin typeface="Arial"/>
              </a:rPr>
              <a:t>APPENDIX  |  A1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338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2D2D2D"/>
                </a:solidFill>
                <a:latin typeface="Georgia"/>
              </a:rPr>
              <a:t>Task audit — detail by function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74552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685800"/>
                <a:gridCol w="777240"/>
                <a:gridCol w="777240"/>
                <a:gridCol w="731520"/>
                <a:gridCol w="731520"/>
                <a:gridCol w="1051560"/>
                <a:gridCol w="4416552"/>
              </a:tblGrid>
              <a:tr h="35433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Function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HC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Routine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Autom.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Augm.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Human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FTE released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Representative automatable activity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Arial"/>
                        </a:rPr>
                        <a:t>Design &amp; Creative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1,500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45%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Trend report collation, competitor scanning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Arial"/>
                        </a:rPr>
                        <a:t>Merchandising &amp; Planning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1,200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60%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Sales data pulls, spreadsheet consolidation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Arial"/>
                        </a:rPr>
                        <a:t>Manufacturing &amp; Quality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11,000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60%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66%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2,640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Routine inspection logging, shift reporting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Arial"/>
                        </a:rPr>
                        <a:t>Retail Operations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10,000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55%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22%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58%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2,200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Stock look-ups, transfers, admin reporting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Arial"/>
                        </a:rPr>
                        <a:t>Marketing &amp; CX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2,500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16%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49%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35%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Delivery/returns queries, segment builds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Arial"/>
                        </a:rPr>
                        <a:t>Corporate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1,800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55%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22%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63%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396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Report preparation, data gathering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Arial"/>
                        </a:rPr>
                        <a:t>Total / weighted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28,000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54.1%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21.6%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59.9%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18.4%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6,056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407408"/>
            <a:ext cx="112745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Automatable = 40% × routine (case constraint). Augmentable = 60% × routine + all judgment work. Fundamentally Human = all creative/strategic work.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Note the weighted total row: the routine load of 54.1% differs from Exhibit 4's stated 48% because Exhibit 4 reports an unweighted mean across the six functions.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36792"/>
            <a:ext cx="11274552" cy="10972"/>
          </a:xfrm>
          <a:prstGeom prst="rect">
            <a:avLst/>
          </a:prstGeom>
          <a:solidFill>
            <a:srgbClr val="C9C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9966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Derived from case Exhibits 3 and 4 via analysis/task_audit_model.py.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19088"/>
            <a:ext cx="12161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A1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"/>
            <a:ext cx="457200" cy="50292"/>
          </a:xfrm>
          <a:prstGeom prst="rect">
            <a:avLst/>
          </a:prstGeom>
          <a:solidFill>
            <a:srgbClr val="7D7D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20624"/>
            <a:ext cx="10515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7D7D7D"/>
                </a:solidFill>
                <a:latin typeface="Arial"/>
              </a:rPr>
              <a:t>APPENDIX  | 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338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2D2D2D"/>
                </a:solidFill>
                <a:latin typeface="Georgia"/>
              </a:rPr>
              <a:t>Prioritisation scoring — full workings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74548" cy="2377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12728"/>
                <a:gridCol w="1541819"/>
                <a:gridCol w="1445455"/>
                <a:gridCol w="1445455"/>
                <a:gridCol w="1638182"/>
                <a:gridCol w="1349091"/>
                <a:gridCol w="867273"/>
                <a:gridCol w="674545"/>
              </a:tblGrid>
              <a:tr h="33963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Function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Business impact (25%)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Customer value (20%)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Workforce scale (15%)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Automation potential (20%)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Feasibility (20%)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Arial"/>
                        </a:rPr>
                        <a:t>Marketing &amp; CX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4.05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Arial"/>
                        </a:rPr>
                        <a:t>Retail Operations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3.95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Arial"/>
                        </a:rPr>
                        <a:t>Merchandising &amp; Planning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3.55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Arial"/>
                        </a:rPr>
                        <a:t>Manufacturing &amp; Quality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3.10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Arial"/>
                        </a:rPr>
                        <a:t>Design &amp; Creative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3.05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Arial"/>
                        </a:rPr>
                        <a:t>Corporate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2.80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950208"/>
            <a:ext cx="1127455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050" b="1" i="0">
                <a:solidFill>
                  <a:srgbClr val="2D2D2D"/>
                </a:solidFill>
                <a:latin typeface="Arial"/>
              </a:rPr>
              <a:t>Scoring basis (1–5). </a:t>
            </a:r>
            <a:r>
              <a:rPr sz="1050" b="0" i="0">
                <a:solidFill>
                  <a:srgbClr val="2D2D2D"/>
                </a:solidFill>
                <a:latin typeface="Arial"/>
              </a:rPr>
              <a:t>Business impact — size of the addressable P&amp;L pool. Customer value — effect on NPS, returns and resolution time. Workforce scale — headcount affected. Automation potential — automatable share × headcount. Feasibility — adoption readiness index from Exhibit 5.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050" b="0" i="0">
                <a:solidFill>
                  <a:srgbClr val="2D2D2D"/>
                </a:solidFill>
                <a:latin typeface="Arial"/>
              </a:rPr>
              <a:t>Readiness index = mean(awareness, willingness, digital skill) − 0.5 × (fear − 2.0). Fear is weighted at 0.5 so it moderates rather than dominates: Design 3.83, Marketing 3.68, Corporate 3.63, Merchandising 2.73, Retail 1.35, Manufacturing 0.98.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36792"/>
            <a:ext cx="11274552" cy="10972"/>
          </a:xfrm>
          <a:prstGeom prst="rect">
            <a:avLst/>
          </a:prstGeom>
          <a:solidFill>
            <a:srgbClr val="C9C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9966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Weights sum to 100%. Sensitivity: Retail overtakes Marketing for rank 1 if feasibility is weighted below 12%; the Phase-1 set of three is unchanged across all tested weightings.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19088"/>
            <a:ext cx="12161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A2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"/>
            <a:ext cx="457200" cy="50292"/>
          </a:xfrm>
          <a:prstGeom prst="rect">
            <a:avLst/>
          </a:prstGeom>
          <a:solidFill>
            <a:srgbClr val="7D7D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20624"/>
            <a:ext cx="10515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7D7D7D"/>
                </a:solidFill>
                <a:latin typeface="Arial"/>
              </a:rPr>
              <a:t>APPENDIX  |  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338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2D2D2D"/>
                </a:solidFill>
                <a:latin typeface="Georgia"/>
              </a:rPr>
              <a:t>Value bridge — assumptions and calculations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74551" cy="2148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86000"/>
                <a:gridCol w="7589520"/>
                <a:gridCol w="1399031"/>
              </a:tblGrid>
              <a:tr h="3581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Lever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Calculation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Value (₹ Cr)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Arial"/>
                        </a:rPr>
                        <a:t>Markdown reduction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₹380 Cr pool × 35% pass-through. Forecast accuracy 62% → 78% implies error 38% → 22%, a 42% relative reduction; 35% applied conservatively.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Arial"/>
                        </a:rPr>
                        <a:t>Return-rate reduction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SpeedStyle 28% → 22%, UrbanEdge 15% → 13%, ThreadBasics 18% → 16% on brand revenue; cost of a return assumed at 25% of item value.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Arial"/>
                        </a:rPr>
                        <a:t>Attrition cost avoided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Organisation attrition 31% → 25% on 28,000 employees × ₹1.2 L blended replacement cost.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Arial"/>
                        </a:rPr>
                        <a:t>AI-attributed revenue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5pp of the 15% growth target attributed to AI-enabled speed and personalisation, valued at the 42% gross margin.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Arial"/>
                        </a:rPr>
                        <a:t>Total annual run-rate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Against a ₹200 Cr one-time FY25 investment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721608"/>
            <a:ext cx="1127455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050" b="1" i="0">
                <a:solidFill>
                  <a:srgbClr val="2D2D2D"/>
                </a:solidFill>
                <a:latin typeface="Arial"/>
              </a:rPr>
              <a:t>Resulting EBITDA. </a:t>
            </a:r>
            <a:r>
              <a:rPr sz="1050" b="0" i="0">
                <a:solidFill>
                  <a:srgbClr val="2D2D2D"/>
                </a:solidFill>
                <a:latin typeface="Arial"/>
              </a:rPr>
              <a:t>FY24 EBITDA = ₹5,600 Cr × 9.5% = ₹532 Cr. Adding ₹311 Cr gives ₹843 Cr. On FY26 revenue of ₹6,440 Cr (15% growth) that is a 13.1% margin.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050" b="1" i="0">
                <a:solidFill>
                  <a:srgbClr val="2D2D2D"/>
                </a:solidFill>
                <a:latin typeface="Arial"/>
              </a:rPr>
              <a:t>Stated limitations. </a:t>
            </a:r>
            <a:r>
              <a:rPr sz="1050" b="0" i="0">
                <a:solidFill>
                  <a:srgbClr val="2D2D2D"/>
                </a:solidFill>
                <a:latin typeface="Arial"/>
              </a:rPr>
              <a:t>These are directional planning estimates built only from the case exhibits, not audited figures. Under Zero-Layoff, no labour-cost saving is claimed anywhere in this bridge — the 6,056 FTE-equivalents released are redeployed, and their value appears only through the business outcomes above.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36792"/>
            <a:ext cx="11274552" cy="10972"/>
          </a:xfrm>
          <a:prstGeom prst="rect">
            <a:avLst/>
          </a:prstGeom>
          <a:solidFill>
            <a:srgbClr val="C9C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9966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All calculations reproducible via analysis/task_audit_model.py in the submission repository.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19088"/>
            <a:ext cx="12161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A3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"/>
            <a:ext cx="457200" cy="50292"/>
          </a:xfrm>
          <a:prstGeom prst="rect">
            <a:avLst/>
          </a:prstGeom>
          <a:solidFill>
            <a:srgbClr val="7D7D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20624"/>
            <a:ext cx="10515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7D7D7D"/>
                </a:solidFill>
                <a:latin typeface="Arial"/>
              </a:rPr>
              <a:t>APPENDIX  | 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338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2D2D2D"/>
                </a:solidFill>
                <a:latin typeface="Georgia"/>
              </a:rPr>
              <a:t>Risk register and references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74552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60"/>
                <a:gridCol w="1280160"/>
                <a:gridCol w="6885432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Likelihood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Mitigation</a:t>
                      </a:r>
                    </a:p>
                  </a:txBody>
                  <a:tcPr marL="64008" marR="64008" marT="32004" marB="32004" anchor="ctr">
                    <a:solidFill>
                      <a:srgbClr val="2D2D2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Arial"/>
                        </a:rPr>
                        <a:t>Retail adoption stalls despite the pilot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Gate scaling on adoption ≥70% and stable sentiment; associates co-design; champions seeded first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Arial"/>
                        </a:rPr>
                        <a:t>Data foundation slips, delaying every use case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Platform is Phase 0 and separately funded at ₹60 Cr; use cases contracted against data readiness milestones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Arial"/>
                        </a:rPr>
                        <a:t>Brand dilution from generative content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Brand-differentiated posture; Maison Luxe excluded from generative customer-facing AI entirely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Arial"/>
                        </a:rPr>
                        <a:t>Zero-Layoff commitment perceived as hollow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Written charter in month 1, redeployment guarantee, public reporting of redeployment counts</a:t>
                      </a:r>
                    </a:p>
                  </a:txBody>
                  <a:tcPr marL="64008" marR="64008" marT="32004" marB="32004" anchor="ctr">
                    <a:solidFill>
                      <a:srgbClr val="FAF8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2D2D2D"/>
                          </a:solidFill>
                          <a:latin typeface="Arial"/>
                        </a:rPr>
                        <a:t>Regulatory exposure (EU AI Act, DPDP, EPR)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Arial"/>
                        </a:rPr>
                        <a:t>Four-tier decision rights, model register, provenance logging, quarterly bias testing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767328"/>
            <a:ext cx="112745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D04A02"/>
                </a:solidFill>
                <a:latin typeface="Arial"/>
              </a:rPr>
              <a:t>REFERENCES (APA)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59936"/>
            <a:ext cx="11274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2D2D2D"/>
                </a:solidFill>
                <a:latin typeface="Arial"/>
              </a:rPr>
              <a:t>•  European Commission. (2022). EU strategy for sustainable and circular textiles. Publications Office of the European Union.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43984"/>
            <a:ext cx="11274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2D2D2D"/>
                </a:solidFill>
                <a:latin typeface="Arial"/>
              </a:rPr>
              <a:t>•  European Parliament &amp; Council of the European Union. (2024). Regulation (EU) 2024/1689 laying down harmonised rules on artificial intelligence (Artificial Intelligence Act).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28032"/>
            <a:ext cx="11274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2D2D2D"/>
                </a:solidFill>
                <a:latin typeface="Arial"/>
              </a:rPr>
              <a:t>•  International Organization for Standardization. (2023). ISO/IEC 42001:2023 — Information technology, artificial intelligence, management system.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11274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2D2D2D"/>
                </a:solidFill>
                <a:latin typeface="Arial"/>
              </a:rPr>
              <a:t>•  Ministry of Electronics and Information Technology. (2023). Digital Personal Data Protection Act, 2023. Government of India.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596128"/>
            <a:ext cx="11274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2D2D2D"/>
                </a:solidFill>
                <a:latin typeface="Arial"/>
              </a:rPr>
              <a:t>•  National Institute of Standards and Technology. (2023). Artificial intelligence risk management framework (AI RMF 1.0). U.S. Department of Commerce.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336792"/>
            <a:ext cx="11274552" cy="10972"/>
          </a:xfrm>
          <a:prstGeom prst="rect">
            <a:avLst/>
          </a:prstGeom>
          <a:solidFill>
            <a:srgbClr val="C9C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9966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Industry statistics quoted in the deck (USD 1.7 tn market, 92 mn tonnes textile waste, 75 mn people employed) are taken from the case brief's industry overview.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19088"/>
            <a:ext cx="12161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D7D7D"/>
                </a:solidFill>
                <a:latin typeface="Arial"/>
              </a:rPr>
              <a:t>A4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