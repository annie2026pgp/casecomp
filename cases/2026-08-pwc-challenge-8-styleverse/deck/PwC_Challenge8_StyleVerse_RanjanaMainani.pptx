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Parallelogram 2"/>
          <p:cNvSpPr/>
          <p:nvPr/>
        </p:nvSpPr>
        <p:spPr>
          <a:xfrm>
            <a:off x="7863840" y="3886200"/>
            <a:ext cx="2834640" cy="566928"/>
          </a:xfrm>
          <a:prstGeom prst="parallelogram">
            <a:avLst/>
          </a:prstGeom>
          <a:solidFill>
            <a:srgbClr val="D04A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Parallelogram 3"/>
          <p:cNvSpPr/>
          <p:nvPr/>
        </p:nvSpPr>
        <p:spPr>
          <a:xfrm>
            <a:off x="9189720" y="4617720"/>
            <a:ext cx="2103120" cy="566928"/>
          </a:xfrm>
          <a:prstGeom prst="parallelogram">
            <a:avLst/>
          </a:prstGeom>
          <a:solidFill>
            <a:srgbClr val="EB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arallelogram 4"/>
          <p:cNvSpPr/>
          <p:nvPr/>
        </p:nvSpPr>
        <p:spPr>
          <a:xfrm>
            <a:off x="8686800" y="3154680"/>
            <a:ext cx="1417320" cy="566928"/>
          </a:xfrm>
          <a:prstGeom prst="parallelogram">
            <a:avLst/>
          </a:prstGeom>
          <a:solidFill>
            <a:srgbClr val="FFB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960120"/>
            <a:ext cx="5486400" cy="274320"/>
          </a:xfrm>
          <a:prstGeom prst="rect">
            <a:avLst/>
          </a:prstGeom>
          <a:noFill/>
        </p:spPr>
        <p:txBody>
          <a:bodyPr wrap="square" anchor="t" lIns="0" rIns="0" tIns="0" bIns="0">
            <a:spAutoFit/>
          </a:bodyPr>
          <a:lstStyle/>
          <a:p>
            <a:pPr algn="l">
              <a:lnSpc>
                <a:spcPct val="100000"/>
              </a:lnSpc>
              <a:spcAft>
                <a:spcPts val="0"/>
              </a:spcAft>
            </a:pPr>
            <a:r>
              <a:rPr sz="2600" b="1" i="0">
                <a:solidFill>
                  <a:srgbClr val="2D2D2D"/>
                </a:solidFill>
                <a:latin typeface="Georgia"/>
              </a:rPr>
              <a:t>pwc</a:t>
            </a:r>
          </a:p>
        </p:txBody>
      </p:sp>
      <p:sp>
        <p:nvSpPr>
          <p:cNvPr id="7" name="TextBox 6"/>
          <p:cNvSpPr txBox="1"/>
          <p:nvPr/>
        </p:nvSpPr>
        <p:spPr>
          <a:xfrm>
            <a:off x="822960" y="1965960"/>
            <a:ext cx="7315200" cy="310896"/>
          </a:xfrm>
          <a:prstGeom prst="rect">
            <a:avLst/>
          </a:prstGeom>
          <a:noFill/>
        </p:spPr>
        <p:txBody>
          <a:bodyPr wrap="square" anchor="t" lIns="0" rIns="0" tIns="0" bIns="0">
            <a:spAutoFit/>
          </a:bodyPr>
          <a:lstStyle/>
          <a:p>
            <a:pPr algn="l">
              <a:lnSpc>
                <a:spcPct val="100000"/>
              </a:lnSpc>
              <a:spcAft>
                <a:spcPts val="0"/>
              </a:spcAft>
            </a:pPr>
            <a:r>
              <a:rPr sz="1150" b="1" i="0">
                <a:solidFill>
                  <a:srgbClr val="D04A02"/>
                </a:solidFill>
                <a:latin typeface="Arial"/>
              </a:rPr>
              <a:t>PwC CHALLENGE 8.0  |  ROUND 1 SUBMISSION</a:t>
            </a:r>
          </a:p>
        </p:txBody>
      </p:sp>
      <p:sp>
        <p:nvSpPr>
          <p:cNvPr id="8" name="TextBox 7"/>
          <p:cNvSpPr txBox="1"/>
          <p:nvPr/>
        </p:nvSpPr>
        <p:spPr>
          <a:xfrm>
            <a:off x="822960" y="2395728"/>
            <a:ext cx="7589520" cy="1371600"/>
          </a:xfrm>
          <a:prstGeom prst="rect">
            <a:avLst/>
          </a:prstGeom>
          <a:noFill/>
        </p:spPr>
        <p:txBody>
          <a:bodyPr wrap="square" anchor="t" lIns="0" rIns="0" tIns="0" bIns="0">
            <a:spAutoFit/>
          </a:bodyPr>
          <a:lstStyle/>
          <a:p>
            <a:pPr algn="l">
              <a:lnSpc>
                <a:spcPct val="102000"/>
              </a:lnSpc>
              <a:spcAft>
                <a:spcPts val="0"/>
              </a:spcAft>
            </a:pPr>
            <a:r>
              <a:rPr sz="4400" b="1" i="0">
                <a:solidFill>
                  <a:srgbClr val="2D2D2D"/>
                </a:solidFill>
                <a:latin typeface="Georgia"/>
              </a:rPr>
              <a:t>Designing a Better</a:t>
            </a:r>
          </a:p>
          <a:p>
            <a:pPr algn="l">
              <a:lnSpc>
                <a:spcPct val="102000"/>
              </a:lnSpc>
              <a:spcAft>
                <a:spcPts val="0"/>
              </a:spcAft>
            </a:pPr>
            <a:r>
              <a:rPr sz="4400" b="1" i="0">
                <a:solidFill>
                  <a:srgbClr val="2D2D2D"/>
                </a:solidFill>
                <a:latin typeface="Georgia"/>
              </a:rPr>
              <a:t>Organization</a:t>
            </a:r>
          </a:p>
        </p:txBody>
      </p:sp>
      <p:sp>
        <p:nvSpPr>
          <p:cNvPr id="9" name="Rectangle 8"/>
          <p:cNvSpPr/>
          <p:nvPr/>
        </p:nvSpPr>
        <p:spPr>
          <a:xfrm>
            <a:off x="841248" y="3913632"/>
            <a:ext cx="1463040" cy="32004"/>
          </a:xfrm>
          <a:prstGeom prst="rect">
            <a:avLst/>
          </a:prstGeom>
          <a:solidFill>
            <a:srgbClr val="D04A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4114800"/>
            <a:ext cx="7498079" cy="822960"/>
          </a:xfrm>
          <a:prstGeom prst="rect">
            <a:avLst/>
          </a:prstGeom>
          <a:noFill/>
        </p:spPr>
        <p:txBody>
          <a:bodyPr wrap="square" anchor="t" lIns="0" rIns="0" tIns="0" bIns="0">
            <a:spAutoFit/>
          </a:bodyPr>
          <a:lstStyle/>
          <a:p>
            <a:pPr algn="l">
              <a:lnSpc>
                <a:spcPct val="130000"/>
              </a:lnSpc>
              <a:spcAft>
                <a:spcPts val="0"/>
              </a:spcAft>
            </a:pPr>
            <a:r>
              <a:rPr sz="1350" b="0" i="0">
                <a:solidFill>
                  <a:srgbClr val="2D2D2D"/>
                </a:solidFill>
                <a:latin typeface="Arial"/>
              </a:rPr>
              <a:t>An enterprise AI operating-model blueprint for StyleVerse Global. It automates</a:t>
            </a:r>
          </a:p>
          <a:p>
            <a:pPr algn="l">
              <a:lnSpc>
                <a:spcPct val="130000"/>
              </a:lnSpc>
              <a:spcAft>
                <a:spcPts val="0"/>
              </a:spcAft>
            </a:pPr>
            <a:r>
              <a:rPr sz="1350" b="0" i="0">
                <a:solidFill>
                  <a:srgbClr val="2D2D2D"/>
                </a:solidFill>
                <a:latin typeface="Arial"/>
              </a:rPr>
              <a:t>40% of routine work and protects all 28,000 roles while doing it.</a:t>
            </a:r>
          </a:p>
        </p:txBody>
      </p:sp>
      <p:sp>
        <p:nvSpPr>
          <p:cNvPr id="11" name="TextBox 10"/>
          <p:cNvSpPr txBox="1"/>
          <p:nvPr/>
        </p:nvSpPr>
        <p:spPr>
          <a:xfrm>
            <a:off x="822960" y="5074920"/>
            <a:ext cx="7498079" cy="548640"/>
          </a:xfrm>
          <a:prstGeom prst="rect">
            <a:avLst/>
          </a:prstGeom>
          <a:noFill/>
        </p:spPr>
        <p:txBody>
          <a:bodyPr wrap="square" anchor="t" lIns="0" rIns="0" tIns="0" bIns="0">
            <a:spAutoFit/>
          </a:bodyPr>
          <a:lstStyle/>
          <a:p>
            <a:pPr algn="l">
              <a:lnSpc>
                <a:spcPct val="115000"/>
              </a:lnSpc>
              <a:spcAft>
                <a:spcPts val="700"/>
              </a:spcAft>
            </a:pPr>
            <a:r>
              <a:rPr sz="1150" b="0" i="1">
                <a:solidFill>
                  <a:srgbClr val="7D7D7D"/>
                </a:solidFill>
                <a:latin typeface="Arial"/>
              </a:rPr>
              <a:t>“Our next phase of growth depends on designing a better organization.”</a:t>
            </a:r>
            <a:r>
              <a:rPr sz="1050" b="0" i="0">
                <a:solidFill>
                  <a:srgbClr val="7D7D7D"/>
                </a:solidFill>
                <a:latin typeface="Arial"/>
              </a:rPr>
              <a:t>   — CEO, StyleVerse Global</a:t>
            </a:r>
          </a:p>
        </p:txBody>
      </p:sp>
      <p:sp>
        <p:nvSpPr>
          <p:cNvPr id="12" name="Rectangle 11"/>
          <p:cNvSpPr/>
          <p:nvPr/>
        </p:nvSpPr>
        <p:spPr>
          <a:xfrm>
            <a:off x="841248" y="5897880"/>
            <a:ext cx="10972800" cy="10972"/>
          </a:xfrm>
          <a:prstGeom prst="rect">
            <a:avLst/>
          </a:prstGeom>
          <a:solidFill>
            <a:srgbClr val="C9C3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6053328"/>
            <a:ext cx="6400800" cy="237744"/>
          </a:xfrm>
          <a:prstGeom prst="rect">
            <a:avLst/>
          </a:prstGeom>
          <a:noFill/>
        </p:spPr>
        <p:txBody>
          <a:bodyPr wrap="square" anchor="t" lIns="0" rIns="0" tIns="0" bIns="0">
            <a:spAutoFit/>
          </a:bodyPr>
          <a:lstStyle/>
          <a:p>
            <a:pPr algn="l">
              <a:lnSpc>
                <a:spcPct val="100000"/>
              </a:lnSpc>
              <a:spcAft>
                <a:spcPts val="0"/>
              </a:spcAft>
            </a:pPr>
            <a:r>
              <a:rPr sz="1200" b="1" i="0">
                <a:solidFill>
                  <a:srgbClr val="2D2D2D"/>
                </a:solidFill>
                <a:latin typeface="Arial"/>
              </a:rPr>
              <a:t>Ranjana Mainani</a:t>
            </a:r>
          </a:p>
        </p:txBody>
      </p:sp>
      <p:sp>
        <p:nvSpPr>
          <p:cNvPr id="14" name="TextBox 13"/>
          <p:cNvSpPr txBox="1"/>
          <p:nvPr/>
        </p:nvSpPr>
        <p:spPr>
          <a:xfrm>
            <a:off x="822960" y="6309360"/>
            <a:ext cx="6400800" cy="237744"/>
          </a:xfrm>
          <a:prstGeom prst="rect">
            <a:avLst/>
          </a:prstGeom>
          <a:noFill/>
        </p:spPr>
        <p:txBody>
          <a:bodyPr wrap="square" anchor="t" lIns="0" rIns="0" tIns="0" bIns="0">
            <a:spAutoFit/>
          </a:bodyPr>
          <a:lstStyle/>
          <a:p>
            <a:pPr algn="l">
              <a:lnSpc>
                <a:spcPct val="100000"/>
              </a:lnSpc>
              <a:spcAft>
                <a:spcPts val="0"/>
              </a:spcAft>
            </a:pPr>
            <a:r>
              <a:rPr sz="1000" b="0" i="0">
                <a:solidFill>
                  <a:srgbClr val="7D7D7D"/>
                </a:solidFill>
                <a:latin typeface="Arial"/>
              </a:rPr>
              <a:t>Strategic consultant team, StyleVerse AI transformation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10896"/>
            <a:ext cx="457200" cy="50292"/>
          </a:xfrm>
          <a:prstGeom prst="rect">
            <a:avLst/>
          </a:prstGeom>
          <a:solidFill>
            <a:srgbClr val="D04A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0624"/>
            <a:ext cx="10515600" cy="237744"/>
          </a:xfrm>
          <a:prstGeom prst="rect">
            <a:avLst/>
          </a:prstGeom>
          <a:noFill/>
        </p:spPr>
        <p:txBody>
          <a:bodyPr wrap="square" anchor="t" lIns="0" rIns="0" tIns="0" bIns="0">
            <a:spAutoFit/>
          </a:bodyPr>
          <a:lstStyle/>
          <a:p>
            <a:pPr algn="l">
              <a:lnSpc>
                <a:spcPct val="100000"/>
              </a:lnSpc>
              <a:spcAft>
                <a:spcPts val="0"/>
              </a:spcAft>
            </a:pPr>
            <a:r>
              <a:rPr sz="1000" b="1" i="0">
                <a:solidFill>
                  <a:srgbClr val="D04A02"/>
                </a:solidFill>
                <a:latin typeface="Arial"/>
              </a:rPr>
              <a:t>EXECUTIVE SUMMARY  |  1 OF 2</a:t>
            </a:r>
          </a:p>
        </p:txBody>
      </p:sp>
      <p:sp>
        <p:nvSpPr>
          <p:cNvPr id="4" name="TextBox 3"/>
          <p:cNvSpPr txBox="1"/>
          <p:nvPr/>
        </p:nvSpPr>
        <p:spPr>
          <a:xfrm>
            <a:off x="457200" y="676656"/>
            <a:ext cx="11338560" cy="566928"/>
          </a:xfrm>
          <a:prstGeom prst="rect">
            <a:avLst/>
          </a:prstGeom>
          <a:noFill/>
        </p:spPr>
        <p:txBody>
          <a:bodyPr wrap="square" anchor="t" lIns="0" rIns="0" tIns="0" bIns="0">
            <a:spAutoFit/>
          </a:bodyPr>
          <a:lstStyle/>
          <a:p>
            <a:pPr algn="l">
              <a:lnSpc>
                <a:spcPct val="105000"/>
              </a:lnSpc>
              <a:spcAft>
                <a:spcPts val="0"/>
              </a:spcAft>
            </a:pPr>
            <a:r>
              <a:rPr sz="2000" b="1" i="0">
                <a:solidFill>
                  <a:srgbClr val="2D2D2D"/>
                </a:solidFill>
                <a:latin typeface="Georgia"/>
              </a:rPr>
              <a:t>82% of StyleVerse's work should involve AI. None of the 28,000 people should lose a job over it.</a:t>
            </a:r>
          </a:p>
        </p:txBody>
      </p:sp>
      <p:sp>
        <p:nvSpPr>
          <p:cNvPr id="5" name="Rectangle 4"/>
          <p:cNvSpPr/>
          <p:nvPr/>
        </p:nvSpPr>
        <p:spPr>
          <a:xfrm>
            <a:off x="457200" y="1316736"/>
            <a:ext cx="11274552" cy="822960"/>
          </a:xfrm>
          <a:prstGeom prst="rect">
            <a:avLst/>
          </a:prstGeom>
          <a:solidFill>
            <a:srgbClr val="F4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463040"/>
            <a:ext cx="10881360" cy="603504"/>
          </a:xfrm>
          <a:prstGeom prst="rect">
            <a:avLst/>
          </a:prstGeom>
          <a:noFill/>
        </p:spPr>
        <p:txBody>
          <a:bodyPr wrap="square" anchor="t" lIns="0" rIns="0" tIns="0" bIns="0">
            <a:spAutoFit/>
          </a:bodyPr>
          <a:lstStyle/>
          <a:p>
            <a:pPr algn="l">
              <a:lnSpc>
                <a:spcPct val="122000"/>
              </a:lnSpc>
              <a:spcAft>
                <a:spcPts val="700"/>
              </a:spcAft>
            </a:pPr>
            <a:r>
              <a:rPr sz="1250" b="1" i="0">
                <a:solidFill>
                  <a:srgbClr val="2D2D2D"/>
                </a:solidFill>
                <a:latin typeface="Arial"/>
              </a:rPr>
              <a:t>Revenue keeps growing at StyleVerse; profit hasn't kept pace. </a:t>
            </a:r>
            <a:r>
              <a:rPr sz="1250" b="0" i="0">
                <a:solidFill>
                  <a:srgbClr val="2D2D2D"/>
                </a:solidFill>
                <a:latin typeface="Arial"/>
              </a:rPr>
              <a:t>The gap comes from how slowly insight turns into action, because work — not talent — is misallocated across the business. We re-architect every role into three tiers, automate 40% of routine work, and move the capacity that frees up onto the customer-facing jobs that actually drive the 15% growth target.</a:t>
            </a:r>
          </a:p>
        </p:txBody>
      </p:sp>
      <p:sp>
        <p:nvSpPr>
          <p:cNvPr id="7" name="Rectangle 6"/>
          <p:cNvSpPr/>
          <p:nvPr/>
        </p:nvSpPr>
        <p:spPr>
          <a:xfrm>
            <a:off x="457200" y="2249424"/>
            <a:ext cx="2679192" cy="1481328"/>
          </a:xfrm>
          <a:prstGeom prst="rect">
            <a:avLst/>
          </a:prstGeom>
          <a:solidFill>
            <a:srgbClr val="FFFFFF"/>
          </a:solidFill>
          <a:ln w="12700">
            <a:solidFill>
              <a:srgbClr val="C9C3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2249424"/>
            <a:ext cx="2679192" cy="41148"/>
          </a:xfrm>
          <a:prstGeom prst="rect">
            <a:avLst/>
          </a:prstGeom>
          <a:solidFill>
            <a:srgbClr val="D04A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395728"/>
            <a:ext cx="2286000" cy="384048"/>
          </a:xfrm>
          <a:prstGeom prst="rect">
            <a:avLst/>
          </a:prstGeom>
          <a:noFill/>
        </p:spPr>
        <p:txBody>
          <a:bodyPr wrap="square" anchor="t" lIns="0" rIns="0" tIns="0" bIns="0">
            <a:spAutoFit/>
          </a:bodyPr>
          <a:lstStyle/>
          <a:p>
            <a:pPr algn="l">
              <a:lnSpc>
                <a:spcPct val="100000"/>
              </a:lnSpc>
              <a:spcAft>
                <a:spcPts val="0"/>
              </a:spcAft>
            </a:pPr>
            <a:r>
              <a:rPr sz="2500" b="1" i="0">
                <a:solidFill>
                  <a:srgbClr val="D04A02"/>
                </a:solidFill>
                <a:latin typeface="Georgia"/>
              </a:rPr>
              <a:t>54%</a:t>
            </a:r>
          </a:p>
        </p:txBody>
      </p:sp>
      <p:sp>
        <p:nvSpPr>
          <p:cNvPr id="10" name="TextBox 9"/>
          <p:cNvSpPr txBox="1"/>
          <p:nvPr/>
        </p:nvSpPr>
        <p:spPr>
          <a:xfrm>
            <a:off x="658368" y="2798064"/>
            <a:ext cx="2286000" cy="832104"/>
          </a:xfrm>
          <a:prstGeom prst="rect">
            <a:avLst/>
          </a:prstGeom>
          <a:noFill/>
        </p:spPr>
        <p:txBody>
          <a:bodyPr wrap="square" anchor="t" lIns="0" rIns="0" tIns="0" bIns="0">
            <a:spAutoFit/>
          </a:bodyPr>
          <a:lstStyle/>
          <a:p>
            <a:pPr algn="l">
              <a:lnSpc>
                <a:spcPct val="115000"/>
              </a:lnSpc>
              <a:spcAft>
                <a:spcPts val="0"/>
              </a:spcAft>
            </a:pPr>
            <a:r>
              <a:rPr sz="1050" b="0" i="0">
                <a:solidFill>
                  <a:srgbClr val="2D2D2D"/>
                </a:solidFill>
                <a:latin typeface="Arial"/>
              </a:rPr>
              <a:t>of all work is routine once</a:t>
            </a:r>
          </a:p>
          <a:p>
            <a:pPr algn="l">
              <a:lnSpc>
                <a:spcPct val="115000"/>
              </a:lnSpc>
              <a:spcAft>
                <a:spcPts val="0"/>
              </a:spcAft>
            </a:pPr>
            <a:r>
              <a:rPr sz="1050" b="0" i="0">
                <a:solidFill>
                  <a:srgbClr val="2D2D2D"/>
                </a:solidFill>
                <a:latin typeface="Arial"/>
              </a:rPr>
              <a:t>weighted by headcount —</a:t>
            </a:r>
          </a:p>
          <a:p>
            <a:pPr algn="l">
              <a:lnSpc>
                <a:spcPct val="115000"/>
              </a:lnSpc>
              <a:spcAft>
                <a:spcPts val="0"/>
              </a:spcAft>
            </a:pPr>
            <a:r>
              <a:rPr sz="1050" b="0" i="0">
                <a:solidFill>
                  <a:srgbClr val="2D2D2D"/>
                </a:solidFill>
                <a:latin typeface="Arial"/>
              </a:rPr>
              <a:t>Exhibit 4's simple average</a:t>
            </a:r>
          </a:p>
          <a:p>
            <a:pPr algn="l">
              <a:lnSpc>
                <a:spcPct val="115000"/>
              </a:lnSpc>
              <a:spcAft>
                <a:spcPts val="0"/>
              </a:spcAft>
            </a:pPr>
            <a:r>
              <a:rPr sz="1050" b="0" i="0">
                <a:solidFill>
                  <a:srgbClr val="2D2D2D"/>
                </a:solidFill>
                <a:latin typeface="Arial"/>
              </a:rPr>
              <a:t>says 48%</a:t>
            </a:r>
          </a:p>
        </p:txBody>
      </p:sp>
      <p:sp>
        <p:nvSpPr>
          <p:cNvPr id="11" name="Rectangle 10"/>
          <p:cNvSpPr/>
          <p:nvPr/>
        </p:nvSpPr>
        <p:spPr>
          <a:xfrm>
            <a:off x="3300984" y="2249424"/>
            <a:ext cx="2679192" cy="1481328"/>
          </a:xfrm>
          <a:prstGeom prst="rect">
            <a:avLst/>
          </a:prstGeom>
          <a:solidFill>
            <a:srgbClr val="FFFFFF"/>
          </a:solidFill>
          <a:ln w="12700">
            <a:solidFill>
              <a:srgbClr val="C9C3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00984" y="2249424"/>
            <a:ext cx="2679192" cy="41148"/>
          </a:xfrm>
          <a:prstGeom prst="rect">
            <a:avLst/>
          </a:prstGeom>
          <a:solidFill>
            <a:srgbClr val="D04A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02152" y="2395728"/>
            <a:ext cx="2286000" cy="384048"/>
          </a:xfrm>
          <a:prstGeom prst="rect">
            <a:avLst/>
          </a:prstGeom>
          <a:noFill/>
        </p:spPr>
        <p:txBody>
          <a:bodyPr wrap="square" anchor="t" lIns="0" rIns="0" tIns="0" bIns="0">
            <a:spAutoFit/>
          </a:bodyPr>
          <a:lstStyle/>
          <a:p>
            <a:pPr algn="l">
              <a:lnSpc>
                <a:spcPct val="100000"/>
              </a:lnSpc>
              <a:spcAft>
                <a:spcPts val="0"/>
              </a:spcAft>
            </a:pPr>
            <a:r>
              <a:rPr sz="2500" b="1" i="0">
                <a:solidFill>
                  <a:srgbClr val="D04A02"/>
                </a:solidFill>
                <a:latin typeface="Georgia"/>
              </a:rPr>
              <a:t>6,056</a:t>
            </a:r>
          </a:p>
        </p:txBody>
      </p:sp>
      <p:sp>
        <p:nvSpPr>
          <p:cNvPr id="14" name="TextBox 13"/>
          <p:cNvSpPr txBox="1"/>
          <p:nvPr/>
        </p:nvSpPr>
        <p:spPr>
          <a:xfrm>
            <a:off x="3502152" y="2798064"/>
            <a:ext cx="2286000" cy="832104"/>
          </a:xfrm>
          <a:prstGeom prst="rect">
            <a:avLst/>
          </a:prstGeom>
          <a:noFill/>
        </p:spPr>
        <p:txBody>
          <a:bodyPr wrap="square" anchor="t" lIns="0" rIns="0" tIns="0" bIns="0">
            <a:spAutoFit/>
          </a:bodyPr>
          <a:lstStyle/>
          <a:p>
            <a:pPr algn="l">
              <a:lnSpc>
                <a:spcPct val="115000"/>
              </a:lnSpc>
              <a:spcAft>
                <a:spcPts val="0"/>
              </a:spcAft>
            </a:pPr>
            <a:r>
              <a:rPr sz="1050" b="0" i="0">
                <a:solidFill>
                  <a:srgbClr val="2D2D2D"/>
                </a:solidFill>
                <a:latin typeface="Arial"/>
              </a:rPr>
              <a:t>FTE-equivalents released.</a:t>
            </a:r>
          </a:p>
          <a:p>
            <a:pPr algn="l">
              <a:lnSpc>
                <a:spcPct val="115000"/>
              </a:lnSpc>
              <a:spcAft>
                <a:spcPts val="0"/>
              </a:spcAft>
            </a:pPr>
            <a:r>
              <a:rPr sz="1050" b="0" i="0">
                <a:solidFill>
                  <a:srgbClr val="2D2D2D"/>
                </a:solidFill>
                <a:latin typeface="Arial"/>
              </a:rPr>
              <a:t>Zero-Layoff means</a:t>
            </a:r>
          </a:p>
          <a:p>
            <a:pPr algn="l">
              <a:lnSpc>
                <a:spcPct val="115000"/>
              </a:lnSpc>
              <a:spcAft>
                <a:spcPts val="0"/>
              </a:spcAft>
            </a:pPr>
            <a:r>
              <a:rPr sz="1050" b="0" i="0">
                <a:solidFill>
                  <a:srgbClr val="2D2D2D"/>
                </a:solidFill>
                <a:latin typeface="Arial"/>
              </a:rPr>
              <a:t>converted, not cut</a:t>
            </a:r>
          </a:p>
        </p:txBody>
      </p:sp>
      <p:sp>
        <p:nvSpPr>
          <p:cNvPr id="15" name="Rectangle 14"/>
          <p:cNvSpPr/>
          <p:nvPr/>
        </p:nvSpPr>
        <p:spPr>
          <a:xfrm>
            <a:off x="6144768" y="2249424"/>
            <a:ext cx="2679192" cy="1481328"/>
          </a:xfrm>
          <a:prstGeom prst="rect">
            <a:avLst/>
          </a:prstGeom>
          <a:solidFill>
            <a:srgbClr val="FFFFFF"/>
          </a:solidFill>
          <a:ln w="12700">
            <a:solidFill>
              <a:srgbClr val="C9C3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44768" y="2249424"/>
            <a:ext cx="2679192" cy="41148"/>
          </a:xfrm>
          <a:prstGeom prst="rect">
            <a:avLst/>
          </a:prstGeom>
          <a:solidFill>
            <a:srgbClr val="D04A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5936" y="2395728"/>
            <a:ext cx="2286000" cy="384048"/>
          </a:xfrm>
          <a:prstGeom prst="rect">
            <a:avLst/>
          </a:prstGeom>
          <a:noFill/>
        </p:spPr>
        <p:txBody>
          <a:bodyPr wrap="square" anchor="t" lIns="0" rIns="0" tIns="0" bIns="0">
            <a:spAutoFit/>
          </a:bodyPr>
          <a:lstStyle/>
          <a:p>
            <a:pPr algn="l">
              <a:lnSpc>
                <a:spcPct val="100000"/>
              </a:lnSpc>
              <a:spcAft>
                <a:spcPts val="0"/>
              </a:spcAft>
            </a:pPr>
            <a:r>
              <a:rPr sz="2500" b="1" i="0">
                <a:solidFill>
                  <a:srgbClr val="D04A02"/>
                </a:solidFill>
                <a:latin typeface="Georgia"/>
              </a:rPr>
              <a:t>₹311 Cr</a:t>
            </a:r>
          </a:p>
        </p:txBody>
      </p:sp>
      <p:sp>
        <p:nvSpPr>
          <p:cNvPr id="18" name="TextBox 17"/>
          <p:cNvSpPr txBox="1"/>
          <p:nvPr/>
        </p:nvSpPr>
        <p:spPr>
          <a:xfrm>
            <a:off x="6345936" y="2798064"/>
            <a:ext cx="2286000" cy="832104"/>
          </a:xfrm>
          <a:prstGeom prst="rect">
            <a:avLst/>
          </a:prstGeom>
          <a:noFill/>
        </p:spPr>
        <p:txBody>
          <a:bodyPr wrap="square" anchor="t" lIns="0" rIns="0" tIns="0" bIns="0">
            <a:spAutoFit/>
          </a:bodyPr>
          <a:lstStyle/>
          <a:p>
            <a:pPr algn="l">
              <a:lnSpc>
                <a:spcPct val="115000"/>
              </a:lnSpc>
              <a:spcAft>
                <a:spcPts val="0"/>
              </a:spcAft>
            </a:pPr>
            <a:r>
              <a:rPr sz="1050" b="0" i="0">
                <a:solidFill>
                  <a:srgbClr val="2D2D2D"/>
                </a:solidFill>
                <a:latin typeface="Arial"/>
              </a:rPr>
              <a:t>in yearly value against a</a:t>
            </a:r>
          </a:p>
          <a:p>
            <a:pPr algn="l">
              <a:lnSpc>
                <a:spcPct val="115000"/>
              </a:lnSpc>
              <a:spcAft>
                <a:spcPts val="0"/>
              </a:spcAft>
            </a:pPr>
            <a:r>
              <a:rPr sz="1050" b="0" i="0">
                <a:solidFill>
                  <a:srgbClr val="2D2D2D"/>
                </a:solidFill>
                <a:latin typeface="Arial"/>
              </a:rPr>
              <a:t>₹200 Cr one-off spend.</a:t>
            </a:r>
          </a:p>
          <a:p>
            <a:pPr algn="l">
              <a:lnSpc>
                <a:spcPct val="115000"/>
              </a:lnSpc>
              <a:spcAft>
                <a:spcPts val="0"/>
              </a:spcAft>
            </a:pPr>
            <a:r>
              <a:rPr sz="1050" b="0" i="0">
                <a:solidFill>
                  <a:srgbClr val="2D2D2D"/>
                </a:solidFill>
                <a:latin typeface="Arial"/>
              </a:rPr>
              <a:t>Payback under 12 months</a:t>
            </a:r>
          </a:p>
        </p:txBody>
      </p:sp>
      <p:sp>
        <p:nvSpPr>
          <p:cNvPr id="19" name="Rectangle 18"/>
          <p:cNvSpPr/>
          <p:nvPr/>
        </p:nvSpPr>
        <p:spPr>
          <a:xfrm>
            <a:off x="8988552" y="2249424"/>
            <a:ext cx="2679192" cy="1481328"/>
          </a:xfrm>
          <a:prstGeom prst="rect">
            <a:avLst/>
          </a:prstGeom>
          <a:solidFill>
            <a:srgbClr val="FFFFFF"/>
          </a:solidFill>
          <a:ln w="12700">
            <a:solidFill>
              <a:srgbClr val="C9C3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988552" y="2249424"/>
            <a:ext cx="2679192" cy="41148"/>
          </a:xfrm>
          <a:prstGeom prst="rect">
            <a:avLst/>
          </a:prstGeom>
          <a:solidFill>
            <a:srgbClr val="D04A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9720" y="2395728"/>
            <a:ext cx="2286000" cy="384048"/>
          </a:xfrm>
          <a:prstGeom prst="rect">
            <a:avLst/>
          </a:prstGeom>
          <a:noFill/>
        </p:spPr>
        <p:txBody>
          <a:bodyPr wrap="square" anchor="t" lIns="0" rIns="0" tIns="0" bIns="0">
            <a:spAutoFit/>
          </a:bodyPr>
          <a:lstStyle/>
          <a:p>
            <a:pPr algn="l">
              <a:lnSpc>
                <a:spcPct val="100000"/>
              </a:lnSpc>
              <a:spcAft>
                <a:spcPts val="0"/>
              </a:spcAft>
            </a:pPr>
            <a:r>
              <a:rPr sz="2500" b="1" i="0">
                <a:solidFill>
                  <a:srgbClr val="D04A02"/>
                </a:solidFill>
                <a:latin typeface="Georgia"/>
              </a:rPr>
              <a:t>13.1%</a:t>
            </a:r>
          </a:p>
        </p:txBody>
      </p:sp>
      <p:sp>
        <p:nvSpPr>
          <p:cNvPr id="22" name="TextBox 21"/>
          <p:cNvSpPr txBox="1"/>
          <p:nvPr/>
        </p:nvSpPr>
        <p:spPr>
          <a:xfrm>
            <a:off x="9189720" y="2798064"/>
            <a:ext cx="2286000" cy="832104"/>
          </a:xfrm>
          <a:prstGeom prst="rect">
            <a:avLst/>
          </a:prstGeom>
          <a:noFill/>
        </p:spPr>
        <p:txBody>
          <a:bodyPr wrap="square" anchor="t" lIns="0" rIns="0" tIns="0" bIns="0">
            <a:spAutoFit/>
          </a:bodyPr>
          <a:lstStyle/>
          <a:p>
            <a:pPr algn="l">
              <a:lnSpc>
                <a:spcPct val="115000"/>
              </a:lnSpc>
              <a:spcAft>
                <a:spcPts val="0"/>
              </a:spcAft>
            </a:pPr>
            <a:r>
              <a:rPr sz="1050" b="0" i="0">
                <a:solidFill>
                  <a:srgbClr val="2D2D2D"/>
                </a:solidFill>
                <a:latin typeface="Arial"/>
              </a:rPr>
              <a:t>EBITDA margin by FY26, up</a:t>
            </a:r>
          </a:p>
          <a:p>
            <a:pPr algn="l">
              <a:lnSpc>
                <a:spcPct val="115000"/>
              </a:lnSpc>
              <a:spcAft>
                <a:spcPts val="0"/>
              </a:spcAft>
            </a:pPr>
            <a:r>
              <a:rPr sz="1050" b="0" i="0">
                <a:solidFill>
                  <a:srgbClr val="2D2D2D"/>
                </a:solidFill>
                <a:latin typeface="Arial"/>
              </a:rPr>
              <a:t>from 9.5% now, riding the</a:t>
            </a:r>
          </a:p>
          <a:p>
            <a:pPr algn="l">
              <a:lnSpc>
                <a:spcPct val="115000"/>
              </a:lnSpc>
              <a:spcAft>
                <a:spcPts val="0"/>
              </a:spcAft>
            </a:pPr>
            <a:r>
              <a:rPr sz="1050" b="0" i="0">
                <a:solidFill>
                  <a:srgbClr val="2D2D2D"/>
                </a:solidFill>
                <a:latin typeface="Arial"/>
              </a:rPr>
              <a:t>15% revenue growth target</a:t>
            </a:r>
          </a:p>
        </p:txBody>
      </p:sp>
      <p:sp>
        <p:nvSpPr>
          <p:cNvPr id="23" name="Rectangle 22"/>
          <p:cNvSpPr/>
          <p:nvPr/>
        </p:nvSpPr>
        <p:spPr>
          <a:xfrm>
            <a:off x="457200" y="3913632"/>
            <a:ext cx="5532120" cy="2286000"/>
          </a:xfrm>
          <a:prstGeom prst="rect">
            <a:avLst/>
          </a:prstGeom>
          <a:solidFill>
            <a:srgbClr val="FFFFFF"/>
          </a:solidFill>
          <a:ln w="12700">
            <a:solidFill>
              <a:srgbClr val="C9C3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4059936"/>
            <a:ext cx="5120640" cy="237744"/>
          </a:xfrm>
          <a:prstGeom prst="rect">
            <a:avLst/>
          </a:prstGeom>
          <a:noFill/>
        </p:spPr>
        <p:txBody>
          <a:bodyPr wrap="square" anchor="t" lIns="0" rIns="0" tIns="0" bIns="0">
            <a:spAutoFit/>
          </a:bodyPr>
          <a:lstStyle/>
          <a:p>
            <a:pPr algn="l">
              <a:lnSpc>
                <a:spcPct val="100000"/>
              </a:lnSpc>
              <a:spcAft>
                <a:spcPts val="0"/>
              </a:spcAft>
            </a:pPr>
            <a:r>
              <a:rPr sz="1050" b="1" i="0">
                <a:solidFill>
                  <a:srgbClr val="D04A02"/>
                </a:solidFill>
                <a:latin typeface="Arial"/>
              </a:rPr>
              <a:t>WHAT WE FOUND</a:t>
            </a:r>
          </a:p>
        </p:txBody>
      </p:sp>
      <p:sp>
        <p:nvSpPr>
          <p:cNvPr id="25" name="TextBox 24"/>
          <p:cNvSpPr txBox="1"/>
          <p:nvPr/>
        </p:nvSpPr>
        <p:spPr>
          <a:xfrm>
            <a:off x="658368" y="4352544"/>
            <a:ext cx="5138928" cy="1783080"/>
          </a:xfrm>
          <a:prstGeom prst="rect">
            <a:avLst/>
          </a:prstGeom>
          <a:noFill/>
        </p:spPr>
        <p:txBody>
          <a:bodyPr wrap="square" anchor="t" lIns="0" rIns="0" tIns="0" bIns="0">
            <a:spAutoFit/>
          </a:bodyPr>
          <a:lstStyle/>
          <a:p>
            <a:pPr algn="l">
              <a:lnSpc>
                <a:spcPct val="120000"/>
              </a:lnSpc>
              <a:spcAft>
                <a:spcPts val="800"/>
              </a:spcAft>
            </a:pPr>
            <a:r>
              <a:rPr sz="1100" b="0" i="0">
                <a:solidFill>
                  <a:srgbClr val="2D2D2D"/>
                </a:solidFill>
                <a:latin typeface="Arial"/>
              </a:rPr>
              <a:t>Every function has optimised itself in isolation, and the </a:t>
            </a:r>
            <a:r>
              <a:rPr sz="1100" b="1" i="0">
                <a:solidFill>
                  <a:srgbClr val="2D2D2D"/>
                </a:solidFill>
                <a:latin typeface="Arial"/>
              </a:rPr>
              <a:t>handoffs between them belong to nobody</a:t>
            </a:r>
            <a:r>
              <a:rPr sz="1100" b="0" i="0">
                <a:solidFill>
                  <a:srgbClr val="2D2D2D"/>
                </a:solidFill>
                <a:latin typeface="Arial"/>
              </a:rPr>
              <a:t> — that's the actual constraint, more than any one function's performance.</a:t>
            </a:r>
          </a:p>
          <a:p>
            <a:pPr algn="l">
              <a:lnSpc>
                <a:spcPct val="120000"/>
              </a:lnSpc>
              <a:spcAft>
                <a:spcPts val="800"/>
              </a:spcAft>
            </a:pPr>
            <a:r>
              <a:rPr sz="1100" b="0" i="0">
                <a:solidFill>
                  <a:srgbClr val="2D2D2D"/>
                </a:solidFill>
                <a:latin typeface="Arial"/>
              </a:rPr>
              <a:t>The 48% routine-work figure in Exhibit 4 is a plain average across six functions. Weight it by headcount and it becomes 54%, because the two biggest functions are also the most routine-heavy.</a:t>
            </a:r>
          </a:p>
          <a:p>
            <a:pPr algn="l">
              <a:lnSpc>
                <a:spcPct val="120000"/>
              </a:lnSpc>
              <a:spcAft>
                <a:spcPts val="800"/>
              </a:spcAft>
            </a:pPr>
            <a:r>
              <a:rPr sz="1100" b="0" i="0">
                <a:solidFill>
                  <a:srgbClr val="2D2D2D"/>
                </a:solidFill>
                <a:latin typeface="Arial"/>
              </a:rPr>
              <a:t>Retail Operations is the case's #2 priority by value, and dead last on readiness — 1.35 out of 5, fear at 4.3.</a:t>
            </a:r>
          </a:p>
        </p:txBody>
      </p:sp>
      <p:sp>
        <p:nvSpPr>
          <p:cNvPr id="26" name="Rectangle 25"/>
          <p:cNvSpPr/>
          <p:nvPr/>
        </p:nvSpPr>
        <p:spPr>
          <a:xfrm>
            <a:off x="6199632" y="3913632"/>
            <a:ext cx="5532120" cy="2286000"/>
          </a:xfrm>
          <a:prstGeom prst="rect">
            <a:avLst/>
          </a:prstGeom>
          <a:solidFill>
            <a:srgbClr val="FFFFFF"/>
          </a:solidFill>
          <a:ln w="12700">
            <a:solidFill>
              <a:srgbClr val="C9C3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4059936"/>
            <a:ext cx="5120640" cy="237744"/>
          </a:xfrm>
          <a:prstGeom prst="rect">
            <a:avLst/>
          </a:prstGeom>
          <a:noFill/>
        </p:spPr>
        <p:txBody>
          <a:bodyPr wrap="square" anchor="t" lIns="0" rIns="0" tIns="0" bIns="0">
            <a:spAutoFit/>
          </a:bodyPr>
          <a:lstStyle/>
          <a:p>
            <a:pPr algn="l">
              <a:lnSpc>
                <a:spcPct val="100000"/>
              </a:lnSpc>
              <a:spcAft>
                <a:spcPts val="0"/>
              </a:spcAft>
            </a:pPr>
            <a:r>
              <a:rPr sz="1050" b="1" i="0">
                <a:solidFill>
                  <a:srgbClr val="D04A02"/>
                </a:solidFill>
                <a:latin typeface="Arial"/>
              </a:rPr>
              <a:t>WHAT WE RECOMMEND</a:t>
            </a:r>
          </a:p>
        </p:txBody>
      </p:sp>
      <p:sp>
        <p:nvSpPr>
          <p:cNvPr id="28" name="TextBox 27"/>
          <p:cNvSpPr txBox="1"/>
          <p:nvPr/>
        </p:nvSpPr>
        <p:spPr>
          <a:xfrm>
            <a:off x="6400800" y="4352544"/>
            <a:ext cx="5138928" cy="1783080"/>
          </a:xfrm>
          <a:prstGeom prst="rect">
            <a:avLst/>
          </a:prstGeom>
          <a:noFill/>
        </p:spPr>
        <p:txBody>
          <a:bodyPr wrap="square" anchor="t" lIns="0" rIns="0" tIns="0" bIns="0">
            <a:spAutoFit/>
          </a:bodyPr>
          <a:lstStyle/>
          <a:p>
            <a:pPr algn="l">
              <a:lnSpc>
                <a:spcPct val="120000"/>
              </a:lnSpc>
              <a:spcAft>
                <a:spcPts val="800"/>
              </a:spcAft>
            </a:pPr>
            <a:r>
              <a:rPr sz="1100" b="0" i="0">
                <a:solidFill>
                  <a:srgbClr val="2D2D2D"/>
                </a:solidFill>
                <a:latin typeface="Arial"/>
              </a:rPr>
              <a:t>Scale Marketing &amp; CX and Merchandising first. Retail Operations joins them, but only as a 20-store pilot — not a 200-store rollout on day one.</a:t>
            </a:r>
          </a:p>
          <a:p>
            <a:pPr algn="l">
              <a:lnSpc>
                <a:spcPct val="120000"/>
              </a:lnSpc>
              <a:spcAft>
                <a:spcPts val="800"/>
              </a:spcAft>
            </a:pPr>
            <a:r>
              <a:rPr sz="1100" b="1" i="0">
                <a:solidFill>
                  <a:srgbClr val="2D2D2D"/>
                </a:solidFill>
                <a:latin typeface="Arial"/>
              </a:rPr>
              <a:t>One federated CoE: </a:t>
            </a:r>
            <a:r>
              <a:rPr sz="1100" b="0" i="0">
                <a:solidFill>
                  <a:srgbClr val="2D2D2D"/>
                </a:solidFill>
                <a:latin typeface="Arial"/>
              </a:rPr>
              <a:t>a central hub for platform and standards, with squads embedded inside each function.</a:t>
            </a:r>
          </a:p>
          <a:p>
            <a:pPr algn="l">
              <a:lnSpc>
                <a:spcPct val="120000"/>
              </a:lnSpc>
              <a:spcAft>
                <a:spcPts val="800"/>
              </a:spcAft>
            </a:pPr>
            <a:r>
              <a:rPr sz="1100" b="0" i="0">
                <a:solidFill>
                  <a:srgbClr val="2D2D2D"/>
                </a:solidFill>
                <a:latin typeface="Arial"/>
              </a:rPr>
              <a:t>Governance isn't one policy for five brands. Maison Luxe needs to stay human-led; SpeedStyle can go AI-forward. Swap those two and you damage both.</a:t>
            </a:r>
          </a:p>
        </p:txBody>
      </p:sp>
      <p:sp>
        <p:nvSpPr>
          <p:cNvPr id="29" name="Rectangle 28"/>
          <p:cNvSpPr/>
          <p:nvPr/>
        </p:nvSpPr>
        <p:spPr>
          <a:xfrm>
            <a:off x="457200" y="6336792"/>
            <a:ext cx="11274552" cy="10972"/>
          </a:xfrm>
          <a:prstGeom prst="rect">
            <a:avLst/>
          </a:prstGeom>
          <a:solidFill>
            <a:srgbClr val="C9C3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6419088"/>
            <a:ext cx="9966960" cy="329184"/>
          </a:xfrm>
          <a:prstGeom prst="rect">
            <a:avLst/>
          </a:prstGeom>
          <a:noFill/>
        </p:spPr>
        <p:txBody>
          <a:bodyPr wrap="square" anchor="t" lIns="0" rIns="0" tIns="0" bIns="0">
            <a:spAutoFit/>
          </a:bodyPr>
          <a:lstStyle/>
          <a:p>
            <a:pPr algn="l">
              <a:lnSpc>
                <a:spcPct val="110000"/>
              </a:lnSpc>
              <a:spcAft>
                <a:spcPts val="0"/>
              </a:spcAft>
            </a:pPr>
            <a:r>
              <a:rPr sz="1000" b="0" i="0">
                <a:solidFill>
                  <a:srgbClr val="7D7D7D"/>
                </a:solidFill>
                <a:latin typeface="Arial"/>
              </a:rPr>
              <a:t>All figures derived from case Exhibits 1–5. Assumptions: markdown reduction at 35% pass-through; return cost = 25% of item value; ₹1.2 L replacement cost per exit. See Appendix A3.</a:t>
            </a:r>
          </a:p>
        </p:txBody>
      </p:sp>
      <p:sp>
        <p:nvSpPr>
          <p:cNvPr id="31" name="TextBox 30"/>
          <p:cNvSpPr txBox="1"/>
          <p:nvPr/>
        </p:nvSpPr>
        <p:spPr>
          <a:xfrm>
            <a:off x="10515600" y="6419088"/>
            <a:ext cx="1216152" cy="219456"/>
          </a:xfrm>
          <a:prstGeom prst="rect">
            <a:avLst/>
          </a:prstGeom>
          <a:noFill/>
        </p:spPr>
        <p:txBody>
          <a:bodyPr wrap="square" anchor="t" lIns="0" rIns="0" tIns="0" bIns="0">
            <a:spAutoFit/>
          </a:bodyPr>
          <a:lstStyle/>
          <a:p>
            <a:pPr algn="r">
              <a:lnSpc>
                <a:spcPct val="100000"/>
              </a:lnSpc>
              <a:spcAft>
                <a:spcPts val="0"/>
              </a:spcAft>
            </a:pPr>
            <a:r>
              <a:rPr sz="1000" b="0" i="0">
                <a:solidFill>
                  <a:srgbClr val="7D7D7D"/>
                </a:solidFill>
                <a:latin typeface="Arial"/>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10896"/>
            <a:ext cx="457200" cy="50292"/>
          </a:xfrm>
          <a:prstGeom prst="rect">
            <a:avLst/>
          </a:prstGeom>
          <a:solidFill>
            <a:srgbClr val="D04A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0624"/>
            <a:ext cx="10515600" cy="237744"/>
          </a:xfrm>
          <a:prstGeom prst="rect">
            <a:avLst/>
          </a:prstGeom>
          <a:noFill/>
        </p:spPr>
        <p:txBody>
          <a:bodyPr wrap="square" anchor="t" lIns="0" rIns="0" tIns="0" bIns="0">
            <a:spAutoFit/>
          </a:bodyPr>
          <a:lstStyle/>
          <a:p>
            <a:pPr algn="l">
              <a:lnSpc>
                <a:spcPct val="100000"/>
              </a:lnSpc>
              <a:spcAft>
                <a:spcPts val="0"/>
              </a:spcAft>
            </a:pPr>
            <a:r>
              <a:rPr sz="1000" b="1" i="0">
                <a:solidFill>
                  <a:srgbClr val="D04A02"/>
                </a:solidFill>
                <a:latin typeface="Arial"/>
              </a:rPr>
              <a:t>EXECUTIVE SUMMARY  |  2 OF 2</a:t>
            </a:r>
          </a:p>
        </p:txBody>
      </p:sp>
      <p:sp>
        <p:nvSpPr>
          <p:cNvPr id="4" name="TextBox 3"/>
          <p:cNvSpPr txBox="1"/>
          <p:nvPr/>
        </p:nvSpPr>
        <p:spPr>
          <a:xfrm>
            <a:off x="457200" y="676656"/>
            <a:ext cx="11338560" cy="566928"/>
          </a:xfrm>
          <a:prstGeom prst="rect">
            <a:avLst/>
          </a:prstGeom>
          <a:noFill/>
        </p:spPr>
        <p:txBody>
          <a:bodyPr wrap="square" anchor="t" lIns="0" rIns="0" tIns="0" bIns="0">
            <a:spAutoFit/>
          </a:bodyPr>
          <a:lstStyle/>
          <a:p>
            <a:pPr algn="l">
              <a:lnSpc>
                <a:spcPct val="105000"/>
              </a:lnSpc>
              <a:spcAft>
                <a:spcPts val="0"/>
              </a:spcAft>
            </a:pPr>
            <a:r>
              <a:rPr sz="2000" b="1" i="0">
                <a:solidFill>
                  <a:srgbClr val="2D2D2D"/>
                </a:solidFill>
                <a:latin typeface="Georgia"/>
              </a:rPr>
              <a:t>Four deliverables, sequenced so trust comes before scale</a:t>
            </a:r>
          </a:p>
        </p:txBody>
      </p:sp>
      <p:graphicFrame>
        <p:nvGraphicFramePr>
          <p:cNvPr id="5" name="Table 4"/>
          <p:cNvGraphicFramePr>
            <a:graphicFrameLocks noGrp="1"/>
          </p:cNvGraphicFramePr>
          <p:nvPr/>
        </p:nvGraphicFramePr>
        <p:xfrm>
          <a:off x="457200" y="1371600"/>
          <a:ext cx="11274550" cy="2487168"/>
        </p:xfrm>
        <a:graphic>
          <a:graphicData uri="http://schemas.openxmlformats.org/drawingml/2006/table">
            <a:tbl>
              <a:tblPr firstRow="0" bandRow="0">
                <a:tableStyleId>{5C22544A-7EE6-4342-B048-85BDC9FD1C3A}</a:tableStyleId>
              </a:tblPr>
              <a:tblGrid>
                <a:gridCol w="1986705"/>
                <a:gridCol w="5562774"/>
                <a:gridCol w="2880722"/>
                <a:gridCol w="844349"/>
              </a:tblGrid>
              <a:tr h="497433">
                <a:tc>
                  <a:txBody>
                    <a:bodyPr wrap="square"/>
                    <a:lstStyle/>
                    <a:p>
                      <a:pPr algn="l">
                        <a:lnSpc>
                          <a:spcPct val="105000"/>
                        </a:lnSpc>
                      </a:pPr>
                      <a:r>
                        <a:rPr sz="1050" b="1" i="0">
                          <a:solidFill>
                            <a:srgbClr val="FFFFFF"/>
                          </a:solidFill>
                          <a:latin typeface="Arial"/>
                        </a:rPr>
                        <a:t>Deliverable</a:t>
                      </a:r>
                    </a:p>
                  </a:txBody>
                  <a:tcPr marL="64008" marR="64008" marT="32004" marB="32004" anchor="ctr">
                    <a:solidFill>
                      <a:srgbClr val="2D2D2D"/>
                    </a:solidFill>
                  </a:tcPr>
                </a:tc>
                <a:tc>
                  <a:txBody>
                    <a:bodyPr wrap="square"/>
                    <a:lstStyle/>
                    <a:p>
                      <a:pPr algn="ctr">
                        <a:lnSpc>
                          <a:spcPct val="105000"/>
                        </a:lnSpc>
                      </a:pPr>
                      <a:r>
                        <a:rPr sz="1050" b="1" i="0">
                          <a:solidFill>
                            <a:srgbClr val="FFFFFF"/>
                          </a:solidFill>
                          <a:latin typeface="Arial"/>
                        </a:rPr>
                        <a:t>Our answer</a:t>
                      </a:r>
                    </a:p>
                  </a:txBody>
                  <a:tcPr marL="64008" marR="64008" marT="32004" marB="32004" anchor="ctr">
                    <a:solidFill>
                      <a:srgbClr val="2D2D2D"/>
                    </a:solidFill>
                  </a:tcPr>
                </a:tc>
                <a:tc>
                  <a:txBody>
                    <a:bodyPr wrap="square"/>
                    <a:lstStyle/>
                    <a:p>
                      <a:pPr algn="ctr">
                        <a:lnSpc>
                          <a:spcPct val="105000"/>
                        </a:lnSpc>
                      </a:pPr>
                      <a:r>
                        <a:rPr sz="1050" b="1" i="0">
                          <a:solidFill>
                            <a:srgbClr val="FFFFFF"/>
                          </a:solidFill>
                          <a:latin typeface="Arial"/>
                        </a:rPr>
                        <a:t>The number that proves it</a:t>
                      </a:r>
                    </a:p>
                  </a:txBody>
                  <a:tcPr marL="64008" marR="64008" marT="32004" marB="32004" anchor="ctr">
                    <a:solidFill>
                      <a:srgbClr val="2D2D2D"/>
                    </a:solidFill>
                  </a:tcPr>
                </a:tc>
                <a:tc>
                  <a:txBody>
                    <a:bodyPr wrap="square"/>
                    <a:lstStyle/>
                    <a:p>
                      <a:pPr algn="ctr">
                        <a:lnSpc>
                          <a:spcPct val="105000"/>
                        </a:lnSpc>
                      </a:pPr>
                      <a:r>
                        <a:rPr sz="1050" b="1" i="0">
                          <a:solidFill>
                            <a:srgbClr val="FFFFFF"/>
                          </a:solidFill>
                          <a:latin typeface="Arial"/>
                        </a:rPr>
                        <a:t>Slide</a:t>
                      </a:r>
                    </a:p>
                  </a:txBody>
                  <a:tcPr marL="64008" marR="64008" marT="32004" marB="32004" anchor="ctr">
                    <a:solidFill>
                      <a:srgbClr val="2D2D2D"/>
                    </a:solidFill>
                  </a:tcPr>
                </a:tc>
              </a:tr>
              <a:tr h="497433">
                <a:tc>
                  <a:txBody>
                    <a:bodyPr wrap="square"/>
                    <a:lstStyle/>
                    <a:p>
                      <a:pPr algn="l">
                        <a:lnSpc>
                          <a:spcPct val="105000"/>
                        </a:lnSpc>
                      </a:pPr>
                      <a:r>
                        <a:rPr sz="1050" b="1" i="0">
                          <a:solidFill>
                            <a:srgbClr val="2D2D2D"/>
                          </a:solidFill>
                          <a:latin typeface="Arial"/>
                        </a:rPr>
                        <a:t>1. Task audit</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Three-gate test applied to every activity → 22% Automatable, 60% Augmentable, 18% Fundamentally Human</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6,056 FTE-equivalents released</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B2–B3</a:t>
                      </a:r>
                    </a:p>
                  </a:txBody>
                  <a:tcPr marL="64008" marR="64008" marT="32004" marB="32004" anchor="ctr">
                    <a:solidFill>
                      <a:srgbClr val="FFFFFF"/>
                    </a:solidFill>
                  </a:tcPr>
                </a:tc>
              </a:tr>
              <a:tr h="497433">
                <a:tc>
                  <a:txBody>
                    <a:bodyPr wrap="square"/>
                    <a:lstStyle/>
                    <a:p>
                      <a:pPr algn="l">
                        <a:lnSpc>
                          <a:spcPct val="105000"/>
                        </a:lnSpc>
                      </a:pPr>
                      <a:r>
                        <a:rPr sz="1050" b="1" i="0">
                          <a:solidFill>
                            <a:srgbClr val="2D2D2D"/>
                          </a:solidFill>
                          <a:latin typeface="Arial"/>
                        </a:rPr>
                        <a:t>2. Priority + operating model</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Phase 1 = Marketing &amp; CX, Merchandising, Retail Ops (pilot-first); federated hub-and-spoke CoE</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Model reproduces leadership's own ranking</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B4–B7</a:t>
                      </a:r>
                    </a:p>
                  </a:txBody>
                  <a:tcPr marL="64008" marR="64008" marT="32004" marB="32004" anchor="ctr">
                    <a:solidFill>
                      <a:srgbClr val="FAF8F7"/>
                    </a:solidFill>
                  </a:tcPr>
                </a:tc>
              </a:tr>
              <a:tr h="497433">
                <a:tc>
                  <a:txBody>
                    <a:bodyPr wrap="square"/>
                    <a:lstStyle/>
                    <a:p>
                      <a:pPr algn="l">
                        <a:lnSpc>
                          <a:spcPct val="105000"/>
                        </a:lnSpc>
                      </a:pPr>
                      <a:r>
                        <a:rPr sz="1050" b="1" i="0">
                          <a:solidFill>
                            <a:srgbClr val="2D2D2D"/>
                          </a:solidFill>
                          <a:latin typeface="Arial"/>
                        </a:rPr>
                        <a:t>3. Workforce strategy</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Four learning journeys, 12 → 40 learning hours, six new role families as redeployment destinations</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Zero roles lost; 31% → 25% attrition</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B8</a:t>
                      </a:r>
                    </a:p>
                  </a:txBody>
                  <a:tcPr marL="64008" marR="64008" marT="32004" marB="32004" anchor="ctr">
                    <a:solidFill>
                      <a:srgbClr val="FFFFFF"/>
                    </a:solidFill>
                  </a:tcPr>
                </a:tc>
              </a:tr>
              <a:tr h="497436">
                <a:tc>
                  <a:txBody>
                    <a:bodyPr wrap="square"/>
                    <a:lstStyle/>
                    <a:p>
                      <a:pPr algn="l">
                        <a:lnSpc>
                          <a:spcPct val="105000"/>
                        </a:lnSpc>
                      </a:pPr>
                      <a:r>
                        <a:rPr sz="1050" b="1" i="0">
                          <a:solidFill>
                            <a:srgbClr val="2D2D2D"/>
                          </a:solidFill>
                          <a:latin typeface="Arial"/>
                        </a:rPr>
                        <a:t>4. Governance + change</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Brand-differentiated AI policy, four-tier decision rights, Zero-Layoff Charter in month 1</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100% of AI decisions tiered and logged</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B9–B10</a:t>
                      </a:r>
                    </a:p>
                  </a:txBody>
                  <a:tcPr marL="64008" marR="64008" marT="32004" marB="32004" anchor="ctr">
                    <a:solidFill>
                      <a:srgbClr val="FAF8F7"/>
                    </a:solidFill>
                  </a:tcPr>
                </a:tc>
              </a:tr>
            </a:tbl>
          </a:graphicData>
        </a:graphic>
      </p:graphicFrame>
      <p:sp>
        <p:nvSpPr>
          <p:cNvPr id="6" name="TextBox 5"/>
          <p:cNvSpPr txBox="1"/>
          <p:nvPr/>
        </p:nvSpPr>
        <p:spPr>
          <a:xfrm>
            <a:off x="457200" y="4059936"/>
            <a:ext cx="11274552" cy="237744"/>
          </a:xfrm>
          <a:prstGeom prst="rect">
            <a:avLst/>
          </a:prstGeom>
          <a:noFill/>
        </p:spPr>
        <p:txBody>
          <a:bodyPr wrap="square" anchor="t" lIns="0" rIns="0" tIns="0" bIns="0">
            <a:spAutoFit/>
          </a:bodyPr>
          <a:lstStyle/>
          <a:p>
            <a:pPr algn="l">
              <a:lnSpc>
                <a:spcPct val="100000"/>
              </a:lnSpc>
              <a:spcAft>
                <a:spcPts val="0"/>
              </a:spcAft>
            </a:pPr>
            <a:r>
              <a:rPr sz="1050" b="1" i="0">
                <a:solidFill>
                  <a:srgbClr val="D04A02"/>
                </a:solidFill>
                <a:latin typeface="Arial"/>
              </a:rPr>
              <a:t>THE ROADMAP — TRUST FIRST, THEN SCALE</a:t>
            </a:r>
          </a:p>
        </p:txBody>
      </p:sp>
      <p:pic>
        <p:nvPicPr>
          <p:cNvPr id="7" name="Picture 6" descr="roadmap.png"/>
          <p:cNvPicPr>
            <a:picLocks noChangeAspect="1"/>
          </p:cNvPicPr>
          <p:nvPr/>
        </p:nvPicPr>
        <p:blipFill>
          <a:blip r:embed="rId2"/>
          <a:stretch>
            <a:fillRect/>
          </a:stretch>
        </p:blipFill>
        <p:spPr>
          <a:xfrm>
            <a:off x="457200" y="4315968"/>
            <a:ext cx="6720840" cy="1874519"/>
          </a:xfrm>
          <a:prstGeom prst="rect">
            <a:avLst/>
          </a:prstGeom>
        </p:spPr>
      </p:pic>
      <p:sp>
        <p:nvSpPr>
          <p:cNvPr id="8" name="Rectangle 7"/>
          <p:cNvSpPr/>
          <p:nvPr/>
        </p:nvSpPr>
        <p:spPr>
          <a:xfrm>
            <a:off x="7406640" y="4315968"/>
            <a:ext cx="4325112" cy="1874519"/>
          </a:xfrm>
          <a:prstGeom prst="rect">
            <a:avLst/>
          </a:prstGeom>
          <a:solidFill>
            <a:srgbClr val="F4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07808" y="4462272"/>
            <a:ext cx="3931920" cy="237744"/>
          </a:xfrm>
          <a:prstGeom prst="rect">
            <a:avLst/>
          </a:prstGeom>
          <a:noFill/>
        </p:spPr>
        <p:txBody>
          <a:bodyPr wrap="square" anchor="t" lIns="0" rIns="0" tIns="0" bIns="0">
            <a:spAutoFit/>
          </a:bodyPr>
          <a:lstStyle/>
          <a:p>
            <a:pPr algn="l">
              <a:lnSpc>
                <a:spcPct val="100000"/>
              </a:lnSpc>
              <a:spcAft>
                <a:spcPts val="0"/>
              </a:spcAft>
            </a:pPr>
            <a:r>
              <a:rPr sz="1050" b="1" i="0">
                <a:solidFill>
                  <a:srgbClr val="D04A02"/>
                </a:solidFill>
                <a:latin typeface="Arial"/>
              </a:rPr>
              <a:t>WHY THIS SEQUENCE</a:t>
            </a:r>
          </a:p>
        </p:txBody>
      </p:sp>
      <p:sp>
        <p:nvSpPr>
          <p:cNvPr id="10" name="TextBox 9"/>
          <p:cNvSpPr txBox="1"/>
          <p:nvPr/>
        </p:nvSpPr>
        <p:spPr>
          <a:xfrm>
            <a:off x="7607808" y="4754880"/>
            <a:ext cx="3950208" cy="1325880"/>
          </a:xfrm>
          <a:prstGeom prst="rect">
            <a:avLst/>
          </a:prstGeom>
          <a:noFill/>
        </p:spPr>
        <p:txBody>
          <a:bodyPr wrap="square" anchor="t" lIns="0" rIns="0" tIns="0" bIns="0">
            <a:spAutoFit/>
          </a:bodyPr>
          <a:lstStyle/>
          <a:p>
            <a:pPr algn="l">
              <a:lnSpc>
                <a:spcPct val="118000"/>
              </a:lnSpc>
              <a:spcAft>
                <a:spcPts val="700"/>
              </a:spcAft>
            </a:pPr>
            <a:r>
              <a:rPr sz="1050" b="0" i="0">
                <a:solidFill>
                  <a:srgbClr val="2D2D2D"/>
                </a:solidFill>
                <a:latin typeface="Arial"/>
              </a:rPr>
              <a:t>We start with the functions already comfortable with AI, so the first thing employees see is a win, not a threat.</a:t>
            </a:r>
          </a:p>
          <a:p>
            <a:pPr algn="l">
              <a:lnSpc>
                <a:spcPct val="118000"/>
              </a:lnSpc>
              <a:spcAft>
                <a:spcPts val="700"/>
              </a:spcAft>
            </a:pPr>
            <a:r>
              <a:rPr sz="1050" b="0" i="0">
                <a:solidFill>
                  <a:srgbClr val="2D2D2D"/>
                </a:solidFill>
                <a:latin typeface="Arial"/>
              </a:rPr>
              <a:t>Manufacturing has the largest headcount of any function and it still comes last. Fear there sits at 4.5 out of 5, digital skill at 1.8. Going in early would confirm exactly what people are afraid of.</a:t>
            </a:r>
          </a:p>
        </p:txBody>
      </p:sp>
      <p:sp>
        <p:nvSpPr>
          <p:cNvPr id="11" name="Rectangle 10"/>
          <p:cNvSpPr/>
          <p:nvPr/>
        </p:nvSpPr>
        <p:spPr>
          <a:xfrm>
            <a:off x="457200" y="6336792"/>
            <a:ext cx="11274552" cy="10972"/>
          </a:xfrm>
          <a:prstGeom prst="rect">
            <a:avLst/>
          </a:prstGeom>
          <a:solidFill>
            <a:srgbClr val="C9C3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6419088"/>
            <a:ext cx="9966960" cy="329184"/>
          </a:xfrm>
          <a:prstGeom prst="rect">
            <a:avLst/>
          </a:prstGeom>
          <a:noFill/>
        </p:spPr>
        <p:txBody>
          <a:bodyPr wrap="square" anchor="t" lIns="0" rIns="0" tIns="0" bIns="0">
            <a:spAutoFit/>
          </a:bodyPr>
          <a:lstStyle/>
          <a:p>
            <a:pPr algn="l">
              <a:lnSpc>
                <a:spcPct val="110000"/>
              </a:lnSpc>
              <a:spcAft>
                <a:spcPts val="0"/>
              </a:spcAft>
            </a:pPr>
            <a:r>
              <a:rPr sz="1000" b="0" i="0">
                <a:solidFill>
                  <a:srgbClr val="7D7D7D"/>
                </a:solidFill>
                <a:latin typeface="Arial"/>
              </a:rPr>
              <a:t>Phase-1 selection scored on the five criteria named in the case: business impact, customer value, workforce size, automation potential and implementation feasibility.</a:t>
            </a:r>
          </a:p>
        </p:txBody>
      </p:sp>
      <p:sp>
        <p:nvSpPr>
          <p:cNvPr id="13" name="TextBox 12"/>
          <p:cNvSpPr txBox="1"/>
          <p:nvPr/>
        </p:nvSpPr>
        <p:spPr>
          <a:xfrm>
            <a:off x="10515600" y="6419088"/>
            <a:ext cx="1216152" cy="219456"/>
          </a:xfrm>
          <a:prstGeom prst="rect">
            <a:avLst/>
          </a:prstGeom>
          <a:noFill/>
        </p:spPr>
        <p:txBody>
          <a:bodyPr wrap="square" anchor="t" lIns="0" rIns="0" tIns="0" bIns="0">
            <a:spAutoFit/>
          </a:bodyPr>
          <a:lstStyle/>
          <a:p>
            <a:pPr algn="r">
              <a:lnSpc>
                <a:spcPct val="100000"/>
              </a:lnSpc>
              <a:spcAft>
                <a:spcPts val="0"/>
              </a:spcAft>
            </a:pPr>
            <a:r>
              <a:rPr sz="1000" b="0" i="0">
                <a:solidFill>
                  <a:srgbClr val="7D7D7D"/>
                </a:solidFill>
                <a:latin typeface="Arial"/>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10896"/>
            <a:ext cx="457200" cy="50292"/>
          </a:xfrm>
          <a:prstGeom prst="rect">
            <a:avLst/>
          </a:prstGeom>
          <a:solidFill>
            <a:srgbClr val="D04A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0624"/>
            <a:ext cx="10515600" cy="237744"/>
          </a:xfrm>
          <a:prstGeom prst="rect">
            <a:avLst/>
          </a:prstGeom>
          <a:noFill/>
        </p:spPr>
        <p:txBody>
          <a:bodyPr wrap="square" anchor="t" lIns="0" rIns="0" tIns="0" bIns="0">
            <a:spAutoFit/>
          </a:bodyPr>
          <a:lstStyle/>
          <a:p>
            <a:pPr algn="l">
              <a:lnSpc>
                <a:spcPct val="100000"/>
              </a:lnSpc>
              <a:spcAft>
                <a:spcPts val="0"/>
              </a:spcAft>
            </a:pPr>
            <a:r>
              <a:rPr sz="1000" b="1" i="0">
                <a:solidFill>
                  <a:srgbClr val="D04A02"/>
                </a:solidFill>
                <a:latin typeface="Arial"/>
              </a:rPr>
              <a:t>BODY  |  B1  ·  DIAGNOSIS</a:t>
            </a:r>
          </a:p>
        </p:txBody>
      </p:sp>
      <p:sp>
        <p:nvSpPr>
          <p:cNvPr id="4" name="TextBox 3"/>
          <p:cNvSpPr txBox="1"/>
          <p:nvPr/>
        </p:nvSpPr>
        <p:spPr>
          <a:xfrm>
            <a:off x="457200" y="676656"/>
            <a:ext cx="11338560" cy="566928"/>
          </a:xfrm>
          <a:prstGeom prst="rect">
            <a:avLst/>
          </a:prstGeom>
          <a:noFill/>
        </p:spPr>
        <p:txBody>
          <a:bodyPr wrap="square" anchor="t" lIns="0" rIns="0" tIns="0" bIns="0">
            <a:spAutoFit/>
          </a:bodyPr>
          <a:lstStyle/>
          <a:p>
            <a:pPr algn="l">
              <a:lnSpc>
                <a:spcPct val="105000"/>
              </a:lnSpc>
              <a:spcAft>
                <a:spcPts val="0"/>
              </a:spcAft>
            </a:pPr>
            <a:r>
              <a:rPr sz="2000" b="1" i="0">
                <a:solidFill>
                  <a:srgbClr val="2D2D2D"/>
                </a:solidFill>
                <a:latin typeface="Georgia"/>
              </a:rPr>
              <a:t>Insight is taking too long to become action, and that lag is what's capping growth</a:t>
            </a:r>
          </a:p>
        </p:txBody>
      </p:sp>
      <p:sp>
        <p:nvSpPr>
          <p:cNvPr id="5" name="Rectangle 4"/>
          <p:cNvSpPr/>
          <p:nvPr/>
        </p:nvSpPr>
        <p:spPr>
          <a:xfrm>
            <a:off x="457200" y="1371600"/>
            <a:ext cx="2679192" cy="1572768"/>
          </a:xfrm>
          <a:prstGeom prst="rect">
            <a:avLst/>
          </a:prstGeom>
          <a:solidFill>
            <a:srgbClr val="FFFFFF"/>
          </a:solidFill>
          <a:ln w="12700">
            <a:solidFill>
              <a:srgbClr val="C9C3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517904"/>
            <a:ext cx="2286000" cy="219456"/>
          </a:xfrm>
          <a:prstGeom prst="rect">
            <a:avLst/>
          </a:prstGeom>
          <a:noFill/>
        </p:spPr>
        <p:txBody>
          <a:bodyPr wrap="square" anchor="t" lIns="0" rIns="0" tIns="0" bIns="0">
            <a:spAutoFit/>
          </a:bodyPr>
          <a:lstStyle/>
          <a:p>
            <a:pPr algn="l">
              <a:lnSpc>
                <a:spcPct val="100000"/>
              </a:lnSpc>
              <a:spcAft>
                <a:spcPts val="0"/>
              </a:spcAft>
            </a:pPr>
            <a:r>
              <a:rPr sz="1000" b="1" i="0">
                <a:solidFill>
                  <a:srgbClr val="D04A02"/>
                </a:solidFill>
                <a:latin typeface="Arial"/>
              </a:rPr>
              <a:t>SPEED</a:t>
            </a:r>
          </a:p>
        </p:txBody>
      </p:sp>
      <p:sp>
        <p:nvSpPr>
          <p:cNvPr id="7" name="TextBox 6"/>
          <p:cNvSpPr txBox="1"/>
          <p:nvPr/>
        </p:nvSpPr>
        <p:spPr>
          <a:xfrm>
            <a:off x="658368" y="1773936"/>
            <a:ext cx="2286000" cy="420624"/>
          </a:xfrm>
          <a:prstGeom prst="rect">
            <a:avLst/>
          </a:prstGeom>
          <a:noFill/>
        </p:spPr>
        <p:txBody>
          <a:bodyPr wrap="square" anchor="t" lIns="0" rIns="0" tIns="0" bIns="0">
            <a:spAutoFit/>
          </a:bodyPr>
          <a:lstStyle/>
          <a:p>
            <a:pPr algn="l">
              <a:lnSpc>
                <a:spcPct val="100000"/>
              </a:lnSpc>
              <a:spcAft>
                <a:spcPts val="0"/>
              </a:spcAft>
            </a:pPr>
            <a:r>
              <a:rPr sz="2700" b="1" i="0">
                <a:solidFill>
                  <a:srgbClr val="2D2D2D"/>
                </a:solidFill>
                <a:latin typeface="Georgia"/>
              </a:rPr>
              <a:t>14 weeks</a:t>
            </a:r>
          </a:p>
        </p:txBody>
      </p:sp>
      <p:sp>
        <p:nvSpPr>
          <p:cNvPr id="8" name="TextBox 7"/>
          <p:cNvSpPr txBox="1"/>
          <p:nvPr/>
        </p:nvSpPr>
        <p:spPr>
          <a:xfrm>
            <a:off x="658368" y="2249424"/>
            <a:ext cx="2331720" cy="658368"/>
          </a:xfrm>
          <a:prstGeom prst="rect">
            <a:avLst/>
          </a:prstGeom>
          <a:noFill/>
        </p:spPr>
        <p:txBody>
          <a:bodyPr wrap="square" anchor="t" lIns="0" rIns="0" tIns="0" bIns="0">
            <a:spAutoFit/>
          </a:bodyPr>
          <a:lstStyle/>
          <a:p>
            <a:pPr algn="l">
              <a:lnSpc>
                <a:spcPct val="120000"/>
              </a:lnSpc>
              <a:spcAft>
                <a:spcPts val="0"/>
              </a:spcAft>
            </a:pPr>
            <a:r>
              <a:rPr sz="1050" b="0" i="0">
                <a:solidFill>
                  <a:srgbClr val="2D2D2D"/>
                </a:solidFill>
                <a:latin typeface="Arial"/>
              </a:rPr>
              <a:t>trend-to-store, against</a:t>
            </a:r>
          </a:p>
          <a:p>
            <a:pPr algn="l">
              <a:lnSpc>
                <a:spcPct val="120000"/>
              </a:lnSpc>
              <a:spcAft>
                <a:spcPts val="0"/>
              </a:spcAft>
            </a:pPr>
            <a:r>
              <a:rPr sz="1050" b="0" i="0">
                <a:solidFill>
                  <a:srgbClr val="2D2D2D"/>
                </a:solidFill>
                <a:latin typeface="Arial"/>
              </a:rPr>
              <a:t>&lt;4 weeks for digitally</a:t>
            </a:r>
          </a:p>
          <a:p>
            <a:pPr algn="l">
              <a:lnSpc>
                <a:spcPct val="120000"/>
              </a:lnSpc>
              <a:spcAft>
                <a:spcPts val="0"/>
              </a:spcAft>
            </a:pPr>
            <a:r>
              <a:rPr sz="1050" b="0" i="0">
                <a:solidFill>
                  <a:srgbClr val="2D2D2D"/>
                </a:solidFill>
                <a:latin typeface="Arial"/>
              </a:rPr>
              <a:t>native competitors</a:t>
            </a:r>
          </a:p>
        </p:txBody>
      </p:sp>
      <p:sp>
        <p:nvSpPr>
          <p:cNvPr id="9" name="Rectangle 8"/>
          <p:cNvSpPr/>
          <p:nvPr/>
        </p:nvSpPr>
        <p:spPr>
          <a:xfrm>
            <a:off x="3300984" y="1371600"/>
            <a:ext cx="2679192" cy="1572768"/>
          </a:xfrm>
          <a:prstGeom prst="rect">
            <a:avLst/>
          </a:prstGeom>
          <a:solidFill>
            <a:srgbClr val="FFFFFF"/>
          </a:solidFill>
          <a:ln w="12700">
            <a:solidFill>
              <a:srgbClr val="C9C3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02152" y="1517904"/>
            <a:ext cx="2286000" cy="219456"/>
          </a:xfrm>
          <a:prstGeom prst="rect">
            <a:avLst/>
          </a:prstGeom>
          <a:noFill/>
        </p:spPr>
        <p:txBody>
          <a:bodyPr wrap="square" anchor="t" lIns="0" rIns="0" tIns="0" bIns="0">
            <a:spAutoFit/>
          </a:bodyPr>
          <a:lstStyle/>
          <a:p>
            <a:pPr algn="l">
              <a:lnSpc>
                <a:spcPct val="100000"/>
              </a:lnSpc>
              <a:spcAft>
                <a:spcPts val="0"/>
              </a:spcAft>
            </a:pPr>
            <a:r>
              <a:rPr sz="1000" b="1" i="0">
                <a:solidFill>
                  <a:srgbClr val="D04A02"/>
                </a:solidFill>
                <a:latin typeface="Arial"/>
              </a:rPr>
              <a:t>ACCURACY</a:t>
            </a:r>
          </a:p>
        </p:txBody>
      </p:sp>
      <p:sp>
        <p:nvSpPr>
          <p:cNvPr id="11" name="TextBox 10"/>
          <p:cNvSpPr txBox="1"/>
          <p:nvPr/>
        </p:nvSpPr>
        <p:spPr>
          <a:xfrm>
            <a:off x="3502152" y="1773936"/>
            <a:ext cx="2286000" cy="420624"/>
          </a:xfrm>
          <a:prstGeom prst="rect">
            <a:avLst/>
          </a:prstGeom>
          <a:noFill/>
        </p:spPr>
        <p:txBody>
          <a:bodyPr wrap="square" anchor="t" lIns="0" rIns="0" tIns="0" bIns="0">
            <a:spAutoFit/>
          </a:bodyPr>
          <a:lstStyle/>
          <a:p>
            <a:pPr algn="l">
              <a:lnSpc>
                <a:spcPct val="100000"/>
              </a:lnSpc>
              <a:spcAft>
                <a:spcPts val="0"/>
              </a:spcAft>
            </a:pPr>
            <a:r>
              <a:rPr sz="2700" b="1" i="0">
                <a:solidFill>
                  <a:srgbClr val="2D2D2D"/>
                </a:solidFill>
                <a:latin typeface="Georgia"/>
              </a:rPr>
              <a:t>62%</a:t>
            </a:r>
          </a:p>
        </p:txBody>
      </p:sp>
      <p:sp>
        <p:nvSpPr>
          <p:cNvPr id="12" name="TextBox 11"/>
          <p:cNvSpPr txBox="1"/>
          <p:nvPr/>
        </p:nvSpPr>
        <p:spPr>
          <a:xfrm>
            <a:off x="3502152" y="2249424"/>
            <a:ext cx="2331720" cy="658368"/>
          </a:xfrm>
          <a:prstGeom prst="rect">
            <a:avLst/>
          </a:prstGeom>
          <a:noFill/>
        </p:spPr>
        <p:txBody>
          <a:bodyPr wrap="square" anchor="t" lIns="0" rIns="0" tIns="0" bIns="0">
            <a:spAutoFit/>
          </a:bodyPr>
          <a:lstStyle/>
          <a:p>
            <a:pPr algn="l">
              <a:lnSpc>
                <a:spcPct val="120000"/>
              </a:lnSpc>
              <a:spcAft>
                <a:spcPts val="0"/>
              </a:spcAft>
            </a:pPr>
            <a:r>
              <a:rPr sz="1050" b="0" i="0">
                <a:solidFill>
                  <a:srgbClr val="2D2D2D"/>
                </a:solidFill>
                <a:latin typeface="Arial"/>
              </a:rPr>
              <a:t>forecast accuracy drives</a:t>
            </a:r>
          </a:p>
          <a:p>
            <a:pPr algn="l">
              <a:lnSpc>
                <a:spcPct val="120000"/>
              </a:lnSpc>
              <a:spcAft>
                <a:spcPts val="0"/>
              </a:spcAft>
            </a:pPr>
            <a:r>
              <a:rPr sz="1050" b="0" i="0">
                <a:solidFill>
                  <a:srgbClr val="2D2D2D"/>
                </a:solidFill>
                <a:latin typeface="Arial"/>
              </a:rPr>
              <a:t>26% unsold inventory and</a:t>
            </a:r>
          </a:p>
          <a:p>
            <a:pPr algn="l">
              <a:lnSpc>
                <a:spcPct val="120000"/>
              </a:lnSpc>
              <a:spcAft>
                <a:spcPts val="0"/>
              </a:spcAft>
            </a:pPr>
            <a:r>
              <a:rPr sz="1050" b="0" i="0">
                <a:solidFill>
                  <a:srgbClr val="2D2D2D"/>
                </a:solidFill>
                <a:latin typeface="Arial"/>
              </a:rPr>
              <a:t>₹380 Cr of markdowns</a:t>
            </a:r>
          </a:p>
        </p:txBody>
      </p:sp>
      <p:sp>
        <p:nvSpPr>
          <p:cNvPr id="13" name="Rectangle 12"/>
          <p:cNvSpPr/>
          <p:nvPr/>
        </p:nvSpPr>
        <p:spPr>
          <a:xfrm>
            <a:off x="6144768" y="1371600"/>
            <a:ext cx="2679192" cy="1572768"/>
          </a:xfrm>
          <a:prstGeom prst="rect">
            <a:avLst/>
          </a:prstGeom>
          <a:solidFill>
            <a:srgbClr val="FFFFFF"/>
          </a:solidFill>
          <a:ln w="12700">
            <a:solidFill>
              <a:srgbClr val="C9C3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5936" y="1517904"/>
            <a:ext cx="2286000" cy="219456"/>
          </a:xfrm>
          <a:prstGeom prst="rect">
            <a:avLst/>
          </a:prstGeom>
          <a:noFill/>
        </p:spPr>
        <p:txBody>
          <a:bodyPr wrap="square" anchor="t" lIns="0" rIns="0" tIns="0" bIns="0">
            <a:spAutoFit/>
          </a:bodyPr>
          <a:lstStyle/>
          <a:p>
            <a:pPr algn="l">
              <a:lnSpc>
                <a:spcPct val="100000"/>
              </a:lnSpc>
              <a:spcAft>
                <a:spcPts val="0"/>
              </a:spcAft>
            </a:pPr>
            <a:r>
              <a:rPr sz="1000" b="1" i="0">
                <a:solidFill>
                  <a:srgbClr val="D04A02"/>
                </a:solidFill>
                <a:latin typeface="Arial"/>
              </a:rPr>
              <a:t>SERVICE</a:t>
            </a:r>
          </a:p>
        </p:txBody>
      </p:sp>
      <p:sp>
        <p:nvSpPr>
          <p:cNvPr id="15" name="TextBox 14"/>
          <p:cNvSpPr txBox="1"/>
          <p:nvPr/>
        </p:nvSpPr>
        <p:spPr>
          <a:xfrm>
            <a:off x="6345936" y="1773936"/>
            <a:ext cx="2286000" cy="420624"/>
          </a:xfrm>
          <a:prstGeom prst="rect">
            <a:avLst/>
          </a:prstGeom>
          <a:noFill/>
        </p:spPr>
        <p:txBody>
          <a:bodyPr wrap="square" anchor="t" lIns="0" rIns="0" tIns="0" bIns="0">
            <a:spAutoFit/>
          </a:bodyPr>
          <a:lstStyle/>
          <a:p>
            <a:pPr algn="l">
              <a:lnSpc>
                <a:spcPct val="100000"/>
              </a:lnSpc>
              <a:spcAft>
                <a:spcPts val="0"/>
              </a:spcAft>
            </a:pPr>
            <a:r>
              <a:rPr sz="2700" b="1" i="0">
                <a:solidFill>
                  <a:srgbClr val="2D2D2D"/>
                </a:solidFill>
                <a:latin typeface="Georgia"/>
              </a:rPr>
              <a:t>88,000</a:t>
            </a:r>
          </a:p>
        </p:txBody>
      </p:sp>
      <p:sp>
        <p:nvSpPr>
          <p:cNvPr id="16" name="TextBox 15"/>
          <p:cNvSpPr txBox="1"/>
          <p:nvPr/>
        </p:nvSpPr>
        <p:spPr>
          <a:xfrm>
            <a:off x="6345936" y="2249424"/>
            <a:ext cx="2331720" cy="658368"/>
          </a:xfrm>
          <a:prstGeom prst="rect">
            <a:avLst/>
          </a:prstGeom>
          <a:noFill/>
        </p:spPr>
        <p:txBody>
          <a:bodyPr wrap="square" anchor="t" lIns="0" rIns="0" tIns="0" bIns="0">
            <a:spAutoFit/>
          </a:bodyPr>
          <a:lstStyle/>
          <a:p>
            <a:pPr algn="l">
              <a:lnSpc>
                <a:spcPct val="120000"/>
              </a:lnSpc>
              <a:spcAft>
                <a:spcPts val="0"/>
              </a:spcAft>
            </a:pPr>
            <a:r>
              <a:rPr sz="1050" b="0" i="0">
                <a:solidFill>
                  <a:srgbClr val="2D2D2D"/>
                </a:solidFill>
                <a:latin typeface="Arial"/>
              </a:rPr>
              <a:t>customer queries a month;</a:t>
            </a:r>
          </a:p>
          <a:p>
            <a:pPr algn="l">
              <a:lnSpc>
                <a:spcPct val="120000"/>
              </a:lnSpc>
              <a:spcAft>
                <a:spcPts val="0"/>
              </a:spcAft>
            </a:pPr>
            <a:r>
              <a:rPr sz="1050" b="0" i="0">
                <a:solidFill>
                  <a:srgbClr val="2D2D2D"/>
                </a:solidFill>
                <a:latin typeface="Arial"/>
              </a:rPr>
              <a:t>48 hrs to resolve; 58%</a:t>
            </a:r>
          </a:p>
          <a:p>
            <a:pPr algn="l">
              <a:lnSpc>
                <a:spcPct val="120000"/>
              </a:lnSpc>
              <a:spcAft>
                <a:spcPts val="0"/>
              </a:spcAft>
            </a:pPr>
            <a:r>
              <a:rPr sz="1050" b="0" i="0">
                <a:solidFill>
                  <a:srgbClr val="2D2D2D"/>
                </a:solidFill>
                <a:latin typeface="Arial"/>
              </a:rPr>
              <a:t>first-time fit accuracy</a:t>
            </a:r>
          </a:p>
        </p:txBody>
      </p:sp>
      <p:sp>
        <p:nvSpPr>
          <p:cNvPr id="17" name="Rectangle 16"/>
          <p:cNvSpPr/>
          <p:nvPr/>
        </p:nvSpPr>
        <p:spPr>
          <a:xfrm>
            <a:off x="8988552" y="1371600"/>
            <a:ext cx="2679192" cy="1572768"/>
          </a:xfrm>
          <a:prstGeom prst="rect">
            <a:avLst/>
          </a:prstGeom>
          <a:solidFill>
            <a:srgbClr val="FFFFFF"/>
          </a:solidFill>
          <a:ln w="12700">
            <a:solidFill>
              <a:srgbClr val="C9C3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720" y="1517904"/>
            <a:ext cx="2286000" cy="219456"/>
          </a:xfrm>
          <a:prstGeom prst="rect">
            <a:avLst/>
          </a:prstGeom>
          <a:noFill/>
        </p:spPr>
        <p:txBody>
          <a:bodyPr wrap="square" anchor="t" lIns="0" rIns="0" tIns="0" bIns="0">
            <a:spAutoFit/>
          </a:bodyPr>
          <a:lstStyle/>
          <a:p>
            <a:pPr algn="l">
              <a:lnSpc>
                <a:spcPct val="100000"/>
              </a:lnSpc>
              <a:spcAft>
                <a:spcPts val="0"/>
              </a:spcAft>
            </a:pPr>
            <a:r>
              <a:rPr sz="1000" b="1" i="0">
                <a:solidFill>
                  <a:srgbClr val="D04A02"/>
                </a:solidFill>
                <a:latin typeface="Arial"/>
              </a:rPr>
              <a:t>PEOPLE</a:t>
            </a:r>
          </a:p>
        </p:txBody>
      </p:sp>
      <p:sp>
        <p:nvSpPr>
          <p:cNvPr id="19" name="TextBox 18"/>
          <p:cNvSpPr txBox="1"/>
          <p:nvPr/>
        </p:nvSpPr>
        <p:spPr>
          <a:xfrm>
            <a:off x="9189720" y="1773936"/>
            <a:ext cx="2286000" cy="420624"/>
          </a:xfrm>
          <a:prstGeom prst="rect">
            <a:avLst/>
          </a:prstGeom>
          <a:noFill/>
        </p:spPr>
        <p:txBody>
          <a:bodyPr wrap="square" anchor="t" lIns="0" rIns="0" tIns="0" bIns="0">
            <a:spAutoFit/>
          </a:bodyPr>
          <a:lstStyle/>
          <a:p>
            <a:pPr algn="l">
              <a:lnSpc>
                <a:spcPct val="100000"/>
              </a:lnSpc>
              <a:spcAft>
                <a:spcPts val="0"/>
              </a:spcAft>
            </a:pPr>
            <a:r>
              <a:rPr sz="2700" b="1" i="0">
                <a:solidFill>
                  <a:srgbClr val="2D2D2D"/>
                </a:solidFill>
                <a:latin typeface="Georgia"/>
              </a:rPr>
              <a:t>42%</a:t>
            </a:r>
          </a:p>
        </p:txBody>
      </p:sp>
      <p:sp>
        <p:nvSpPr>
          <p:cNvPr id="20" name="TextBox 19"/>
          <p:cNvSpPr txBox="1"/>
          <p:nvPr/>
        </p:nvSpPr>
        <p:spPr>
          <a:xfrm>
            <a:off x="9189720" y="2249424"/>
            <a:ext cx="2331720" cy="658368"/>
          </a:xfrm>
          <a:prstGeom prst="rect">
            <a:avLst/>
          </a:prstGeom>
          <a:noFill/>
        </p:spPr>
        <p:txBody>
          <a:bodyPr wrap="square" anchor="t" lIns="0" rIns="0" tIns="0" bIns="0">
            <a:spAutoFit/>
          </a:bodyPr>
          <a:lstStyle/>
          <a:p>
            <a:pPr algn="l">
              <a:lnSpc>
                <a:spcPct val="120000"/>
              </a:lnSpc>
              <a:spcAft>
                <a:spcPts val="0"/>
              </a:spcAft>
            </a:pPr>
            <a:r>
              <a:rPr sz="1050" b="0" i="0">
                <a:solidFill>
                  <a:srgbClr val="2D2D2D"/>
                </a:solidFill>
                <a:latin typeface="Arial"/>
              </a:rPr>
              <a:t>attrition in Retail Ops on</a:t>
            </a:r>
          </a:p>
          <a:p>
            <a:pPr algn="l">
              <a:lnSpc>
                <a:spcPct val="120000"/>
              </a:lnSpc>
              <a:spcAft>
                <a:spcPts val="0"/>
              </a:spcAft>
            </a:pPr>
            <a:r>
              <a:rPr sz="1050" b="0" i="0">
                <a:solidFill>
                  <a:srgbClr val="2D2D2D"/>
                </a:solidFill>
                <a:latin typeface="Arial"/>
              </a:rPr>
              <a:t>just 12 hours of structured</a:t>
            </a:r>
          </a:p>
          <a:p>
            <a:pPr algn="l">
              <a:lnSpc>
                <a:spcPct val="120000"/>
              </a:lnSpc>
              <a:spcAft>
                <a:spcPts val="0"/>
              </a:spcAft>
            </a:pPr>
            <a:r>
              <a:rPr sz="1050" b="0" i="0">
                <a:solidFill>
                  <a:srgbClr val="2D2D2D"/>
                </a:solidFill>
                <a:latin typeface="Arial"/>
              </a:rPr>
              <a:t>learning a year</a:t>
            </a:r>
          </a:p>
        </p:txBody>
      </p:sp>
      <p:sp>
        <p:nvSpPr>
          <p:cNvPr id="21" name="Rectangle 20"/>
          <p:cNvSpPr/>
          <p:nvPr/>
        </p:nvSpPr>
        <p:spPr>
          <a:xfrm>
            <a:off x="457200" y="3108960"/>
            <a:ext cx="11274552" cy="1188720"/>
          </a:xfrm>
          <a:prstGeom prst="rect">
            <a:avLst/>
          </a:prstGeom>
          <a:solidFill>
            <a:srgbClr val="2D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3236976"/>
            <a:ext cx="10789920" cy="960120"/>
          </a:xfrm>
          <a:prstGeom prst="rect">
            <a:avLst/>
          </a:prstGeom>
          <a:noFill/>
        </p:spPr>
        <p:txBody>
          <a:bodyPr wrap="square" anchor="t" lIns="0" rIns="0" tIns="0" bIns="0">
            <a:spAutoFit/>
          </a:bodyPr>
          <a:lstStyle/>
          <a:p>
            <a:pPr algn="l">
              <a:lnSpc>
                <a:spcPct val="118000"/>
              </a:lnSpc>
              <a:spcAft>
                <a:spcPts val="500"/>
              </a:spcAft>
            </a:pPr>
            <a:r>
              <a:rPr sz="1150" b="0" i="0">
                <a:solidFill>
                  <a:srgbClr val="FFFFFF"/>
                </a:solidFill>
                <a:latin typeface="Arial"/>
              </a:rPr>
              <a:t>Each function built its own systems and processes over the years. Nobody ended up owning the </a:t>
            </a:r>
            <a:r>
              <a:rPr sz="1150" b="1" i="0">
                <a:solidFill>
                  <a:srgbClr val="FFB600"/>
                </a:solidFill>
                <a:latin typeface="Arial"/>
              </a:rPr>
              <a:t>handoffs between them</a:t>
            </a:r>
            <a:r>
              <a:rPr sz="1150" b="0" i="0">
                <a:solidFill>
                  <a:srgbClr val="FFFFFF"/>
                </a:solidFill>
                <a:latin typeface="Arial"/>
              </a:rPr>
              <a:t>, so people bridge the gaps by hand, every single time.</a:t>
            </a:r>
          </a:p>
          <a:p>
            <a:pPr algn="l">
              <a:lnSpc>
                <a:spcPct val="118000"/>
              </a:lnSpc>
              <a:spcAft>
                <a:spcPts val="500"/>
              </a:spcAft>
            </a:pPr>
            <a:r>
              <a:rPr sz="1100" b="0" i="0">
                <a:solidFill>
                  <a:srgbClr val="DEDAD6"/>
                </a:solidFill>
                <a:latin typeface="Arial"/>
              </a:rPr>
              <a:t>Automate each function on its own and you'd just automate the silos — the fragmentation would still be there, only faster. Redesign has to happen at the level of the workflow, not the department.</a:t>
            </a:r>
          </a:p>
        </p:txBody>
      </p:sp>
      <p:sp>
        <p:nvSpPr>
          <p:cNvPr id="23" name="Rectangle 22"/>
          <p:cNvSpPr/>
          <p:nvPr/>
        </p:nvSpPr>
        <p:spPr>
          <a:xfrm>
            <a:off x="457200" y="4334256"/>
            <a:ext cx="5532120" cy="1865376"/>
          </a:xfrm>
          <a:prstGeom prst="rect">
            <a:avLst/>
          </a:prstGeom>
          <a:solidFill>
            <a:srgbClr val="F4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4480560"/>
            <a:ext cx="5120640" cy="237744"/>
          </a:xfrm>
          <a:prstGeom prst="rect">
            <a:avLst/>
          </a:prstGeom>
          <a:noFill/>
        </p:spPr>
        <p:txBody>
          <a:bodyPr wrap="square" anchor="t" lIns="0" rIns="0" tIns="0" bIns="0">
            <a:spAutoFit/>
          </a:bodyPr>
          <a:lstStyle/>
          <a:p>
            <a:pPr algn="l">
              <a:lnSpc>
                <a:spcPct val="100000"/>
              </a:lnSpc>
              <a:spcAft>
                <a:spcPts val="0"/>
              </a:spcAft>
            </a:pPr>
            <a:r>
              <a:rPr sz="1050" b="1" i="0">
                <a:solidFill>
                  <a:srgbClr val="D04A02"/>
                </a:solidFill>
                <a:latin typeface="Arial"/>
              </a:rPr>
              <a:t>THE PRIZE IS ALSO BIGGER THAN IT LOOKS</a:t>
            </a:r>
          </a:p>
        </p:txBody>
      </p:sp>
      <p:sp>
        <p:nvSpPr>
          <p:cNvPr id="25" name="TextBox 24"/>
          <p:cNvSpPr txBox="1"/>
          <p:nvPr/>
        </p:nvSpPr>
        <p:spPr>
          <a:xfrm>
            <a:off x="658368" y="4773168"/>
            <a:ext cx="5138928" cy="1280160"/>
          </a:xfrm>
          <a:prstGeom prst="rect">
            <a:avLst/>
          </a:prstGeom>
          <a:noFill/>
        </p:spPr>
        <p:txBody>
          <a:bodyPr wrap="square" anchor="t" lIns="0" rIns="0" tIns="0" bIns="0">
            <a:spAutoFit/>
          </a:bodyPr>
          <a:lstStyle/>
          <a:p>
            <a:pPr algn="l">
              <a:lnSpc>
                <a:spcPct val="120000"/>
              </a:lnSpc>
              <a:spcAft>
                <a:spcPts val="700"/>
              </a:spcAft>
            </a:pPr>
            <a:r>
              <a:rPr sz="1100" b="0" i="0">
                <a:solidFill>
                  <a:srgbClr val="2D2D2D"/>
                </a:solidFill>
                <a:latin typeface="Arial"/>
              </a:rPr>
              <a:t>Exhibit 4's 48% is a plain average across six functions. Weight it by headcount instead — Manufacturing (11,000 people, 60% routine) and Retail (10,000, 55%) pull hardest — and it becomes </a:t>
            </a:r>
            <a:r>
              <a:rPr sz="1100" b="1" i="0">
                <a:solidFill>
                  <a:srgbClr val="D04A02"/>
                </a:solidFill>
                <a:latin typeface="Arial"/>
              </a:rPr>
              <a:t>54.1%.</a:t>
            </a:r>
          </a:p>
        </p:txBody>
      </p:sp>
      <p:sp>
        <p:nvSpPr>
          <p:cNvPr id="26" name="Rectangle 25"/>
          <p:cNvSpPr/>
          <p:nvPr/>
        </p:nvSpPr>
        <p:spPr>
          <a:xfrm>
            <a:off x="6199632" y="4334256"/>
            <a:ext cx="5532120" cy="1865376"/>
          </a:xfrm>
          <a:prstGeom prst="rect">
            <a:avLst/>
          </a:prstGeom>
          <a:solidFill>
            <a:srgbClr val="F4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4480560"/>
            <a:ext cx="5120640" cy="237744"/>
          </a:xfrm>
          <a:prstGeom prst="rect">
            <a:avLst/>
          </a:prstGeom>
          <a:noFill/>
        </p:spPr>
        <p:txBody>
          <a:bodyPr wrap="square" anchor="t" lIns="0" rIns="0" tIns="0" bIns="0">
            <a:spAutoFit/>
          </a:bodyPr>
          <a:lstStyle/>
          <a:p>
            <a:pPr algn="l">
              <a:lnSpc>
                <a:spcPct val="100000"/>
              </a:lnSpc>
              <a:spcAft>
                <a:spcPts val="0"/>
              </a:spcAft>
            </a:pPr>
            <a:r>
              <a:rPr sz="1050" b="1" i="0">
                <a:solidFill>
                  <a:srgbClr val="D04A02"/>
                </a:solidFill>
                <a:latin typeface="Arial"/>
              </a:rPr>
              <a:t>WHY THAT MATTERS</a:t>
            </a:r>
          </a:p>
        </p:txBody>
      </p:sp>
      <p:sp>
        <p:nvSpPr>
          <p:cNvPr id="28" name="TextBox 27"/>
          <p:cNvSpPr txBox="1"/>
          <p:nvPr/>
        </p:nvSpPr>
        <p:spPr>
          <a:xfrm>
            <a:off x="6400800" y="4773168"/>
            <a:ext cx="5138928" cy="1280160"/>
          </a:xfrm>
          <a:prstGeom prst="rect">
            <a:avLst/>
          </a:prstGeom>
          <a:noFill/>
        </p:spPr>
        <p:txBody>
          <a:bodyPr wrap="square" anchor="t" lIns="0" rIns="0" tIns="0" bIns="0">
            <a:spAutoFit/>
          </a:bodyPr>
          <a:lstStyle/>
          <a:p>
            <a:pPr algn="l">
              <a:lnSpc>
                <a:spcPct val="120000"/>
              </a:lnSpc>
              <a:spcAft>
                <a:spcPts val="700"/>
              </a:spcAft>
            </a:pPr>
            <a:r>
              <a:rPr sz="1100" b="0" i="0">
                <a:solidFill>
                  <a:srgbClr val="2D2D2D"/>
                </a:solidFill>
                <a:latin typeface="Arial"/>
              </a:rPr>
              <a:t>That 5.7-point gap works out to roughly </a:t>
            </a:r>
            <a:r>
              <a:rPr sz="1100" b="1" i="0">
                <a:solidFill>
                  <a:srgbClr val="2D2D2D"/>
                </a:solidFill>
                <a:latin typeface="Arial"/>
              </a:rPr>
              <a:t>1,600 FTE-equivalents</a:t>
            </a:r>
            <a:r>
              <a:rPr sz="1100" b="0" i="0">
                <a:solidFill>
                  <a:srgbClr val="2D2D2D"/>
                </a:solidFill>
                <a:latin typeface="Arial"/>
              </a:rPr>
              <a:t> of routine work — more people than the entire Corporate function — that a plan built on the headline number simply misses. The platform, the reskilling budget, the redeployment pipeline: all of it ends up sized too small.</a:t>
            </a:r>
          </a:p>
        </p:txBody>
      </p:sp>
      <p:sp>
        <p:nvSpPr>
          <p:cNvPr id="29" name="Rectangle 28"/>
          <p:cNvSpPr/>
          <p:nvPr/>
        </p:nvSpPr>
        <p:spPr>
          <a:xfrm>
            <a:off x="457200" y="6336792"/>
            <a:ext cx="11274552" cy="10972"/>
          </a:xfrm>
          <a:prstGeom prst="rect">
            <a:avLst/>
          </a:prstGeom>
          <a:solidFill>
            <a:srgbClr val="C9C3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6419088"/>
            <a:ext cx="9966960" cy="329184"/>
          </a:xfrm>
          <a:prstGeom prst="rect">
            <a:avLst/>
          </a:prstGeom>
          <a:noFill/>
        </p:spPr>
        <p:txBody>
          <a:bodyPr wrap="square" anchor="t" lIns="0" rIns="0" tIns="0" bIns="0">
            <a:spAutoFit/>
          </a:bodyPr>
          <a:lstStyle/>
          <a:p>
            <a:pPr algn="l">
              <a:lnSpc>
                <a:spcPct val="110000"/>
              </a:lnSpc>
              <a:spcAft>
                <a:spcPts val="0"/>
              </a:spcAft>
            </a:pPr>
            <a:r>
              <a:rPr sz="1000" b="0" i="0">
                <a:solidFill>
                  <a:srgbClr val="7D7D7D"/>
                </a:solidFill>
                <a:latin typeface="Arial"/>
              </a:rPr>
              <a:t>Source: case Exhibits 3 and 4. Weighted routine load = Σ(headcount × routine %) ÷ 28,000 = 54.1%.</a:t>
            </a:r>
          </a:p>
        </p:txBody>
      </p:sp>
      <p:sp>
        <p:nvSpPr>
          <p:cNvPr id="31" name="TextBox 30"/>
          <p:cNvSpPr txBox="1"/>
          <p:nvPr/>
        </p:nvSpPr>
        <p:spPr>
          <a:xfrm>
            <a:off x="10515600" y="6419088"/>
            <a:ext cx="1216152" cy="219456"/>
          </a:xfrm>
          <a:prstGeom prst="rect">
            <a:avLst/>
          </a:prstGeom>
          <a:noFill/>
        </p:spPr>
        <p:txBody>
          <a:bodyPr wrap="square" anchor="t" lIns="0" rIns="0" tIns="0" bIns="0">
            <a:spAutoFit/>
          </a:bodyPr>
          <a:lstStyle/>
          <a:p>
            <a:pPr algn="r">
              <a:lnSpc>
                <a:spcPct val="100000"/>
              </a:lnSpc>
              <a:spcAft>
                <a:spcPts val="0"/>
              </a:spcAft>
            </a:pPr>
            <a:r>
              <a:rPr sz="1000" b="0" i="0">
                <a:solidFill>
                  <a:srgbClr val="7D7D7D"/>
                </a:solidFill>
                <a:latin typeface="Arial"/>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10896"/>
            <a:ext cx="457200" cy="50292"/>
          </a:xfrm>
          <a:prstGeom prst="rect">
            <a:avLst/>
          </a:prstGeom>
          <a:solidFill>
            <a:srgbClr val="D04A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0624"/>
            <a:ext cx="10515600" cy="237744"/>
          </a:xfrm>
          <a:prstGeom prst="rect">
            <a:avLst/>
          </a:prstGeom>
          <a:noFill/>
        </p:spPr>
        <p:txBody>
          <a:bodyPr wrap="square" anchor="t" lIns="0" rIns="0" tIns="0" bIns="0">
            <a:spAutoFit/>
          </a:bodyPr>
          <a:lstStyle/>
          <a:p>
            <a:pPr algn="l">
              <a:lnSpc>
                <a:spcPct val="100000"/>
              </a:lnSpc>
              <a:spcAft>
                <a:spcPts val="0"/>
              </a:spcAft>
            </a:pPr>
            <a:r>
              <a:rPr sz="1000" b="1" i="0">
                <a:solidFill>
                  <a:srgbClr val="D04A02"/>
                </a:solidFill>
                <a:latin typeface="Arial"/>
              </a:rPr>
              <a:t>BODY  |  B2  ·  DELIVERABLE 1</a:t>
            </a:r>
          </a:p>
        </p:txBody>
      </p:sp>
      <p:sp>
        <p:nvSpPr>
          <p:cNvPr id="4" name="TextBox 3"/>
          <p:cNvSpPr txBox="1"/>
          <p:nvPr/>
        </p:nvSpPr>
        <p:spPr>
          <a:xfrm>
            <a:off x="457200" y="676656"/>
            <a:ext cx="11338560" cy="566928"/>
          </a:xfrm>
          <a:prstGeom prst="rect">
            <a:avLst/>
          </a:prstGeom>
          <a:noFill/>
        </p:spPr>
        <p:txBody>
          <a:bodyPr wrap="square" anchor="t" lIns="0" rIns="0" tIns="0" bIns="0">
            <a:spAutoFit/>
          </a:bodyPr>
          <a:lstStyle/>
          <a:p>
            <a:pPr algn="l">
              <a:lnSpc>
                <a:spcPct val="105000"/>
              </a:lnSpc>
              <a:spcAft>
                <a:spcPts val="0"/>
              </a:spcAft>
            </a:pPr>
            <a:r>
              <a:rPr sz="2000" b="1" i="0">
                <a:solidFill>
                  <a:srgbClr val="2D2D2D"/>
                </a:solidFill>
                <a:latin typeface="Georgia"/>
              </a:rPr>
              <a:t>We ran every activity through the same three gates, so the calls hold up to scrutiny</a:t>
            </a:r>
          </a:p>
        </p:txBody>
      </p:sp>
      <p:sp>
        <p:nvSpPr>
          <p:cNvPr id="5" name="Rectangle 4"/>
          <p:cNvSpPr/>
          <p:nvPr/>
        </p:nvSpPr>
        <p:spPr>
          <a:xfrm>
            <a:off x="457200" y="1371600"/>
            <a:ext cx="3685032" cy="1371600"/>
          </a:xfrm>
          <a:prstGeom prst="rect">
            <a:avLst/>
          </a:prstGeom>
          <a:solidFill>
            <a:srgbClr val="FFFFFF"/>
          </a:solidFill>
          <a:ln w="19050">
            <a:solidFill>
              <a:srgbClr val="D04A0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371600"/>
            <a:ext cx="3685032" cy="45720"/>
          </a:xfrm>
          <a:prstGeom prst="rect">
            <a:avLst/>
          </a:prstGeom>
          <a:solidFill>
            <a:srgbClr val="D04A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536192"/>
            <a:ext cx="3291840" cy="219456"/>
          </a:xfrm>
          <a:prstGeom prst="rect">
            <a:avLst/>
          </a:prstGeom>
          <a:noFill/>
        </p:spPr>
        <p:txBody>
          <a:bodyPr wrap="square" anchor="t" lIns="0" rIns="0" tIns="0" bIns="0">
            <a:spAutoFit/>
          </a:bodyPr>
          <a:lstStyle/>
          <a:p>
            <a:pPr algn="l">
              <a:lnSpc>
                <a:spcPct val="100000"/>
              </a:lnSpc>
              <a:spcAft>
                <a:spcPts val="0"/>
              </a:spcAft>
            </a:pPr>
            <a:r>
              <a:rPr sz="1000" b="1" i="0">
                <a:solidFill>
                  <a:srgbClr val="D04A02"/>
                </a:solidFill>
                <a:latin typeface="Arial"/>
              </a:rPr>
              <a:t>GATE 1</a:t>
            </a:r>
          </a:p>
        </p:txBody>
      </p:sp>
      <p:sp>
        <p:nvSpPr>
          <p:cNvPr id="8" name="TextBox 7"/>
          <p:cNvSpPr txBox="1"/>
          <p:nvPr/>
        </p:nvSpPr>
        <p:spPr>
          <a:xfrm>
            <a:off x="658368" y="1773936"/>
            <a:ext cx="3291840" cy="274320"/>
          </a:xfrm>
          <a:prstGeom prst="rect">
            <a:avLst/>
          </a:prstGeom>
          <a:noFill/>
        </p:spPr>
        <p:txBody>
          <a:bodyPr wrap="square" anchor="t" lIns="0" rIns="0" tIns="0" bIns="0">
            <a:spAutoFit/>
          </a:bodyPr>
          <a:lstStyle/>
          <a:p>
            <a:pPr algn="l">
              <a:lnSpc>
                <a:spcPct val="100000"/>
              </a:lnSpc>
              <a:spcAft>
                <a:spcPts val="0"/>
              </a:spcAft>
            </a:pPr>
            <a:r>
              <a:rPr sz="1400" b="1" i="0">
                <a:solidFill>
                  <a:srgbClr val="2D2D2D"/>
                </a:solidFill>
                <a:latin typeface="Georgia"/>
              </a:rPr>
              <a:t>Rule stability</a:t>
            </a:r>
          </a:p>
        </p:txBody>
      </p:sp>
      <p:sp>
        <p:nvSpPr>
          <p:cNvPr id="9" name="TextBox 8"/>
          <p:cNvSpPr txBox="1"/>
          <p:nvPr/>
        </p:nvSpPr>
        <p:spPr>
          <a:xfrm>
            <a:off x="658368" y="2121408"/>
            <a:ext cx="3337560" cy="548640"/>
          </a:xfrm>
          <a:prstGeom prst="rect">
            <a:avLst/>
          </a:prstGeom>
          <a:noFill/>
        </p:spPr>
        <p:txBody>
          <a:bodyPr wrap="square" anchor="t" lIns="0" rIns="0" tIns="0" bIns="0">
            <a:spAutoFit/>
          </a:bodyPr>
          <a:lstStyle/>
          <a:p>
            <a:pPr algn="l">
              <a:lnSpc>
                <a:spcPct val="120000"/>
              </a:lnSpc>
              <a:spcAft>
                <a:spcPts val="0"/>
              </a:spcAft>
            </a:pPr>
            <a:r>
              <a:rPr sz="1050" b="0" i="0">
                <a:solidFill>
                  <a:srgbClr val="2D2D2D"/>
                </a:solidFill>
                <a:latin typeface="Arial"/>
              </a:rPr>
              <a:t>Is the activity governed by stable, codifiable rules,</a:t>
            </a:r>
          </a:p>
          <a:p>
            <a:pPr algn="l">
              <a:lnSpc>
                <a:spcPct val="120000"/>
              </a:lnSpc>
              <a:spcAft>
                <a:spcPts val="0"/>
              </a:spcAft>
            </a:pPr>
            <a:r>
              <a:rPr sz="1050" b="0" i="0">
                <a:solidFill>
                  <a:srgbClr val="2D2D2D"/>
                </a:solidFill>
                <a:latin typeface="Arial"/>
              </a:rPr>
              <a:t>at high volume and low variance?</a:t>
            </a:r>
          </a:p>
        </p:txBody>
      </p:sp>
      <p:sp>
        <p:nvSpPr>
          <p:cNvPr id="10" name="Rectangle 9"/>
          <p:cNvSpPr/>
          <p:nvPr/>
        </p:nvSpPr>
        <p:spPr>
          <a:xfrm>
            <a:off x="4251960" y="1371600"/>
            <a:ext cx="3685032" cy="1371600"/>
          </a:xfrm>
          <a:prstGeom prst="rect">
            <a:avLst/>
          </a:prstGeom>
          <a:solidFill>
            <a:srgbClr val="FFFFFF"/>
          </a:solidFill>
          <a:ln w="19050">
            <a:solidFill>
              <a:srgbClr val="EB8C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51960" y="1371600"/>
            <a:ext cx="3685032" cy="45720"/>
          </a:xfrm>
          <a:prstGeom prst="rect">
            <a:avLst/>
          </a:prstGeom>
          <a:solidFill>
            <a:srgbClr val="EB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53128" y="1536192"/>
            <a:ext cx="3291840" cy="219456"/>
          </a:xfrm>
          <a:prstGeom prst="rect">
            <a:avLst/>
          </a:prstGeom>
          <a:noFill/>
        </p:spPr>
        <p:txBody>
          <a:bodyPr wrap="square" anchor="t" lIns="0" rIns="0" tIns="0" bIns="0">
            <a:spAutoFit/>
          </a:bodyPr>
          <a:lstStyle/>
          <a:p>
            <a:pPr algn="l">
              <a:lnSpc>
                <a:spcPct val="100000"/>
              </a:lnSpc>
              <a:spcAft>
                <a:spcPts val="0"/>
              </a:spcAft>
            </a:pPr>
            <a:r>
              <a:rPr sz="1000" b="1" i="0">
                <a:solidFill>
                  <a:srgbClr val="EB8C00"/>
                </a:solidFill>
                <a:latin typeface="Arial"/>
              </a:rPr>
              <a:t>GATE 2</a:t>
            </a:r>
          </a:p>
        </p:txBody>
      </p:sp>
      <p:sp>
        <p:nvSpPr>
          <p:cNvPr id="13" name="TextBox 12"/>
          <p:cNvSpPr txBox="1"/>
          <p:nvPr/>
        </p:nvSpPr>
        <p:spPr>
          <a:xfrm>
            <a:off x="4453128" y="1773936"/>
            <a:ext cx="3291840" cy="274320"/>
          </a:xfrm>
          <a:prstGeom prst="rect">
            <a:avLst/>
          </a:prstGeom>
          <a:noFill/>
        </p:spPr>
        <p:txBody>
          <a:bodyPr wrap="square" anchor="t" lIns="0" rIns="0" tIns="0" bIns="0">
            <a:spAutoFit/>
          </a:bodyPr>
          <a:lstStyle/>
          <a:p>
            <a:pPr algn="l">
              <a:lnSpc>
                <a:spcPct val="100000"/>
              </a:lnSpc>
              <a:spcAft>
                <a:spcPts val="0"/>
              </a:spcAft>
            </a:pPr>
            <a:r>
              <a:rPr sz="1400" b="1" i="0">
                <a:solidFill>
                  <a:srgbClr val="2D2D2D"/>
                </a:solidFill>
                <a:latin typeface="Georgia"/>
              </a:rPr>
              <a:t>Consequence of error</a:t>
            </a:r>
          </a:p>
        </p:txBody>
      </p:sp>
      <p:sp>
        <p:nvSpPr>
          <p:cNvPr id="14" name="TextBox 13"/>
          <p:cNvSpPr txBox="1"/>
          <p:nvPr/>
        </p:nvSpPr>
        <p:spPr>
          <a:xfrm>
            <a:off x="4453128" y="2121408"/>
            <a:ext cx="3337560" cy="548640"/>
          </a:xfrm>
          <a:prstGeom prst="rect">
            <a:avLst/>
          </a:prstGeom>
          <a:noFill/>
        </p:spPr>
        <p:txBody>
          <a:bodyPr wrap="square" anchor="t" lIns="0" rIns="0" tIns="0" bIns="0">
            <a:spAutoFit/>
          </a:bodyPr>
          <a:lstStyle/>
          <a:p>
            <a:pPr algn="l">
              <a:lnSpc>
                <a:spcPct val="120000"/>
              </a:lnSpc>
              <a:spcAft>
                <a:spcPts val="0"/>
              </a:spcAft>
            </a:pPr>
            <a:r>
              <a:rPr sz="1050" b="0" i="0">
                <a:solidFill>
                  <a:srgbClr val="2D2D2D"/>
                </a:solidFill>
                <a:latin typeface="Arial"/>
              </a:rPr>
              <a:t>Would a mistake cause irreversible customer,</a:t>
            </a:r>
          </a:p>
          <a:p>
            <a:pPr algn="l">
              <a:lnSpc>
                <a:spcPct val="120000"/>
              </a:lnSpc>
              <a:spcAft>
                <a:spcPts val="0"/>
              </a:spcAft>
            </a:pPr>
            <a:r>
              <a:rPr sz="1050" b="0" i="0">
                <a:solidFill>
                  <a:srgbClr val="2D2D2D"/>
                </a:solidFill>
                <a:latin typeface="Arial"/>
              </a:rPr>
              <a:t>regulatory or brand harm?</a:t>
            </a:r>
          </a:p>
        </p:txBody>
      </p:sp>
      <p:sp>
        <p:nvSpPr>
          <p:cNvPr id="15" name="Rectangle 14"/>
          <p:cNvSpPr/>
          <p:nvPr/>
        </p:nvSpPr>
        <p:spPr>
          <a:xfrm>
            <a:off x="8046720" y="1371600"/>
            <a:ext cx="3685032" cy="1371600"/>
          </a:xfrm>
          <a:prstGeom prst="rect">
            <a:avLst/>
          </a:prstGeom>
          <a:solidFill>
            <a:srgbClr val="FFFFFF"/>
          </a:solidFill>
          <a:ln w="19050">
            <a:solidFill>
              <a:srgbClr val="FFB6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46720" y="1371600"/>
            <a:ext cx="3685032" cy="45720"/>
          </a:xfrm>
          <a:prstGeom prst="rect">
            <a:avLst/>
          </a:prstGeom>
          <a:solidFill>
            <a:srgbClr val="FFB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7888" y="1536192"/>
            <a:ext cx="3291840" cy="219456"/>
          </a:xfrm>
          <a:prstGeom prst="rect">
            <a:avLst/>
          </a:prstGeom>
          <a:noFill/>
        </p:spPr>
        <p:txBody>
          <a:bodyPr wrap="square" anchor="t" lIns="0" rIns="0" tIns="0" bIns="0">
            <a:spAutoFit/>
          </a:bodyPr>
          <a:lstStyle/>
          <a:p>
            <a:pPr algn="l">
              <a:lnSpc>
                <a:spcPct val="100000"/>
              </a:lnSpc>
              <a:spcAft>
                <a:spcPts val="0"/>
              </a:spcAft>
            </a:pPr>
            <a:r>
              <a:rPr sz="1000" b="1" i="0">
                <a:solidFill>
                  <a:srgbClr val="FFB600"/>
                </a:solidFill>
                <a:latin typeface="Arial"/>
              </a:rPr>
              <a:t>GATE 3</a:t>
            </a:r>
          </a:p>
        </p:txBody>
      </p:sp>
      <p:sp>
        <p:nvSpPr>
          <p:cNvPr id="18" name="TextBox 17"/>
          <p:cNvSpPr txBox="1"/>
          <p:nvPr/>
        </p:nvSpPr>
        <p:spPr>
          <a:xfrm>
            <a:off x="8247888" y="1773936"/>
            <a:ext cx="3291840" cy="274320"/>
          </a:xfrm>
          <a:prstGeom prst="rect">
            <a:avLst/>
          </a:prstGeom>
          <a:noFill/>
        </p:spPr>
        <p:txBody>
          <a:bodyPr wrap="square" anchor="t" lIns="0" rIns="0" tIns="0" bIns="0">
            <a:spAutoFit/>
          </a:bodyPr>
          <a:lstStyle/>
          <a:p>
            <a:pPr algn="l">
              <a:lnSpc>
                <a:spcPct val="100000"/>
              </a:lnSpc>
              <a:spcAft>
                <a:spcPts val="0"/>
              </a:spcAft>
            </a:pPr>
            <a:r>
              <a:rPr sz="1400" b="1" i="0">
                <a:solidFill>
                  <a:srgbClr val="2D2D2D"/>
                </a:solidFill>
                <a:latin typeface="Georgia"/>
              </a:rPr>
              <a:t>Human premium</a:t>
            </a:r>
          </a:p>
        </p:txBody>
      </p:sp>
      <p:sp>
        <p:nvSpPr>
          <p:cNvPr id="19" name="TextBox 18"/>
          <p:cNvSpPr txBox="1"/>
          <p:nvPr/>
        </p:nvSpPr>
        <p:spPr>
          <a:xfrm>
            <a:off x="8247888" y="2121408"/>
            <a:ext cx="3337560" cy="548640"/>
          </a:xfrm>
          <a:prstGeom prst="rect">
            <a:avLst/>
          </a:prstGeom>
          <a:noFill/>
        </p:spPr>
        <p:txBody>
          <a:bodyPr wrap="square" anchor="t" lIns="0" rIns="0" tIns="0" bIns="0">
            <a:spAutoFit/>
          </a:bodyPr>
          <a:lstStyle/>
          <a:p>
            <a:pPr algn="l">
              <a:lnSpc>
                <a:spcPct val="120000"/>
              </a:lnSpc>
              <a:spcAft>
                <a:spcPts val="0"/>
              </a:spcAft>
            </a:pPr>
            <a:r>
              <a:rPr sz="1050" b="0" i="0">
                <a:solidFill>
                  <a:srgbClr val="2D2D2D"/>
                </a:solidFill>
                <a:latin typeface="Arial"/>
              </a:rPr>
              <a:t>Does the customer or the business specifically</a:t>
            </a:r>
          </a:p>
          <a:p>
            <a:pPr algn="l">
              <a:lnSpc>
                <a:spcPct val="120000"/>
              </a:lnSpc>
              <a:spcAft>
                <a:spcPts val="0"/>
              </a:spcAft>
            </a:pPr>
            <a:r>
              <a:rPr sz="1050" b="0" i="0">
                <a:solidFill>
                  <a:srgbClr val="2D2D2D"/>
                </a:solidFill>
                <a:latin typeface="Arial"/>
              </a:rPr>
              <a:t>value that a human did it?</a:t>
            </a:r>
          </a:p>
        </p:txBody>
      </p:sp>
      <p:graphicFrame>
        <p:nvGraphicFramePr>
          <p:cNvPr id="20" name="Table 19"/>
          <p:cNvGraphicFramePr>
            <a:graphicFrameLocks noGrp="1"/>
          </p:cNvGraphicFramePr>
          <p:nvPr/>
        </p:nvGraphicFramePr>
        <p:xfrm>
          <a:off x="457200" y="2944368"/>
          <a:ext cx="11274551" cy="1481328"/>
        </p:xfrm>
        <a:graphic>
          <a:graphicData uri="http://schemas.openxmlformats.org/drawingml/2006/table">
            <a:tbl>
              <a:tblPr firstRow="0" bandRow="0">
                <a:tableStyleId>{5C22544A-7EE6-4342-B048-85BDC9FD1C3A}</a:tableStyleId>
              </a:tblPr>
              <a:tblGrid>
                <a:gridCol w="2103120"/>
                <a:gridCol w="2423160"/>
                <a:gridCol w="3566159"/>
                <a:gridCol w="3182112"/>
              </a:tblGrid>
              <a:tr h="370332">
                <a:tc>
                  <a:txBody>
                    <a:bodyPr wrap="square"/>
                    <a:lstStyle/>
                    <a:p>
                      <a:pPr algn="l">
                        <a:lnSpc>
                          <a:spcPct val="105000"/>
                        </a:lnSpc>
                      </a:pPr>
                      <a:r>
                        <a:rPr sz="1050" b="1" i="0">
                          <a:solidFill>
                            <a:srgbClr val="FFFFFF"/>
                          </a:solidFill>
                          <a:latin typeface="Arial"/>
                        </a:rPr>
                        <a:t>Classification</a:t>
                      </a:r>
                    </a:p>
                  </a:txBody>
                  <a:tcPr marL="64008" marR="64008" marT="32004" marB="32004" anchor="ctr">
                    <a:solidFill>
                      <a:srgbClr val="2D2D2D"/>
                    </a:solidFill>
                  </a:tcPr>
                </a:tc>
                <a:tc>
                  <a:txBody>
                    <a:bodyPr wrap="square"/>
                    <a:lstStyle/>
                    <a:p>
                      <a:pPr algn="ctr">
                        <a:lnSpc>
                          <a:spcPct val="105000"/>
                        </a:lnSpc>
                      </a:pPr>
                      <a:r>
                        <a:rPr sz="1050" b="1" i="0">
                          <a:solidFill>
                            <a:srgbClr val="FFFFFF"/>
                          </a:solidFill>
                          <a:latin typeface="Arial"/>
                        </a:rPr>
                        <a:t>Gate signature</a:t>
                      </a:r>
                    </a:p>
                  </a:txBody>
                  <a:tcPr marL="64008" marR="64008" marT="32004" marB="32004" anchor="ctr">
                    <a:solidFill>
                      <a:srgbClr val="2D2D2D"/>
                    </a:solidFill>
                  </a:tcPr>
                </a:tc>
                <a:tc>
                  <a:txBody>
                    <a:bodyPr wrap="square"/>
                    <a:lstStyle/>
                    <a:p>
                      <a:pPr algn="ctr">
                        <a:lnSpc>
                          <a:spcPct val="105000"/>
                        </a:lnSpc>
                      </a:pPr>
                      <a:r>
                        <a:rPr sz="1050" b="1" i="0">
                          <a:solidFill>
                            <a:srgbClr val="FFFFFF"/>
                          </a:solidFill>
                          <a:latin typeface="Arial"/>
                        </a:rPr>
                        <a:t>What the human does</a:t>
                      </a:r>
                    </a:p>
                  </a:txBody>
                  <a:tcPr marL="64008" marR="64008" marT="32004" marB="32004" anchor="ctr">
                    <a:solidFill>
                      <a:srgbClr val="2D2D2D"/>
                    </a:solidFill>
                  </a:tcPr>
                </a:tc>
                <a:tc>
                  <a:txBody>
                    <a:bodyPr wrap="square"/>
                    <a:lstStyle/>
                    <a:p>
                      <a:pPr algn="ctr">
                        <a:lnSpc>
                          <a:spcPct val="105000"/>
                        </a:lnSpc>
                      </a:pPr>
                      <a:r>
                        <a:rPr sz="1050" b="1" i="0">
                          <a:solidFill>
                            <a:srgbClr val="FFFFFF"/>
                          </a:solidFill>
                          <a:latin typeface="Arial"/>
                        </a:rPr>
                        <a:t>Design principle</a:t>
                      </a:r>
                    </a:p>
                  </a:txBody>
                  <a:tcPr marL="64008" marR="64008" marT="32004" marB="32004" anchor="ctr">
                    <a:solidFill>
                      <a:srgbClr val="2D2D2D"/>
                    </a:solidFill>
                  </a:tcPr>
                </a:tc>
              </a:tr>
              <a:tr h="370332">
                <a:tc>
                  <a:txBody>
                    <a:bodyPr wrap="square"/>
                    <a:lstStyle/>
                    <a:p>
                      <a:pPr algn="l">
                        <a:lnSpc>
                          <a:spcPct val="105000"/>
                        </a:lnSpc>
                      </a:pPr>
                      <a:r>
                        <a:rPr sz="1050" b="1" i="0">
                          <a:solidFill>
                            <a:srgbClr val="2D2D2D"/>
                          </a:solidFill>
                          <a:latin typeface="Arial"/>
                        </a:rPr>
                        <a:t>Automatable</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G1 yes · G2 low · G3 no</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Sets the rules, handles exceptions, audits the output</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AI executes; human owns the standard</a:t>
                      </a:r>
                    </a:p>
                  </a:txBody>
                  <a:tcPr marL="64008" marR="64008" marT="32004" marB="32004" anchor="ctr">
                    <a:solidFill>
                      <a:srgbClr val="FFFFFF"/>
                    </a:solidFill>
                  </a:tcPr>
                </a:tc>
              </a:tr>
              <a:tr h="370332">
                <a:tc>
                  <a:txBody>
                    <a:bodyPr wrap="square"/>
                    <a:lstStyle/>
                    <a:p>
                      <a:pPr algn="l">
                        <a:lnSpc>
                          <a:spcPct val="105000"/>
                        </a:lnSpc>
                      </a:pPr>
                      <a:r>
                        <a:rPr sz="1050" b="1" i="0">
                          <a:solidFill>
                            <a:srgbClr val="2D2D2D"/>
                          </a:solidFill>
                          <a:latin typeface="Arial"/>
                        </a:rPr>
                        <a:t>Augmentable</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G1 partial, or G2 high</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Decides, using AI-prepared options and evidence</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AI proposes; human disposes</a:t>
                      </a:r>
                    </a:p>
                  </a:txBody>
                  <a:tcPr marL="64008" marR="64008" marT="32004" marB="32004" anchor="ctr">
                    <a:solidFill>
                      <a:srgbClr val="FAF8F7"/>
                    </a:solidFill>
                  </a:tcPr>
                </a:tc>
              </a:tr>
              <a:tr h="370332">
                <a:tc>
                  <a:txBody>
                    <a:bodyPr wrap="square"/>
                    <a:lstStyle/>
                    <a:p>
                      <a:pPr algn="l">
                        <a:lnSpc>
                          <a:spcPct val="105000"/>
                        </a:lnSpc>
                      </a:pPr>
                      <a:r>
                        <a:rPr sz="1050" b="1" i="0">
                          <a:solidFill>
                            <a:srgbClr val="2D2D2D"/>
                          </a:solidFill>
                          <a:latin typeface="Arial"/>
                        </a:rPr>
                        <a:t>Fundamentally Human</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G3 yes, or G2 critical</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Creates, judges, empathises, takes accountability</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AI supplies inputs; never the output</a:t>
                      </a:r>
                    </a:p>
                  </a:txBody>
                  <a:tcPr marL="64008" marR="64008" marT="32004" marB="32004" anchor="ctr">
                    <a:solidFill>
                      <a:srgbClr val="FFFFFF"/>
                    </a:solidFill>
                  </a:tcPr>
                </a:tc>
              </a:tr>
            </a:tbl>
          </a:graphicData>
        </a:graphic>
      </p:graphicFrame>
      <p:sp>
        <p:nvSpPr>
          <p:cNvPr id="21" name="Rectangle 20"/>
          <p:cNvSpPr/>
          <p:nvPr/>
        </p:nvSpPr>
        <p:spPr>
          <a:xfrm>
            <a:off x="457200" y="4626864"/>
            <a:ext cx="11274552" cy="1572768"/>
          </a:xfrm>
          <a:prstGeom prst="rect">
            <a:avLst/>
          </a:prstGeom>
          <a:solidFill>
            <a:srgbClr val="F4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4773168"/>
            <a:ext cx="10881360" cy="237744"/>
          </a:xfrm>
          <a:prstGeom prst="rect">
            <a:avLst/>
          </a:prstGeom>
          <a:noFill/>
        </p:spPr>
        <p:txBody>
          <a:bodyPr wrap="square" anchor="t" lIns="0" rIns="0" tIns="0" bIns="0">
            <a:spAutoFit/>
          </a:bodyPr>
          <a:lstStyle/>
          <a:p>
            <a:pPr algn="l">
              <a:lnSpc>
                <a:spcPct val="100000"/>
              </a:lnSpc>
              <a:spcAft>
                <a:spcPts val="0"/>
              </a:spcAft>
            </a:pPr>
            <a:r>
              <a:rPr sz="1050" b="1" i="0">
                <a:solidFill>
                  <a:srgbClr val="D04A02"/>
                </a:solidFill>
                <a:latin typeface="Arial"/>
              </a:rPr>
              <a:t>WHERE WE PUSHED BACK ON EXHIBIT 4 (as the case invites us to)</a:t>
            </a:r>
          </a:p>
        </p:txBody>
      </p:sp>
      <p:sp>
        <p:nvSpPr>
          <p:cNvPr id="23" name="TextBox 22"/>
          <p:cNvSpPr txBox="1"/>
          <p:nvPr/>
        </p:nvSpPr>
        <p:spPr>
          <a:xfrm>
            <a:off x="658368" y="5065776"/>
            <a:ext cx="5212080" cy="1005840"/>
          </a:xfrm>
          <a:prstGeom prst="rect">
            <a:avLst/>
          </a:prstGeom>
          <a:noFill/>
        </p:spPr>
        <p:txBody>
          <a:bodyPr wrap="square" anchor="t" lIns="0" rIns="0" tIns="0" bIns="0">
            <a:spAutoFit/>
          </a:bodyPr>
          <a:lstStyle/>
          <a:p>
            <a:pPr algn="l">
              <a:lnSpc>
                <a:spcPct val="120000"/>
              </a:lnSpc>
              <a:spcAft>
                <a:spcPts val="600"/>
              </a:spcAft>
            </a:pPr>
            <a:r>
              <a:rPr sz="1100" b="1" i="0">
                <a:solidFill>
                  <a:srgbClr val="2D2D2D"/>
                </a:solidFill>
                <a:latin typeface="Arial"/>
              </a:rPr>
              <a:t>Retail Operations: </a:t>
            </a:r>
            <a:r>
              <a:rPr sz="1100" b="0" i="0">
                <a:solidFill>
                  <a:srgbClr val="2D2D2D"/>
                </a:solidFill>
                <a:latin typeface="Arial"/>
              </a:rPr>
              <a:t>the 20% creative/strategic share in Exhibit 4 isn't fixed. Once AI takes stock look-ups and admin off associates' plates, we push that figure up to roughly 35% relationship work, deliberately, as a design choice.</a:t>
            </a:r>
          </a:p>
        </p:txBody>
      </p:sp>
      <p:sp>
        <p:nvSpPr>
          <p:cNvPr id="24" name="TextBox 23"/>
          <p:cNvSpPr txBox="1"/>
          <p:nvPr/>
        </p:nvSpPr>
        <p:spPr>
          <a:xfrm>
            <a:off x="6053328" y="5065776"/>
            <a:ext cx="5394960" cy="1005840"/>
          </a:xfrm>
          <a:prstGeom prst="rect">
            <a:avLst/>
          </a:prstGeom>
          <a:noFill/>
        </p:spPr>
        <p:txBody>
          <a:bodyPr wrap="square" anchor="t" lIns="0" rIns="0" tIns="0" bIns="0">
            <a:spAutoFit/>
          </a:bodyPr>
          <a:lstStyle/>
          <a:p>
            <a:pPr algn="l">
              <a:lnSpc>
                <a:spcPct val="120000"/>
              </a:lnSpc>
              <a:spcAft>
                <a:spcPts val="600"/>
              </a:spcAft>
            </a:pPr>
            <a:r>
              <a:rPr sz="1100" b="1" i="0">
                <a:solidFill>
                  <a:srgbClr val="2D2D2D"/>
                </a:solidFill>
                <a:latin typeface="Arial"/>
              </a:rPr>
              <a:t>Manufacturing </a:t>
            </a:r>
            <a:r>
              <a:rPr sz="1100" b="0" i="0">
                <a:solidFill>
                  <a:srgbClr val="2D2D2D"/>
                </a:solidFill>
                <a:latin typeface="Arial"/>
              </a:rPr>
              <a:t>is where routine and automatable pull apart. 60% of the work is routine, but quality inspection carries real safety and regulatory stakes (Gate 2). Most of it lands Augmentable — AI-assisted vision, human sign-off — rather than fully automated.</a:t>
            </a:r>
          </a:p>
        </p:txBody>
      </p:sp>
      <p:sp>
        <p:nvSpPr>
          <p:cNvPr id="25" name="Rectangle 24"/>
          <p:cNvSpPr/>
          <p:nvPr/>
        </p:nvSpPr>
        <p:spPr>
          <a:xfrm>
            <a:off x="457200" y="6336792"/>
            <a:ext cx="11274552" cy="10972"/>
          </a:xfrm>
          <a:prstGeom prst="rect">
            <a:avLst/>
          </a:prstGeom>
          <a:solidFill>
            <a:srgbClr val="C9C3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6419088"/>
            <a:ext cx="9966960" cy="329184"/>
          </a:xfrm>
          <a:prstGeom prst="rect">
            <a:avLst/>
          </a:prstGeom>
          <a:noFill/>
        </p:spPr>
        <p:txBody>
          <a:bodyPr wrap="square" anchor="t" lIns="0" rIns="0" tIns="0" bIns="0">
            <a:spAutoFit/>
          </a:bodyPr>
          <a:lstStyle/>
          <a:p>
            <a:pPr algn="l">
              <a:lnSpc>
                <a:spcPct val="110000"/>
              </a:lnSpc>
              <a:spcAft>
                <a:spcPts val="0"/>
              </a:spcAft>
            </a:pPr>
            <a:r>
              <a:rPr sz="1000" b="0" i="0">
                <a:solidFill>
                  <a:srgbClr val="7D7D7D"/>
                </a:solidFill>
                <a:latin typeface="Arial"/>
              </a:rPr>
              <a:t>Classification applied to all six functions in case Exhibit 4; activity-level detail in Appendix A1.</a:t>
            </a:r>
          </a:p>
        </p:txBody>
      </p:sp>
      <p:sp>
        <p:nvSpPr>
          <p:cNvPr id="27" name="TextBox 26"/>
          <p:cNvSpPr txBox="1"/>
          <p:nvPr/>
        </p:nvSpPr>
        <p:spPr>
          <a:xfrm>
            <a:off x="10515600" y="6419088"/>
            <a:ext cx="1216152" cy="219456"/>
          </a:xfrm>
          <a:prstGeom prst="rect">
            <a:avLst/>
          </a:prstGeom>
          <a:noFill/>
        </p:spPr>
        <p:txBody>
          <a:bodyPr wrap="square" anchor="t" lIns="0" rIns="0" tIns="0" bIns="0">
            <a:spAutoFit/>
          </a:bodyPr>
          <a:lstStyle/>
          <a:p>
            <a:pPr algn="r">
              <a:lnSpc>
                <a:spcPct val="100000"/>
              </a:lnSpc>
              <a:spcAft>
                <a:spcPts val="0"/>
              </a:spcAft>
            </a:pPr>
            <a:r>
              <a:rPr sz="1000" b="0" i="0">
                <a:solidFill>
                  <a:srgbClr val="7D7D7D"/>
                </a:solidFill>
                <a:latin typeface="Arial"/>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10896"/>
            <a:ext cx="457200" cy="50292"/>
          </a:xfrm>
          <a:prstGeom prst="rect">
            <a:avLst/>
          </a:prstGeom>
          <a:solidFill>
            <a:srgbClr val="D04A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0624"/>
            <a:ext cx="10515600" cy="237744"/>
          </a:xfrm>
          <a:prstGeom prst="rect">
            <a:avLst/>
          </a:prstGeom>
          <a:noFill/>
        </p:spPr>
        <p:txBody>
          <a:bodyPr wrap="square" anchor="t" lIns="0" rIns="0" tIns="0" bIns="0">
            <a:spAutoFit/>
          </a:bodyPr>
          <a:lstStyle/>
          <a:p>
            <a:pPr algn="l">
              <a:lnSpc>
                <a:spcPct val="100000"/>
              </a:lnSpc>
              <a:spcAft>
                <a:spcPts val="0"/>
              </a:spcAft>
            </a:pPr>
            <a:r>
              <a:rPr sz="1000" b="1" i="0">
                <a:solidFill>
                  <a:srgbClr val="D04A02"/>
                </a:solidFill>
                <a:latin typeface="Arial"/>
              </a:rPr>
              <a:t>BODY  |  B3  ·  DELIVERABLE 1</a:t>
            </a:r>
          </a:p>
        </p:txBody>
      </p:sp>
      <p:sp>
        <p:nvSpPr>
          <p:cNvPr id="4" name="TextBox 3"/>
          <p:cNvSpPr txBox="1"/>
          <p:nvPr/>
        </p:nvSpPr>
        <p:spPr>
          <a:xfrm>
            <a:off x="457200" y="676656"/>
            <a:ext cx="11338560" cy="566928"/>
          </a:xfrm>
          <a:prstGeom prst="rect">
            <a:avLst/>
          </a:prstGeom>
          <a:noFill/>
        </p:spPr>
        <p:txBody>
          <a:bodyPr wrap="square" anchor="t" lIns="0" rIns="0" tIns="0" bIns="0">
            <a:spAutoFit/>
          </a:bodyPr>
          <a:lstStyle/>
          <a:p>
            <a:pPr algn="l">
              <a:lnSpc>
                <a:spcPct val="105000"/>
              </a:lnSpc>
              <a:spcAft>
                <a:spcPts val="0"/>
              </a:spcAft>
            </a:pPr>
            <a:r>
              <a:rPr sz="2000" b="1" i="0">
                <a:solidFill>
                  <a:srgbClr val="2D2D2D"/>
                </a:solidFill>
                <a:latin typeface="Georgia"/>
              </a:rPr>
              <a:t>How the 22/60/18 split plays out across six functions</a:t>
            </a:r>
          </a:p>
        </p:txBody>
      </p:sp>
      <p:pic>
        <p:nvPicPr>
          <p:cNvPr id="5" name="Picture 4" descr="task_audit.png"/>
          <p:cNvPicPr>
            <a:picLocks noChangeAspect="1"/>
          </p:cNvPicPr>
          <p:nvPr/>
        </p:nvPicPr>
        <p:blipFill>
          <a:blip r:embed="rId2"/>
          <a:stretch>
            <a:fillRect/>
          </a:stretch>
        </p:blipFill>
        <p:spPr>
          <a:xfrm>
            <a:off x="457200" y="1335024"/>
            <a:ext cx="7452360" cy="2816352"/>
          </a:xfrm>
          <a:prstGeom prst="rect">
            <a:avLst/>
          </a:prstGeom>
        </p:spPr>
      </p:pic>
      <p:sp>
        <p:nvSpPr>
          <p:cNvPr id="6" name="Rectangle 5"/>
          <p:cNvSpPr/>
          <p:nvPr/>
        </p:nvSpPr>
        <p:spPr>
          <a:xfrm>
            <a:off x="8138160" y="1335024"/>
            <a:ext cx="3593592" cy="2816352"/>
          </a:xfrm>
          <a:prstGeom prst="rect">
            <a:avLst/>
          </a:prstGeom>
          <a:solidFill>
            <a:srgbClr val="F4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39327" y="1481328"/>
            <a:ext cx="3200400" cy="237744"/>
          </a:xfrm>
          <a:prstGeom prst="rect">
            <a:avLst/>
          </a:prstGeom>
          <a:noFill/>
        </p:spPr>
        <p:txBody>
          <a:bodyPr wrap="square" anchor="t" lIns="0" rIns="0" tIns="0" bIns="0">
            <a:spAutoFit/>
          </a:bodyPr>
          <a:lstStyle/>
          <a:p>
            <a:pPr algn="l">
              <a:lnSpc>
                <a:spcPct val="100000"/>
              </a:lnSpc>
              <a:spcAft>
                <a:spcPts val="0"/>
              </a:spcAft>
            </a:pPr>
            <a:r>
              <a:rPr sz="1050" b="1" i="0">
                <a:solidFill>
                  <a:srgbClr val="D04A02"/>
                </a:solidFill>
                <a:latin typeface="Arial"/>
              </a:rPr>
              <a:t>TARGET STATE, ORGANISATION-WIDE</a:t>
            </a:r>
          </a:p>
        </p:txBody>
      </p:sp>
      <p:sp>
        <p:nvSpPr>
          <p:cNvPr id="8" name="Rectangle 7"/>
          <p:cNvSpPr/>
          <p:nvPr/>
        </p:nvSpPr>
        <p:spPr>
          <a:xfrm>
            <a:off x="8339327" y="1856231"/>
            <a:ext cx="100584" cy="310896"/>
          </a:xfrm>
          <a:prstGeom prst="rect">
            <a:avLst/>
          </a:prstGeom>
          <a:solidFill>
            <a:srgbClr val="D04A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58784" y="1810512"/>
            <a:ext cx="1005840" cy="310896"/>
          </a:xfrm>
          <a:prstGeom prst="rect">
            <a:avLst/>
          </a:prstGeom>
          <a:noFill/>
        </p:spPr>
        <p:txBody>
          <a:bodyPr wrap="square" anchor="t" lIns="0" rIns="0" tIns="0" bIns="0">
            <a:spAutoFit/>
          </a:bodyPr>
          <a:lstStyle/>
          <a:p>
            <a:pPr algn="l">
              <a:lnSpc>
                <a:spcPct val="100000"/>
              </a:lnSpc>
              <a:spcAft>
                <a:spcPts val="0"/>
              </a:spcAft>
            </a:pPr>
            <a:r>
              <a:rPr sz="1900" b="1" i="0">
                <a:solidFill>
                  <a:srgbClr val="D04A02"/>
                </a:solidFill>
                <a:latin typeface="Georgia"/>
              </a:rPr>
              <a:t>22%</a:t>
            </a:r>
          </a:p>
        </p:txBody>
      </p:sp>
      <p:sp>
        <p:nvSpPr>
          <p:cNvPr id="10" name="TextBox 9"/>
          <p:cNvSpPr txBox="1"/>
          <p:nvPr/>
        </p:nvSpPr>
        <p:spPr>
          <a:xfrm>
            <a:off x="9528048" y="1865376"/>
            <a:ext cx="2103120" cy="274320"/>
          </a:xfrm>
          <a:prstGeom prst="rect">
            <a:avLst/>
          </a:prstGeom>
          <a:noFill/>
        </p:spPr>
        <p:txBody>
          <a:bodyPr wrap="square" anchor="t" lIns="0" rIns="0" tIns="0" bIns="0">
            <a:spAutoFit/>
          </a:bodyPr>
          <a:lstStyle/>
          <a:p>
            <a:pPr algn="l">
              <a:lnSpc>
                <a:spcPct val="100000"/>
              </a:lnSpc>
              <a:spcAft>
                <a:spcPts val="0"/>
              </a:spcAft>
            </a:pPr>
            <a:r>
              <a:rPr sz="1100" b="1" i="0">
                <a:solidFill>
                  <a:srgbClr val="2D2D2D"/>
                </a:solidFill>
                <a:latin typeface="Arial"/>
              </a:rPr>
              <a:t>Automatable</a:t>
            </a:r>
          </a:p>
        </p:txBody>
      </p:sp>
      <p:sp>
        <p:nvSpPr>
          <p:cNvPr id="11" name="Rectangle 10"/>
          <p:cNvSpPr/>
          <p:nvPr/>
        </p:nvSpPr>
        <p:spPr>
          <a:xfrm>
            <a:off x="8339327" y="2331720"/>
            <a:ext cx="100584" cy="310896"/>
          </a:xfrm>
          <a:prstGeom prst="rect">
            <a:avLst/>
          </a:prstGeom>
          <a:solidFill>
            <a:srgbClr val="FFB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58784" y="2286000"/>
            <a:ext cx="1005840" cy="310896"/>
          </a:xfrm>
          <a:prstGeom prst="rect">
            <a:avLst/>
          </a:prstGeom>
          <a:noFill/>
        </p:spPr>
        <p:txBody>
          <a:bodyPr wrap="square" anchor="t" lIns="0" rIns="0" tIns="0" bIns="0">
            <a:spAutoFit/>
          </a:bodyPr>
          <a:lstStyle/>
          <a:p>
            <a:pPr algn="l">
              <a:lnSpc>
                <a:spcPct val="100000"/>
              </a:lnSpc>
              <a:spcAft>
                <a:spcPts val="0"/>
              </a:spcAft>
            </a:pPr>
            <a:r>
              <a:rPr sz="1900" b="1" i="0">
                <a:solidFill>
                  <a:srgbClr val="FFB600"/>
                </a:solidFill>
                <a:latin typeface="Georgia"/>
              </a:rPr>
              <a:t>60%</a:t>
            </a:r>
          </a:p>
        </p:txBody>
      </p:sp>
      <p:sp>
        <p:nvSpPr>
          <p:cNvPr id="13" name="TextBox 12"/>
          <p:cNvSpPr txBox="1"/>
          <p:nvPr/>
        </p:nvSpPr>
        <p:spPr>
          <a:xfrm>
            <a:off x="9528048" y="2340864"/>
            <a:ext cx="2103120" cy="274320"/>
          </a:xfrm>
          <a:prstGeom prst="rect">
            <a:avLst/>
          </a:prstGeom>
          <a:noFill/>
        </p:spPr>
        <p:txBody>
          <a:bodyPr wrap="square" anchor="t" lIns="0" rIns="0" tIns="0" bIns="0">
            <a:spAutoFit/>
          </a:bodyPr>
          <a:lstStyle/>
          <a:p>
            <a:pPr algn="l">
              <a:lnSpc>
                <a:spcPct val="100000"/>
              </a:lnSpc>
              <a:spcAft>
                <a:spcPts val="0"/>
              </a:spcAft>
            </a:pPr>
            <a:r>
              <a:rPr sz="1100" b="1" i="0">
                <a:solidFill>
                  <a:srgbClr val="2D2D2D"/>
                </a:solidFill>
                <a:latin typeface="Arial"/>
              </a:rPr>
              <a:t>Augmentable</a:t>
            </a:r>
          </a:p>
        </p:txBody>
      </p:sp>
      <p:sp>
        <p:nvSpPr>
          <p:cNvPr id="14" name="Rectangle 13"/>
          <p:cNvSpPr/>
          <p:nvPr/>
        </p:nvSpPr>
        <p:spPr>
          <a:xfrm>
            <a:off x="8339327" y="2807208"/>
            <a:ext cx="100584" cy="310896"/>
          </a:xfrm>
          <a:prstGeom prst="rect">
            <a:avLst/>
          </a:prstGeom>
          <a:solidFill>
            <a:srgbClr val="2D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58784" y="2761488"/>
            <a:ext cx="1005840" cy="310896"/>
          </a:xfrm>
          <a:prstGeom prst="rect">
            <a:avLst/>
          </a:prstGeom>
          <a:noFill/>
        </p:spPr>
        <p:txBody>
          <a:bodyPr wrap="square" anchor="t" lIns="0" rIns="0" tIns="0" bIns="0">
            <a:spAutoFit/>
          </a:bodyPr>
          <a:lstStyle/>
          <a:p>
            <a:pPr algn="l">
              <a:lnSpc>
                <a:spcPct val="100000"/>
              </a:lnSpc>
              <a:spcAft>
                <a:spcPts val="0"/>
              </a:spcAft>
            </a:pPr>
            <a:r>
              <a:rPr sz="1900" b="1" i="0">
                <a:solidFill>
                  <a:srgbClr val="2D2D2D"/>
                </a:solidFill>
                <a:latin typeface="Georgia"/>
              </a:rPr>
              <a:t>18%</a:t>
            </a:r>
          </a:p>
        </p:txBody>
      </p:sp>
      <p:sp>
        <p:nvSpPr>
          <p:cNvPr id="16" name="TextBox 15"/>
          <p:cNvSpPr txBox="1"/>
          <p:nvPr/>
        </p:nvSpPr>
        <p:spPr>
          <a:xfrm>
            <a:off x="9528048" y="2816352"/>
            <a:ext cx="2103120" cy="274320"/>
          </a:xfrm>
          <a:prstGeom prst="rect">
            <a:avLst/>
          </a:prstGeom>
          <a:noFill/>
        </p:spPr>
        <p:txBody>
          <a:bodyPr wrap="square" anchor="t" lIns="0" rIns="0" tIns="0" bIns="0">
            <a:spAutoFit/>
          </a:bodyPr>
          <a:lstStyle/>
          <a:p>
            <a:pPr algn="l">
              <a:lnSpc>
                <a:spcPct val="100000"/>
              </a:lnSpc>
              <a:spcAft>
                <a:spcPts val="0"/>
              </a:spcAft>
            </a:pPr>
            <a:r>
              <a:rPr sz="1100" b="1" i="0">
                <a:solidFill>
                  <a:srgbClr val="2D2D2D"/>
                </a:solidFill>
                <a:latin typeface="Arial"/>
              </a:rPr>
              <a:t>Fundamentally Human</a:t>
            </a:r>
          </a:p>
        </p:txBody>
      </p:sp>
      <p:sp>
        <p:nvSpPr>
          <p:cNvPr id="17" name="Rectangle 16"/>
          <p:cNvSpPr/>
          <p:nvPr/>
        </p:nvSpPr>
        <p:spPr>
          <a:xfrm>
            <a:off x="8339327" y="3310128"/>
            <a:ext cx="3200400" cy="10972"/>
          </a:xfrm>
          <a:prstGeom prst="rect">
            <a:avLst/>
          </a:prstGeom>
          <a:solidFill>
            <a:srgbClr val="C9C3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39327" y="3438144"/>
            <a:ext cx="3246120" cy="640080"/>
          </a:xfrm>
          <a:prstGeom prst="rect">
            <a:avLst/>
          </a:prstGeom>
          <a:noFill/>
        </p:spPr>
        <p:txBody>
          <a:bodyPr wrap="square" anchor="t" lIns="0" rIns="0" tIns="0" bIns="0">
            <a:spAutoFit/>
          </a:bodyPr>
          <a:lstStyle/>
          <a:p>
            <a:pPr algn="l">
              <a:lnSpc>
                <a:spcPct val="120000"/>
              </a:lnSpc>
              <a:spcAft>
                <a:spcPts val="700"/>
              </a:spcAft>
            </a:pPr>
            <a:r>
              <a:rPr sz="1050" b="0" i="0">
                <a:solidFill>
                  <a:srgbClr val="2D2D2D"/>
                </a:solidFill>
                <a:latin typeface="Arial"/>
              </a:rPr>
              <a:t>Only that 22% runs on AI by itself. The 60% Augmentable slice is where people get faster and better at their jobs, and it's the biggest prize of the three by far.</a:t>
            </a:r>
          </a:p>
        </p:txBody>
      </p:sp>
      <p:pic>
        <p:nvPicPr>
          <p:cNvPr id="19" name="Picture 18" descr="capacity.png"/>
          <p:cNvPicPr>
            <a:picLocks noChangeAspect="1"/>
          </p:cNvPicPr>
          <p:nvPr/>
        </p:nvPicPr>
        <p:blipFill>
          <a:blip r:embed="rId3"/>
          <a:stretch>
            <a:fillRect/>
          </a:stretch>
        </p:blipFill>
        <p:spPr>
          <a:xfrm>
            <a:off x="457200" y="4315968"/>
            <a:ext cx="6035040" cy="1883664"/>
          </a:xfrm>
          <a:prstGeom prst="rect">
            <a:avLst/>
          </a:prstGeom>
        </p:spPr>
      </p:pic>
      <p:sp>
        <p:nvSpPr>
          <p:cNvPr id="20" name="Rectangle 19"/>
          <p:cNvSpPr/>
          <p:nvPr/>
        </p:nvSpPr>
        <p:spPr>
          <a:xfrm>
            <a:off x="6720840" y="4315968"/>
            <a:ext cx="5010912" cy="1883664"/>
          </a:xfrm>
          <a:prstGeom prst="rect">
            <a:avLst/>
          </a:prstGeom>
          <a:solidFill>
            <a:srgbClr val="2D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22008" y="4462272"/>
            <a:ext cx="4617720" cy="237744"/>
          </a:xfrm>
          <a:prstGeom prst="rect">
            <a:avLst/>
          </a:prstGeom>
          <a:noFill/>
        </p:spPr>
        <p:txBody>
          <a:bodyPr wrap="square" anchor="t" lIns="0" rIns="0" tIns="0" bIns="0">
            <a:spAutoFit/>
          </a:bodyPr>
          <a:lstStyle/>
          <a:p>
            <a:pPr algn="l">
              <a:lnSpc>
                <a:spcPct val="100000"/>
              </a:lnSpc>
              <a:spcAft>
                <a:spcPts val="0"/>
              </a:spcAft>
            </a:pPr>
            <a:r>
              <a:rPr sz="1050" b="1" i="0">
                <a:solidFill>
                  <a:srgbClr val="FFB600"/>
                </a:solidFill>
                <a:latin typeface="Arial"/>
              </a:rPr>
              <a:t>THE ZERO-LAYOFF ARITHMETIC</a:t>
            </a:r>
          </a:p>
        </p:txBody>
      </p:sp>
      <p:sp>
        <p:nvSpPr>
          <p:cNvPr id="22" name="TextBox 21"/>
          <p:cNvSpPr txBox="1"/>
          <p:nvPr/>
        </p:nvSpPr>
        <p:spPr>
          <a:xfrm>
            <a:off x="6922008" y="4754880"/>
            <a:ext cx="4626864" cy="1325880"/>
          </a:xfrm>
          <a:prstGeom prst="rect">
            <a:avLst/>
          </a:prstGeom>
          <a:noFill/>
        </p:spPr>
        <p:txBody>
          <a:bodyPr wrap="square" anchor="t" lIns="0" rIns="0" tIns="0" bIns="0">
            <a:spAutoFit/>
          </a:bodyPr>
          <a:lstStyle/>
          <a:p>
            <a:pPr algn="l">
              <a:lnSpc>
                <a:spcPct val="120000"/>
              </a:lnSpc>
              <a:spcAft>
                <a:spcPts val="700"/>
              </a:spcAft>
            </a:pPr>
            <a:r>
              <a:rPr sz="1100" b="0" i="0">
                <a:solidFill>
                  <a:srgbClr val="DEDAD6"/>
                </a:solidFill>
                <a:latin typeface="Arial"/>
              </a:rPr>
              <a:t>Routine work adds up to </a:t>
            </a:r>
            <a:r>
              <a:rPr sz="1200" b="1" i="0">
                <a:solidFill>
                  <a:srgbClr val="FFFFFF"/>
                </a:solidFill>
                <a:latin typeface="Arial"/>
              </a:rPr>
              <a:t>15,140</a:t>
            </a:r>
            <a:r>
              <a:rPr sz="1100" b="0" i="0">
                <a:solidFill>
                  <a:srgbClr val="DEDAD6"/>
                </a:solidFill>
                <a:latin typeface="Arial"/>
              </a:rPr>
              <a:t> FTE-equivalents today. Automate 40% of that and </a:t>
            </a:r>
            <a:r>
              <a:rPr sz="1200" b="1" i="0">
                <a:solidFill>
                  <a:srgbClr val="FFB600"/>
                </a:solidFill>
                <a:latin typeface="Arial"/>
              </a:rPr>
              <a:t>6,056</a:t>
            </a:r>
            <a:r>
              <a:rPr sz="1100" b="0" i="0">
                <a:solidFill>
                  <a:srgbClr val="DEDAD6"/>
                </a:solidFill>
                <a:latin typeface="Arial"/>
              </a:rPr>
              <a:t> come free — 21.6% of the whole workforce.</a:t>
            </a:r>
          </a:p>
          <a:p>
            <a:pPr algn="l">
              <a:lnSpc>
                <a:spcPct val="120000"/>
              </a:lnSpc>
              <a:spcAft>
                <a:spcPts val="700"/>
              </a:spcAft>
            </a:pPr>
            <a:r>
              <a:rPr sz="1100" b="0" i="0">
                <a:solidFill>
                  <a:srgbClr val="DEDAD6"/>
                </a:solidFill>
                <a:latin typeface="Arial"/>
              </a:rPr>
              <a:t>None of that is a headcount cut. Zero-Layoff means the ₹200 Cr buys the </a:t>
            </a:r>
            <a:r>
              <a:rPr sz="1100" b="1" i="0">
                <a:solidFill>
                  <a:srgbClr val="FFFFFF"/>
                </a:solidFill>
                <a:latin typeface="Arial"/>
              </a:rPr>
              <a:t>same payroll doing better work</a:t>
            </a:r>
            <a:r>
              <a:rPr sz="1100" b="0" i="0">
                <a:solidFill>
                  <a:srgbClr val="DEDAD6"/>
                </a:solidFill>
                <a:latin typeface="Arial"/>
              </a:rPr>
              <a:t>, not a smaller payroll.</a:t>
            </a:r>
          </a:p>
        </p:txBody>
      </p:sp>
      <p:sp>
        <p:nvSpPr>
          <p:cNvPr id="23" name="Rectangle 22"/>
          <p:cNvSpPr/>
          <p:nvPr/>
        </p:nvSpPr>
        <p:spPr>
          <a:xfrm>
            <a:off x="457200" y="6336792"/>
            <a:ext cx="11274552" cy="10972"/>
          </a:xfrm>
          <a:prstGeom prst="rect">
            <a:avLst/>
          </a:prstGeom>
          <a:solidFill>
            <a:srgbClr val="C9C3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6419088"/>
            <a:ext cx="9966960" cy="329184"/>
          </a:xfrm>
          <a:prstGeom prst="rect">
            <a:avLst/>
          </a:prstGeom>
          <a:noFill/>
        </p:spPr>
        <p:txBody>
          <a:bodyPr wrap="square" anchor="t" lIns="0" rIns="0" tIns="0" bIns="0">
            <a:spAutoFit/>
          </a:bodyPr>
          <a:lstStyle/>
          <a:p>
            <a:pPr algn="l">
              <a:lnSpc>
                <a:spcPct val="110000"/>
              </a:lnSpc>
              <a:spcAft>
                <a:spcPts val="0"/>
              </a:spcAft>
            </a:pPr>
            <a:r>
              <a:rPr sz="1000" b="0" i="0">
                <a:solidFill>
                  <a:srgbClr val="7D7D7D"/>
                </a:solidFill>
                <a:latin typeface="Arial"/>
              </a:rPr>
              <a:t>Automatable = 40% of routine work per the case constraint. Augmentable = residual routine + all judgment work. Fundamentally Human = all creative/strategic work.</a:t>
            </a:r>
          </a:p>
        </p:txBody>
      </p:sp>
      <p:sp>
        <p:nvSpPr>
          <p:cNvPr id="25" name="TextBox 24"/>
          <p:cNvSpPr txBox="1"/>
          <p:nvPr/>
        </p:nvSpPr>
        <p:spPr>
          <a:xfrm>
            <a:off x="10515600" y="6419088"/>
            <a:ext cx="1216152" cy="219456"/>
          </a:xfrm>
          <a:prstGeom prst="rect">
            <a:avLst/>
          </a:prstGeom>
          <a:noFill/>
        </p:spPr>
        <p:txBody>
          <a:bodyPr wrap="square" anchor="t" lIns="0" rIns="0" tIns="0" bIns="0">
            <a:spAutoFit/>
          </a:bodyPr>
          <a:lstStyle/>
          <a:p>
            <a:pPr algn="r">
              <a:lnSpc>
                <a:spcPct val="100000"/>
              </a:lnSpc>
              <a:spcAft>
                <a:spcPts val="0"/>
              </a:spcAft>
            </a:pPr>
            <a:r>
              <a:rPr sz="1000" b="0" i="0">
                <a:solidFill>
                  <a:srgbClr val="7D7D7D"/>
                </a:solidFill>
                <a:latin typeface="Arial"/>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10896"/>
            <a:ext cx="457200" cy="50292"/>
          </a:xfrm>
          <a:prstGeom prst="rect">
            <a:avLst/>
          </a:prstGeom>
          <a:solidFill>
            <a:srgbClr val="D04A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0624"/>
            <a:ext cx="10515600" cy="237744"/>
          </a:xfrm>
          <a:prstGeom prst="rect">
            <a:avLst/>
          </a:prstGeom>
          <a:noFill/>
        </p:spPr>
        <p:txBody>
          <a:bodyPr wrap="square" anchor="t" lIns="0" rIns="0" tIns="0" bIns="0">
            <a:spAutoFit/>
          </a:bodyPr>
          <a:lstStyle/>
          <a:p>
            <a:pPr algn="l">
              <a:lnSpc>
                <a:spcPct val="100000"/>
              </a:lnSpc>
              <a:spcAft>
                <a:spcPts val="0"/>
              </a:spcAft>
            </a:pPr>
            <a:r>
              <a:rPr sz="1000" b="1" i="0">
                <a:solidFill>
                  <a:srgbClr val="D04A02"/>
                </a:solidFill>
                <a:latin typeface="Arial"/>
              </a:rPr>
              <a:t>BODY  |  B4  ·  DELIVERABLE 2</a:t>
            </a:r>
          </a:p>
        </p:txBody>
      </p:sp>
      <p:sp>
        <p:nvSpPr>
          <p:cNvPr id="4" name="TextBox 3"/>
          <p:cNvSpPr txBox="1"/>
          <p:nvPr/>
        </p:nvSpPr>
        <p:spPr>
          <a:xfrm>
            <a:off x="457200" y="676656"/>
            <a:ext cx="11338560" cy="566928"/>
          </a:xfrm>
          <a:prstGeom prst="rect">
            <a:avLst/>
          </a:prstGeom>
          <a:noFill/>
        </p:spPr>
        <p:txBody>
          <a:bodyPr wrap="square" anchor="t" lIns="0" rIns="0" tIns="0" bIns="0">
            <a:spAutoFit/>
          </a:bodyPr>
          <a:lstStyle/>
          <a:p>
            <a:pPr algn="l">
              <a:lnSpc>
                <a:spcPct val="105000"/>
              </a:lnSpc>
              <a:spcAft>
                <a:spcPts val="0"/>
              </a:spcAft>
            </a:pPr>
            <a:r>
              <a:rPr sz="2000" b="1" i="0">
                <a:solidFill>
                  <a:srgbClr val="2D2D2D"/>
                </a:solidFill>
                <a:latin typeface="Georgia"/>
              </a:rPr>
              <a:t>Value alone can't set the sequence, because the highest-value function is also the least ready</a:t>
            </a:r>
          </a:p>
        </p:txBody>
      </p:sp>
      <p:pic>
        <p:nvPicPr>
          <p:cNvPr id="5" name="Picture 4" descr="readiness_matrix.png"/>
          <p:cNvPicPr>
            <a:picLocks noChangeAspect="1"/>
          </p:cNvPicPr>
          <p:nvPr/>
        </p:nvPicPr>
        <p:blipFill>
          <a:blip r:embed="rId2"/>
          <a:stretch>
            <a:fillRect/>
          </a:stretch>
        </p:blipFill>
        <p:spPr>
          <a:xfrm>
            <a:off x="384048" y="1335024"/>
            <a:ext cx="6035040" cy="4023360"/>
          </a:xfrm>
          <a:prstGeom prst="rect">
            <a:avLst/>
          </a:prstGeom>
        </p:spPr>
      </p:pic>
      <p:graphicFrame>
        <p:nvGraphicFramePr>
          <p:cNvPr id="6" name="Table 5"/>
          <p:cNvGraphicFramePr>
            <a:graphicFrameLocks noGrp="1"/>
          </p:cNvGraphicFramePr>
          <p:nvPr/>
        </p:nvGraphicFramePr>
        <p:xfrm>
          <a:off x="6583680" y="1335024"/>
          <a:ext cx="5148071" cy="2286000"/>
        </p:xfrm>
        <a:graphic>
          <a:graphicData uri="http://schemas.openxmlformats.org/drawingml/2006/table">
            <a:tbl>
              <a:tblPr firstRow="0" bandRow="0">
                <a:tableStyleId>{5C22544A-7EE6-4342-B048-85BDC9FD1C3A}</a:tableStyleId>
              </a:tblPr>
              <a:tblGrid>
                <a:gridCol w="2163055"/>
                <a:gridCol w="821961"/>
                <a:gridCol w="951744"/>
                <a:gridCol w="1211311"/>
              </a:tblGrid>
              <a:tr h="326571">
                <a:tc>
                  <a:txBody>
                    <a:bodyPr wrap="square"/>
                    <a:lstStyle/>
                    <a:p>
                      <a:pPr algn="l">
                        <a:lnSpc>
                          <a:spcPct val="105000"/>
                        </a:lnSpc>
                      </a:pPr>
                      <a:r>
                        <a:rPr sz="1050" b="1" i="0">
                          <a:solidFill>
                            <a:srgbClr val="FFFFFF"/>
                          </a:solidFill>
                          <a:latin typeface="Arial"/>
                        </a:rPr>
                        <a:t>Function</a:t>
                      </a:r>
                    </a:p>
                  </a:txBody>
                  <a:tcPr marL="64008" marR="64008" marT="32004" marB="32004" anchor="ctr">
                    <a:solidFill>
                      <a:srgbClr val="2D2D2D"/>
                    </a:solidFill>
                  </a:tcPr>
                </a:tc>
                <a:tc>
                  <a:txBody>
                    <a:bodyPr wrap="square"/>
                    <a:lstStyle/>
                    <a:p>
                      <a:pPr algn="ctr">
                        <a:lnSpc>
                          <a:spcPct val="105000"/>
                        </a:lnSpc>
                      </a:pPr>
                      <a:r>
                        <a:rPr sz="1050" b="1" i="0">
                          <a:solidFill>
                            <a:srgbClr val="FFFFFF"/>
                          </a:solidFill>
                          <a:latin typeface="Arial"/>
                        </a:rPr>
                        <a:t>Score</a:t>
                      </a:r>
                    </a:p>
                  </a:txBody>
                  <a:tcPr marL="64008" marR="64008" marT="32004" marB="32004" anchor="ctr">
                    <a:solidFill>
                      <a:srgbClr val="2D2D2D"/>
                    </a:solidFill>
                  </a:tcPr>
                </a:tc>
                <a:tc>
                  <a:txBody>
                    <a:bodyPr wrap="square"/>
                    <a:lstStyle/>
                    <a:p>
                      <a:pPr algn="ctr">
                        <a:lnSpc>
                          <a:spcPct val="105000"/>
                        </a:lnSpc>
                      </a:pPr>
                      <a:r>
                        <a:rPr sz="1050" b="1" i="0">
                          <a:solidFill>
                            <a:srgbClr val="FFFFFF"/>
                          </a:solidFill>
                          <a:latin typeface="Arial"/>
                        </a:rPr>
                        <a:t>Readiness</a:t>
                      </a:r>
                    </a:p>
                  </a:txBody>
                  <a:tcPr marL="64008" marR="64008" marT="32004" marB="32004" anchor="ctr">
                    <a:solidFill>
                      <a:srgbClr val="2D2D2D"/>
                    </a:solidFill>
                  </a:tcPr>
                </a:tc>
                <a:tc>
                  <a:txBody>
                    <a:bodyPr wrap="square"/>
                    <a:lstStyle/>
                    <a:p>
                      <a:pPr algn="ctr">
                        <a:lnSpc>
                          <a:spcPct val="105000"/>
                        </a:lnSpc>
                      </a:pPr>
                      <a:r>
                        <a:rPr sz="1050" b="1" i="0">
                          <a:solidFill>
                            <a:srgbClr val="FFFFFF"/>
                          </a:solidFill>
                          <a:latin typeface="Arial"/>
                        </a:rPr>
                        <a:t>Case priority</a:t>
                      </a:r>
                    </a:p>
                  </a:txBody>
                  <a:tcPr marL="64008" marR="64008" marT="32004" marB="32004" anchor="ctr">
                    <a:solidFill>
                      <a:srgbClr val="2D2D2D"/>
                    </a:solidFill>
                  </a:tcPr>
                </a:tc>
              </a:tr>
              <a:tr h="326571">
                <a:tc>
                  <a:txBody>
                    <a:bodyPr wrap="square"/>
                    <a:lstStyle/>
                    <a:p>
                      <a:pPr algn="l">
                        <a:lnSpc>
                          <a:spcPct val="105000"/>
                        </a:lnSpc>
                      </a:pPr>
                      <a:r>
                        <a:rPr sz="1050" b="1" i="0">
                          <a:solidFill>
                            <a:srgbClr val="2D2D2D"/>
                          </a:solidFill>
                          <a:latin typeface="Arial"/>
                        </a:rPr>
                        <a:t>Marketing &amp; CX</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4.05</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3.68</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Very High</a:t>
                      </a:r>
                    </a:p>
                  </a:txBody>
                  <a:tcPr marL="64008" marR="64008" marT="32004" marB="32004" anchor="ctr">
                    <a:solidFill>
                      <a:srgbClr val="FFFFFF"/>
                    </a:solidFill>
                  </a:tcPr>
                </a:tc>
              </a:tr>
              <a:tr h="326571">
                <a:tc>
                  <a:txBody>
                    <a:bodyPr wrap="square"/>
                    <a:lstStyle/>
                    <a:p>
                      <a:pPr algn="l">
                        <a:lnSpc>
                          <a:spcPct val="105000"/>
                        </a:lnSpc>
                      </a:pPr>
                      <a:r>
                        <a:rPr sz="1050" b="1" i="0">
                          <a:solidFill>
                            <a:srgbClr val="2D2D2D"/>
                          </a:solidFill>
                          <a:latin typeface="Arial"/>
                        </a:rPr>
                        <a:t>Retail Operations</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3.95</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1.35</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Very High</a:t>
                      </a:r>
                    </a:p>
                  </a:txBody>
                  <a:tcPr marL="64008" marR="64008" marT="32004" marB="32004" anchor="ctr">
                    <a:solidFill>
                      <a:srgbClr val="FAF8F7"/>
                    </a:solidFill>
                  </a:tcPr>
                </a:tc>
              </a:tr>
              <a:tr h="326571">
                <a:tc>
                  <a:txBody>
                    <a:bodyPr wrap="square"/>
                    <a:lstStyle/>
                    <a:p>
                      <a:pPr algn="l">
                        <a:lnSpc>
                          <a:spcPct val="105000"/>
                        </a:lnSpc>
                      </a:pPr>
                      <a:r>
                        <a:rPr sz="1050" b="1" i="0">
                          <a:solidFill>
                            <a:srgbClr val="2D2D2D"/>
                          </a:solidFill>
                          <a:latin typeface="Arial"/>
                        </a:rPr>
                        <a:t>Merchandising &amp; Planning</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3.55</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2.73</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High</a:t>
                      </a:r>
                    </a:p>
                  </a:txBody>
                  <a:tcPr marL="64008" marR="64008" marT="32004" marB="32004" anchor="ctr">
                    <a:solidFill>
                      <a:srgbClr val="FFFFFF"/>
                    </a:solidFill>
                  </a:tcPr>
                </a:tc>
              </a:tr>
              <a:tr h="326571">
                <a:tc>
                  <a:txBody>
                    <a:bodyPr wrap="square"/>
                    <a:lstStyle/>
                    <a:p>
                      <a:pPr algn="l">
                        <a:lnSpc>
                          <a:spcPct val="105000"/>
                        </a:lnSpc>
                      </a:pPr>
                      <a:r>
                        <a:rPr sz="1050" b="1" i="0">
                          <a:solidFill>
                            <a:srgbClr val="2D2D2D"/>
                          </a:solidFill>
                          <a:latin typeface="Arial"/>
                        </a:rPr>
                        <a:t>Manufacturing &amp; Quality</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3.10</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0.98</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Medium</a:t>
                      </a:r>
                    </a:p>
                  </a:txBody>
                  <a:tcPr marL="64008" marR="64008" marT="32004" marB="32004" anchor="ctr">
                    <a:solidFill>
                      <a:srgbClr val="FAF8F7"/>
                    </a:solidFill>
                  </a:tcPr>
                </a:tc>
              </a:tr>
              <a:tr h="326571">
                <a:tc>
                  <a:txBody>
                    <a:bodyPr wrap="square"/>
                    <a:lstStyle/>
                    <a:p>
                      <a:pPr algn="l">
                        <a:lnSpc>
                          <a:spcPct val="105000"/>
                        </a:lnSpc>
                      </a:pPr>
                      <a:r>
                        <a:rPr sz="1050" b="1" i="0">
                          <a:solidFill>
                            <a:srgbClr val="2D2D2D"/>
                          </a:solidFill>
                          <a:latin typeface="Arial"/>
                        </a:rPr>
                        <a:t>Design &amp; Creative</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3.05</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3.83</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Medium</a:t>
                      </a:r>
                    </a:p>
                  </a:txBody>
                  <a:tcPr marL="64008" marR="64008" marT="32004" marB="32004" anchor="ctr">
                    <a:solidFill>
                      <a:srgbClr val="FFFFFF"/>
                    </a:solidFill>
                  </a:tcPr>
                </a:tc>
              </a:tr>
              <a:tr h="326574">
                <a:tc>
                  <a:txBody>
                    <a:bodyPr wrap="square"/>
                    <a:lstStyle/>
                    <a:p>
                      <a:pPr algn="l">
                        <a:lnSpc>
                          <a:spcPct val="105000"/>
                        </a:lnSpc>
                      </a:pPr>
                      <a:r>
                        <a:rPr sz="1050" b="1" i="0">
                          <a:solidFill>
                            <a:srgbClr val="2D2D2D"/>
                          </a:solidFill>
                          <a:latin typeface="Arial"/>
                        </a:rPr>
                        <a:t>Corporate</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2.80</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3.63</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Medium</a:t>
                      </a:r>
                    </a:p>
                  </a:txBody>
                  <a:tcPr marL="64008" marR="64008" marT="32004" marB="32004" anchor="ctr">
                    <a:solidFill>
                      <a:srgbClr val="FAF8F7"/>
                    </a:solidFill>
                  </a:tcPr>
                </a:tc>
              </a:tr>
            </a:tbl>
          </a:graphicData>
        </a:graphic>
      </p:graphicFrame>
      <p:sp>
        <p:nvSpPr>
          <p:cNvPr id="7" name="Rectangle 6"/>
          <p:cNvSpPr/>
          <p:nvPr/>
        </p:nvSpPr>
        <p:spPr>
          <a:xfrm>
            <a:off x="6583680" y="3785615"/>
            <a:ext cx="5148072" cy="1042415"/>
          </a:xfrm>
          <a:prstGeom prst="rect">
            <a:avLst/>
          </a:prstGeom>
          <a:solidFill>
            <a:srgbClr val="F4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84848" y="3931920"/>
            <a:ext cx="4754880" cy="786384"/>
          </a:xfrm>
          <a:prstGeom prst="rect">
            <a:avLst/>
          </a:prstGeom>
          <a:noFill/>
        </p:spPr>
        <p:txBody>
          <a:bodyPr wrap="square" anchor="t" lIns="0" rIns="0" tIns="0" bIns="0">
            <a:spAutoFit/>
          </a:bodyPr>
          <a:lstStyle/>
          <a:p>
            <a:pPr algn="l">
              <a:lnSpc>
                <a:spcPct val="120000"/>
              </a:lnSpc>
              <a:spcAft>
                <a:spcPts val="700"/>
              </a:spcAft>
            </a:pPr>
            <a:r>
              <a:rPr sz="1100" b="0" i="0">
                <a:solidFill>
                  <a:srgbClr val="2D2D2D"/>
                </a:solidFill>
                <a:latin typeface="Arial"/>
              </a:rPr>
              <a:t>Run the numbers independently and you land back on leadership's own ranking: both “Very High” functions come out #1 and #2, “High” comes out #3. The model isn't here to overrule that instinct — it's here to show why it's right, and by how much.</a:t>
            </a:r>
          </a:p>
        </p:txBody>
      </p:sp>
      <p:sp>
        <p:nvSpPr>
          <p:cNvPr id="9" name="Rectangle 8"/>
          <p:cNvSpPr/>
          <p:nvPr/>
        </p:nvSpPr>
        <p:spPr>
          <a:xfrm>
            <a:off x="6583680" y="4974336"/>
            <a:ext cx="5148072" cy="1225296"/>
          </a:xfrm>
          <a:prstGeom prst="rect">
            <a:avLst/>
          </a:prstGeom>
          <a:solidFill>
            <a:srgbClr val="FFFFFF"/>
          </a:solidFill>
          <a:ln w="19050">
            <a:solidFill>
              <a:srgbClr val="E030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84848" y="5120640"/>
            <a:ext cx="4754880" cy="237744"/>
          </a:xfrm>
          <a:prstGeom prst="rect">
            <a:avLst/>
          </a:prstGeom>
          <a:noFill/>
        </p:spPr>
        <p:txBody>
          <a:bodyPr wrap="square" anchor="t" lIns="0" rIns="0" tIns="0" bIns="0">
            <a:spAutoFit/>
          </a:bodyPr>
          <a:lstStyle/>
          <a:p>
            <a:pPr algn="l">
              <a:lnSpc>
                <a:spcPct val="100000"/>
              </a:lnSpc>
              <a:spcAft>
                <a:spcPts val="0"/>
              </a:spcAft>
            </a:pPr>
            <a:r>
              <a:rPr sz="1050" b="1" i="0">
                <a:solidFill>
                  <a:srgbClr val="E0301E"/>
                </a:solidFill>
                <a:latin typeface="Arial"/>
              </a:rPr>
              <a:t>THE READINESS PARADOX</a:t>
            </a:r>
          </a:p>
        </p:txBody>
      </p:sp>
      <p:sp>
        <p:nvSpPr>
          <p:cNvPr id="11" name="TextBox 10"/>
          <p:cNvSpPr txBox="1"/>
          <p:nvPr/>
        </p:nvSpPr>
        <p:spPr>
          <a:xfrm>
            <a:off x="6784848" y="5413248"/>
            <a:ext cx="4773168" cy="713232"/>
          </a:xfrm>
          <a:prstGeom prst="rect">
            <a:avLst/>
          </a:prstGeom>
          <a:noFill/>
        </p:spPr>
        <p:txBody>
          <a:bodyPr wrap="square" anchor="t" lIns="0" rIns="0" tIns="0" bIns="0">
            <a:spAutoFit/>
          </a:bodyPr>
          <a:lstStyle/>
          <a:p>
            <a:pPr algn="l">
              <a:lnSpc>
                <a:spcPct val="120000"/>
              </a:lnSpc>
              <a:spcAft>
                <a:spcPts val="700"/>
              </a:spcAft>
            </a:pPr>
            <a:r>
              <a:rPr sz="1100" b="0" i="0">
                <a:solidFill>
                  <a:srgbClr val="2D2D2D"/>
                </a:solidFill>
                <a:latin typeface="Arial"/>
              </a:rPr>
              <a:t>Retail Operations has 10,000 people across 200 stores and ranks #2 on value. Its readiness score is 1.35 out of 5, fear sits at 4.3. Rolling this out at full scale first isn't ambitious — it's a way to guarantee the programme's first headline is a failed pilot.</a:t>
            </a:r>
          </a:p>
        </p:txBody>
      </p:sp>
      <p:sp>
        <p:nvSpPr>
          <p:cNvPr id="12" name="Rectangle 11"/>
          <p:cNvSpPr/>
          <p:nvPr/>
        </p:nvSpPr>
        <p:spPr>
          <a:xfrm>
            <a:off x="457200" y="6336792"/>
            <a:ext cx="11274552" cy="10972"/>
          </a:xfrm>
          <a:prstGeom prst="rect">
            <a:avLst/>
          </a:prstGeom>
          <a:solidFill>
            <a:srgbClr val="C9C3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6419088"/>
            <a:ext cx="9966960" cy="329184"/>
          </a:xfrm>
          <a:prstGeom prst="rect">
            <a:avLst/>
          </a:prstGeom>
          <a:noFill/>
        </p:spPr>
        <p:txBody>
          <a:bodyPr wrap="square" anchor="t" lIns="0" rIns="0" tIns="0" bIns="0">
            <a:spAutoFit/>
          </a:bodyPr>
          <a:lstStyle/>
          <a:p>
            <a:pPr algn="l">
              <a:lnSpc>
                <a:spcPct val="110000"/>
              </a:lnSpc>
              <a:spcAft>
                <a:spcPts val="0"/>
              </a:spcAft>
            </a:pPr>
            <a:r>
              <a:rPr sz="1000" b="0" i="0">
                <a:solidFill>
                  <a:srgbClr val="7D7D7D"/>
                </a:solidFill>
                <a:latin typeface="Arial"/>
              </a:rPr>
              <a:t>Priority score = 0.25×business impact + 0.20×customer value + 0.15×workforce scale + 0.20×automation potential + 0.20×feasibility. Readiness = mean(awareness, willingness, digital skill) − 0.5×(fear − 2.0). Scoring detail in Appendix A2.</a:t>
            </a:r>
          </a:p>
        </p:txBody>
      </p:sp>
      <p:sp>
        <p:nvSpPr>
          <p:cNvPr id="14" name="TextBox 13"/>
          <p:cNvSpPr txBox="1"/>
          <p:nvPr/>
        </p:nvSpPr>
        <p:spPr>
          <a:xfrm>
            <a:off x="10515600" y="6419088"/>
            <a:ext cx="1216152" cy="219456"/>
          </a:xfrm>
          <a:prstGeom prst="rect">
            <a:avLst/>
          </a:prstGeom>
          <a:noFill/>
        </p:spPr>
        <p:txBody>
          <a:bodyPr wrap="square" anchor="t" lIns="0" rIns="0" tIns="0" bIns="0">
            <a:spAutoFit/>
          </a:bodyPr>
          <a:lstStyle/>
          <a:p>
            <a:pPr algn="r">
              <a:lnSpc>
                <a:spcPct val="100000"/>
              </a:lnSpc>
              <a:spcAft>
                <a:spcPts val="0"/>
              </a:spcAft>
            </a:pPr>
            <a:r>
              <a:rPr sz="1000" b="0" i="0">
                <a:solidFill>
                  <a:srgbClr val="7D7D7D"/>
                </a:solidFill>
                <a:latin typeface="Arial"/>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10896"/>
            <a:ext cx="457200" cy="50292"/>
          </a:xfrm>
          <a:prstGeom prst="rect">
            <a:avLst/>
          </a:prstGeom>
          <a:solidFill>
            <a:srgbClr val="D04A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0624"/>
            <a:ext cx="10515600" cy="237744"/>
          </a:xfrm>
          <a:prstGeom prst="rect">
            <a:avLst/>
          </a:prstGeom>
          <a:noFill/>
        </p:spPr>
        <p:txBody>
          <a:bodyPr wrap="square" anchor="t" lIns="0" rIns="0" tIns="0" bIns="0">
            <a:spAutoFit/>
          </a:bodyPr>
          <a:lstStyle/>
          <a:p>
            <a:pPr algn="l">
              <a:lnSpc>
                <a:spcPct val="100000"/>
              </a:lnSpc>
              <a:spcAft>
                <a:spcPts val="0"/>
              </a:spcAft>
            </a:pPr>
            <a:r>
              <a:rPr sz="1000" b="1" i="0">
                <a:solidFill>
                  <a:srgbClr val="D04A02"/>
                </a:solidFill>
                <a:latin typeface="Arial"/>
              </a:rPr>
              <a:t>BODY  |  B5  ·  DELIVERABLE 2</a:t>
            </a:r>
          </a:p>
        </p:txBody>
      </p:sp>
      <p:sp>
        <p:nvSpPr>
          <p:cNvPr id="4" name="TextBox 3"/>
          <p:cNvSpPr txBox="1"/>
          <p:nvPr/>
        </p:nvSpPr>
        <p:spPr>
          <a:xfrm>
            <a:off x="457200" y="676656"/>
            <a:ext cx="11338560" cy="566928"/>
          </a:xfrm>
          <a:prstGeom prst="rect">
            <a:avLst/>
          </a:prstGeom>
          <a:noFill/>
        </p:spPr>
        <p:txBody>
          <a:bodyPr wrap="square" anchor="t" lIns="0" rIns="0" tIns="0" bIns="0">
            <a:spAutoFit/>
          </a:bodyPr>
          <a:lstStyle/>
          <a:p>
            <a:pPr algn="l">
              <a:lnSpc>
                <a:spcPct val="105000"/>
              </a:lnSpc>
              <a:spcAft>
                <a:spcPts val="0"/>
              </a:spcAft>
            </a:pPr>
            <a:r>
              <a:rPr sz="2000" b="1" i="0">
                <a:solidFill>
                  <a:srgbClr val="2D2D2D"/>
                </a:solidFill>
                <a:latin typeface="Georgia"/>
              </a:rPr>
              <a:t>Phase 1: two functions scale, one function earns trust first</a:t>
            </a:r>
          </a:p>
        </p:txBody>
      </p:sp>
      <p:sp>
        <p:nvSpPr>
          <p:cNvPr id="5" name="Rectangle 4"/>
          <p:cNvSpPr/>
          <p:nvPr/>
        </p:nvSpPr>
        <p:spPr>
          <a:xfrm>
            <a:off x="457200" y="1335024"/>
            <a:ext cx="11274552" cy="1298448"/>
          </a:xfrm>
          <a:prstGeom prst="rect">
            <a:avLst/>
          </a:prstGeom>
          <a:solidFill>
            <a:srgbClr val="FFFFFF"/>
          </a:solidFill>
          <a:ln w="12700">
            <a:solidFill>
              <a:srgbClr val="C9C3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335024"/>
            <a:ext cx="54864" cy="1298448"/>
          </a:xfrm>
          <a:prstGeom prst="rect">
            <a:avLst/>
          </a:prstGeom>
          <a:solidFill>
            <a:srgbClr val="D04A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1453895"/>
            <a:ext cx="5760720" cy="256032"/>
          </a:xfrm>
          <a:prstGeom prst="rect">
            <a:avLst/>
          </a:prstGeom>
          <a:noFill/>
        </p:spPr>
        <p:txBody>
          <a:bodyPr wrap="square" anchor="t" lIns="0" rIns="0" tIns="0" bIns="0">
            <a:spAutoFit/>
          </a:bodyPr>
          <a:lstStyle/>
          <a:p>
            <a:pPr algn="l">
              <a:lnSpc>
                <a:spcPct val="100000"/>
              </a:lnSpc>
              <a:spcAft>
                <a:spcPts val="0"/>
              </a:spcAft>
            </a:pPr>
            <a:r>
              <a:rPr sz="1300" b="1" i="0">
                <a:solidFill>
                  <a:srgbClr val="2D2D2D"/>
                </a:solidFill>
                <a:latin typeface="Georgia"/>
              </a:rPr>
              <a:t>MARKETING &amp; CUSTOMER EXPERIENCE</a:t>
            </a:r>
          </a:p>
        </p:txBody>
      </p:sp>
      <p:sp>
        <p:nvSpPr>
          <p:cNvPr id="8" name="TextBox 7"/>
          <p:cNvSpPr txBox="1"/>
          <p:nvPr/>
        </p:nvSpPr>
        <p:spPr>
          <a:xfrm>
            <a:off x="713232" y="1728216"/>
            <a:ext cx="5760720" cy="219456"/>
          </a:xfrm>
          <a:prstGeom prst="rect">
            <a:avLst/>
          </a:prstGeom>
          <a:noFill/>
        </p:spPr>
        <p:txBody>
          <a:bodyPr wrap="square" anchor="t" lIns="0" rIns="0" tIns="0" bIns="0">
            <a:spAutoFit/>
          </a:bodyPr>
          <a:lstStyle/>
          <a:p>
            <a:pPr algn="l">
              <a:lnSpc>
                <a:spcPct val="100000"/>
              </a:lnSpc>
              <a:spcAft>
                <a:spcPts val="0"/>
              </a:spcAft>
            </a:pPr>
            <a:r>
              <a:rPr sz="1000" b="1" i="0">
                <a:solidFill>
                  <a:srgbClr val="D04A02"/>
                </a:solidFill>
                <a:latin typeface="Arial"/>
              </a:rPr>
              <a:t>2,500 people  ·  readiness 3.68  ·  SCALE NOW</a:t>
            </a:r>
          </a:p>
        </p:txBody>
      </p:sp>
      <p:sp>
        <p:nvSpPr>
          <p:cNvPr id="9" name="TextBox 8"/>
          <p:cNvSpPr txBox="1"/>
          <p:nvPr/>
        </p:nvSpPr>
        <p:spPr>
          <a:xfrm>
            <a:off x="713232" y="1984248"/>
            <a:ext cx="5806440" cy="566928"/>
          </a:xfrm>
          <a:prstGeom prst="rect">
            <a:avLst/>
          </a:prstGeom>
          <a:noFill/>
        </p:spPr>
        <p:txBody>
          <a:bodyPr wrap="square" anchor="t" lIns="0" rIns="0" tIns="0" bIns="0">
            <a:spAutoFit/>
          </a:bodyPr>
          <a:lstStyle/>
          <a:p>
            <a:pPr algn="l">
              <a:lnSpc>
                <a:spcPct val="120000"/>
              </a:lnSpc>
              <a:spcAft>
                <a:spcPts val="0"/>
              </a:spcAft>
            </a:pPr>
            <a:r>
              <a:rPr sz="1050" b="0" i="0">
                <a:solidFill>
                  <a:srgbClr val="2D2D2D"/>
                </a:solidFill>
                <a:latin typeface="Arial"/>
              </a:rPr>
              <a:t>AI service agent deflects delivery, returns and size/fit queries; unified customer profile across five brands; generative campaign variants.</a:t>
            </a:r>
          </a:p>
        </p:txBody>
      </p:sp>
      <p:sp>
        <p:nvSpPr>
          <p:cNvPr id="10" name="Rectangle 9"/>
          <p:cNvSpPr/>
          <p:nvPr/>
        </p:nvSpPr>
        <p:spPr>
          <a:xfrm>
            <a:off x="6858000" y="1481328"/>
            <a:ext cx="10972" cy="1005840"/>
          </a:xfrm>
          <a:prstGeom prst="rect">
            <a:avLst/>
          </a:prstGeom>
          <a:solidFill>
            <a:srgbClr val="C9C3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14032" y="1481328"/>
            <a:ext cx="4480560" cy="219456"/>
          </a:xfrm>
          <a:prstGeom prst="rect">
            <a:avLst/>
          </a:prstGeom>
          <a:noFill/>
        </p:spPr>
        <p:txBody>
          <a:bodyPr wrap="square" anchor="t" lIns="0" rIns="0" tIns="0" bIns="0">
            <a:spAutoFit/>
          </a:bodyPr>
          <a:lstStyle/>
          <a:p>
            <a:pPr algn="l">
              <a:lnSpc>
                <a:spcPct val="100000"/>
              </a:lnSpc>
              <a:spcAft>
                <a:spcPts val="0"/>
              </a:spcAft>
            </a:pPr>
            <a:r>
              <a:rPr sz="1000" b="1" i="0">
                <a:solidFill>
                  <a:srgbClr val="7D7D7D"/>
                </a:solidFill>
                <a:latin typeface="Arial"/>
              </a:rPr>
              <a:t>TARGET MOVEMENT</a:t>
            </a:r>
          </a:p>
        </p:txBody>
      </p:sp>
      <p:sp>
        <p:nvSpPr>
          <p:cNvPr id="12" name="TextBox 11"/>
          <p:cNvSpPr txBox="1"/>
          <p:nvPr/>
        </p:nvSpPr>
        <p:spPr>
          <a:xfrm>
            <a:off x="7114032" y="1755648"/>
            <a:ext cx="4480560" cy="731520"/>
          </a:xfrm>
          <a:prstGeom prst="rect">
            <a:avLst/>
          </a:prstGeom>
          <a:noFill/>
        </p:spPr>
        <p:txBody>
          <a:bodyPr wrap="square" anchor="t" lIns="0" rIns="0" tIns="0" bIns="0">
            <a:spAutoFit/>
          </a:bodyPr>
          <a:lstStyle/>
          <a:p>
            <a:pPr algn="l">
              <a:lnSpc>
                <a:spcPct val="135000"/>
              </a:lnSpc>
              <a:spcAft>
                <a:spcPts val="0"/>
              </a:spcAft>
            </a:pPr>
            <a:r>
              <a:rPr sz="1200" b="1" i="0">
                <a:solidFill>
                  <a:srgbClr val="2D2D2D"/>
                </a:solidFill>
                <a:latin typeface="Georgia"/>
              </a:rPr>
              <a:t>48 hrs → under 6 hrs resolution</a:t>
            </a:r>
          </a:p>
          <a:p>
            <a:pPr algn="l">
              <a:lnSpc>
                <a:spcPct val="135000"/>
              </a:lnSpc>
              <a:spcAft>
                <a:spcPts val="0"/>
              </a:spcAft>
            </a:pPr>
            <a:r>
              <a:rPr sz="1200" b="1" i="0">
                <a:solidFill>
                  <a:srgbClr val="2D2D2D"/>
                </a:solidFill>
                <a:latin typeface="Georgia"/>
              </a:rPr>
              <a:t>58% → 75% first-time fit accuracy</a:t>
            </a:r>
          </a:p>
        </p:txBody>
      </p:sp>
      <p:sp>
        <p:nvSpPr>
          <p:cNvPr id="13" name="Rectangle 12"/>
          <p:cNvSpPr/>
          <p:nvPr/>
        </p:nvSpPr>
        <p:spPr>
          <a:xfrm>
            <a:off x="457200" y="2734056"/>
            <a:ext cx="11274552" cy="1298448"/>
          </a:xfrm>
          <a:prstGeom prst="rect">
            <a:avLst/>
          </a:prstGeom>
          <a:solidFill>
            <a:srgbClr val="FFFFFF"/>
          </a:solidFill>
          <a:ln w="12700">
            <a:solidFill>
              <a:srgbClr val="C9C3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734056"/>
            <a:ext cx="54864" cy="1298448"/>
          </a:xfrm>
          <a:prstGeom prst="rect">
            <a:avLst/>
          </a:prstGeom>
          <a:solidFill>
            <a:srgbClr val="D04A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2852928"/>
            <a:ext cx="5760720" cy="256032"/>
          </a:xfrm>
          <a:prstGeom prst="rect">
            <a:avLst/>
          </a:prstGeom>
          <a:noFill/>
        </p:spPr>
        <p:txBody>
          <a:bodyPr wrap="square" anchor="t" lIns="0" rIns="0" tIns="0" bIns="0">
            <a:spAutoFit/>
          </a:bodyPr>
          <a:lstStyle/>
          <a:p>
            <a:pPr algn="l">
              <a:lnSpc>
                <a:spcPct val="100000"/>
              </a:lnSpc>
              <a:spcAft>
                <a:spcPts val="0"/>
              </a:spcAft>
            </a:pPr>
            <a:r>
              <a:rPr sz="1300" b="1" i="0">
                <a:solidFill>
                  <a:srgbClr val="2D2D2D"/>
                </a:solidFill>
                <a:latin typeface="Georgia"/>
              </a:rPr>
              <a:t>MERCHANDISING &amp; PLANNING</a:t>
            </a:r>
          </a:p>
        </p:txBody>
      </p:sp>
      <p:sp>
        <p:nvSpPr>
          <p:cNvPr id="16" name="TextBox 15"/>
          <p:cNvSpPr txBox="1"/>
          <p:nvPr/>
        </p:nvSpPr>
        <p:spPr>
          <a:xfrm>
            <a:off x="713232" y="3127248"/>
            <a:ext cx="5760720" cy="219456"/>
          </a:xfrm>
          <a:prstGeom prst="rect">
            <a:avLst/>
          </a:prstGeom>
          <a:noFill/>
        </p:spPr>
        <p:txBody>
          <a:bodyPr wrap="square" anchor="t" lIns="0" rIns="0" tIns="0" bIns="0">
            <a:spAutoFit/>
          </a:bodyPr>
          <a:lstStyle/>
          <a:p>
            <a:pPr algn="l">
              <a:lnSpc>
                <a:spcPct val="100000"/>
              </a:lnSpc>
              <a:spcAft>
                <a:spcPts val="0"/>
              </a:spcAft>
            </a:pPr>
            <a:r>
              <a:rPr sz="1000" b="1" i="0">
                <a:solidFill>
                  <a:srgbClr val="D04A02"/>
                </a:solidFill>
                <a:latin typeface="Arial"/>
              </a:rPr>
              <a:t>1,200 people  ·  readiness 2.73  ·  SCALE NOW</a:t>
            </a:r>
          </a:p>
        </p:txBody>
      </p:sp>
      <p:sp>
        <p:nvSpPr>
          <p:cNvPr id="17" name="TextBox 16"/>
          <p:cNvSpPr txBox="1"/>
          <p:nvPr/>
        </p:nvSpPr>
        <p:spPr>
          <a:xfrm>
            <a:off x="713232" y="3383280"/>
            <a:ext cx="5806440" cy="566928"/>
          </a:xfrm>
          <a:prstGeom prst="rect">
            <a:avLst/>
          </a:prstGeom>
          <a:noFill/>
        </p:spPr>
        <p:txBody>
          <a:bodyPr wrap="square" anchor="t" lIns="0" rIns="0" tIns="0" bIns="0">
            <a:spAutoFit/>
          </a:bodyPr>
          <a:lstStyle/>
          <a:p>
            <a:pPr algn="l">
              <a:lnSpc>
                <a:spcPct val="120000"/>
              </a:lnSpc>
              <a:spcAft>
                <a:spcPts val="0"/>
              </a:spcAft>
            </a:pPr>
            <a:r>
              <a:rPr sz="1050" b="0" i="0">
                <a:solidFill>
                  <a:srgbClr val="2D2D2D"/>
                </a:solidFill>
                <a:latin typeface="Arial"/>
              </a:rPr>
              <a:t>Demand sensing on external signals (social, weather, events); AI allocation and size-curve optimisation; exception-based planning replaces spreadsheets.</a:t>
            </a:r>
          </a:p>
        </p:txBody>
      </p:sp>
      <p:sp>
        <p:nvSpPr>
          <p:cNvPr id="18" name="Rectangle 17"/>
          <p:cNvSpPr/>
          <p:nvPr/>
        </p:nvSpPr>
        <p:spPr>
          <a:xfrm>
            <a:off x="6858000" y="2880360"/>
            <a:ext cx="10972" cy="1005840"/>
          </a:xfrm>
          <a:prstGeom prst="rect">
            <a:avLst/>
          </a:prstGeom>
          <a:solidFill>
            <a:srgbClr val="C9C3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14032" y="2880360"/>
            <a:ext cx="4480560" cy="219456"/>
          </a:xfrm>
          <a:prstGeom prst="rect">
            <a:avLst/>
          </a:prstGeom>
          <a:noFill/>
        </p:spPr>
        <p:txBody>
          <a:bodyPr wrap="square" anchor="t" lIns="0" rIns="0" tIns="0" bIns="0">
            <a:spAutoFit/>
          </a:bodyPr>
          <a:lstStyle/>
          <a:p>
            <a:pPr algn="l">
              <a:lnSpc>
                <a:spcPct val="100000"/>
              </a:lnSpc>
              <a:spcAft>
                <a:spcPts val="0"/>
              </a:spcAft>
            </a:pPr>
            <a:r>
              <a:rPr sz="1000" b="1" i="0">
                <a:solidFill>
                  <a:srgbClr val="7D7D7D"/>
                </a:solidFill>
                <a:latin typeface="Arial"/>
              </a:rPr>
              <a:t>TARGET MOVEMENT</a:t>
            </a:r>
          </a:p>
        </p:txBody>
      </p:sp>
      <p:sp>
        <p:nvSpPr>
          <p:cNvPr id="20" name="TextBox 19"/>
          <p:cNvSpPr txBox="1"/>
          <p:nvPr/>
        </p:nvSpPr>
        <p:spPr>
          <a:xfrm>
            <a:off x="7114032" y="3154680"/>
            <a:ext cx="4480560" cy="731520"/>
          </a:xfrm>
          <a:prstGeom prst="rect">
            <a:avLst/>
          </a:prstGeom>
          <a:noFill/>
        </p:spPr>
        <p:txBody>
          <a:bodyPr wrap="square" anchor="t" lIns="0" rIns="0" tIns="0" bIns="0">
            <a:spAutoFit/>
          </a:bodyPr>
          <a:lstStyle/>
          <a:p>
            <a:pPr algn="l">
              <a:lnSpc>
                <a:spcPct val="135000"/>
              </a:lnSpc>
              <a:spcAft>
                <a:spcPts val="0"/>
              </a:spcAft>
            </a:pPr>
            <a:r>
              <a:rPr sz="1200" b="1" i="0">
                <a:solidFill>
                  <a:srgbClr val="2D2D2D"/>
                </a:solidFill>
                <a:latin typeface="Georgia"/>
              </a:rPr>
              <a:t>62% → 78% forecast accuracy</a:t>
            </a:r>
          </a:p>
          <a:p>
            <a:pPr algn="l">
              <a:lnSpc>
                <a:spcPct val="135000"/>
              </a:lnSpc>
              <a:spcAft>
                <a:spcPts val="0"/>
              </a:spcAft>
            </a:pPr>
            <a:r>
              <a:rPr sz="1200" b="1" i="0">
                <a:solidFill>
                  <a:srgbClr val="2D2D2D"/>
                </a:solidFill>
                <a:latin typeface="Georgia"/>
              </a:rPr>
              <a:t>₹380 Cr → ₹247 Cr markdowns</a:t>
            </a:r>
          </a:p>
        </p:txBody>
      </p:sp>
      <p:sp>
        <p:nvSpPr>
          <p:cNvPr id="21" name="Rectangle 20"/>
          <p:cNvSpPr/>
          <p:nvPr/>
        </p:nvSpPr>
        <p:spPr>
          <a:xfrm>
            <a:off x="457200" y="4133088"/>
            <a:ext cx="11274552" cy="1298448"/>
          </a:xfrm>
          <a:prstGeom prst="rect">
            <a:avLst/>
          </a:prstGeom>
          <a:solidFill>
            <a:srgbClr val="FFFFFF"/>
          </a:solidFill>
          <a:ln w="12700">
            <a:solidFill>
              <a:srgbClr val="C9C3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4133088"/>
            <a:ext cx="54864" cy="1298448"/>
          </a:xfrm>
          <a:prstGeom prst="rect">
            <a:avLst/>
          </a:prstGeom>
          <a:solidFill>
            <a:srgbClr val="EB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 y="4251960"/>
            <a:ext cx="5760720" cy="256032"/>
          </a:xfrm>
          <a:prstGeom prst="rect">
            <a:avLst/>
          </a:prstGeom>
          <a:noFill/>
        </p:spPr>
        <p:txBody>
          <a:bodyPr wrap="square" anchor="t" lIns="0" rIns="0" tIns="0" bIns="0">
            <a:spAutoFit/>
          </a:bodyPr>
          <a:lstStyle/>
          <a:p>
            <a:pPr algn="l">
              <a:lnSpc>
                <a:spcPct val="100000"/>
              </a:lnSpc>
              <a:spcAft>
                <a:spcPts val="0"/>
              </a:spcAft>
            </a:pPr>
            <a:r>
              <a:rPr sz="1300" b="1" i="0">
                <a:solidFill>
                  <a:srgbClr val="2D2D2D"/>
                </a:solidFill>
                <a:latin typeface="Georgia"/>
              </a:rPr>
              <a:t>RETAIL OPERATIONS</a:t>
            </a:r>
          </a:p>
        </p:txBody>
      </p:sp>
      <p:sp>
        <p:nvSpPr>
          <p:cNvPr id="24" name="TextBox 23"/>
          <p:cNvSpPr txBox="1"/>
          <p:nvPr/>
        </p:nvSpPr>
        <p:spPr>
          <a:xfrm>
            <a:off x="713232" y="4526280"/>
            <a:ext cx="5760720" cy="219456"/>
          </a:xfrm>
          <a:prstGeom prst="rect">
            <a:avLst/>
          </a:prstGeom>
          <a:noFill/>
        </p:spPr>
        <p:txBody>
          <a:bodyPr wrap="square" anchor="t" lIns="0" rIns="0" tIns="0" bIns="0">
            <a:spAutoFit/>
          </a:bodyPr>
          <a:lstStyle/>
          <a:p>
            <a:pPr algn="l">
              <a:lnSpc>
                <a:spcPct val="100000"/>
              </a:lnSpc>
              <a:spcAft>
                <a:spcPts val="0"/>
              </a:spcAft>
            </a:pPr>
            <a:r>
              <a:rPr sz="1000" b="1" i="0">
                <a:solidFill>
                  <a:srgbClr val="EB8C00"/>
                </a:solidFill>
                <a:latin typeface="Arial"/>
              </a:rPr>
              <a:t>10,000 people  ·  readiness 1.35  ·  PILOT FIRST</a:t>
            </a:r>
          </a:p>
        </p:txBody>
      </p:sp>
      <p:sp>
        <p:nvSpPr>
          <p:cNvPr id="25" name="TextBox 24"/>
          <p:cNvSpPr txBox="1"/>
          <p:nvPr/>
        </p:nvSpPr>
        <p:spPr>
          <a:xfrm>
            <a:off x="713232" y="4782312"/>
            <a:ext cx="5806440" cy="566928"/>
          </a:xfrm>
          <a:prstGeom prst="rect">
            <a:avLst/>
          </a:prstGeom>
          <a:noFill/>
        </p:spPr>
        <p:txBody>
          <a:bodyPr wrap="square" anchor="t" lIns="0" rIns="0" tIns="0" bIns="0">
            <a:spAutoFit/>
          </a:bodyPr>
          <a:lstStyle/>
          <a:p>
            <a:pPr algn="l">
              <a:lnSpc>
                <a:spcPct val="120000"/>
              </a:lnSpc>
              <a:spcAft>
                <a:spcPts val="0"/>
              </a:spcAft>
            </a:pPr>
            <a:r>
              <a:rPr sz="1050" b="0" i="0">
                <a:solidFill>
                  <a:srgbClr val="2D2D2D"/>
                </a:solidFill>
                <a:latin typeface="Arial"/>
              </a:rPr>
              <a:t>20-store pilot: voice stock look-up, AI clienteling prompts, auto-rostering. Scale to 200 stores only after adoption and sentiment gates are met.</a:t>
            </a:r>
          </a:p>
        </p:txBody>
      </p:sp>
      <p:sp>
        <p:nvSpPr>
          <p:cNvPr id="26" name="Rectangle 25"/>
          <p:cNvSpPr/>
          <p:nvPr/>
        </p:nvSpPr>
        <p:spPr>
          <a:xfrm>
            <a:off x="6858000" y="4279392"/>
            <a:ext cx="10972" cy="1005840"/>
          </a:xfrm>
          <a:prstGeom prst="rect">
            <a:avLst/>
          </a:prstGeom>
          <a:solidFill>
            <a:srgbClr val="C9C3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14032" y="4279392"/>
            <a:ext cx="4480560" cy="219456"/>
          </a:xfrm>
          <a:prstGeom prst="rect">
            <a:avLst/>
          </a:prstGeom>
          <a:noFill/>
        </p:spPr>
        <p:txBody>
          <a:bodyPr wrap="square" anchor="t" lIns="0" rIns="0" tIns="0" bIns="0">
            <a:spAutoFit/>
          </a:bodyPr>
          <a:lstStyle/>
          <a:p>
            <a:pPr algn="l">
              <a:lnSpc>
                <a:spcPct val="100000"/>
              </a:lnSpc>
              <a:spcAft>
                <a:spcPts val="0"/>
              </a:spcAft>
            </a:pPr>
            <a:r>
              <a:rPr sz="1000" b="1" i="0">
                <a:solidFill>
                  <a:srgbClr val="7D7D7D"/>
                </a:solidFill>
                <a:latin typeface="Arial"/>
              </a:rPr>
              <a:t>TARGET MOVEMENT</a:t>
            </a:r>
          </a:p>
        </p:txBody>
      </p:sp>
      <p:sp>
        <p:nvSpPr>
          <p:cNvPr id="28" name="TextBox 27"/>
          <p:cNvSpPr txBox="1"/>
          <p:nvPr/>
        </p:nvSpPr>
        <p:spPr>
          <a:xfrm>
            <a:off x="7114032" y="4553712"/>
            <a:ext cx="4480560" cy="731520"/>
          </a:xfrm>
          <a:prstGeom prst="rect">
            <a:avLst/>
          </a:prstGeom>
          <a:noFill/>
        </p:spPr>
        <p:txBody>
          <a:bodyPr wrap="square" anchor="t" lIns="0" rIns="0" tIns="0" bIns="0">
            <a:spAutoFit/>
          </a:bodyPr>
          <a:lstStyle/>
          <a:p>
            <a:pPr algn="l">
              <a:lnSpc>
                <a:spcPct val="135000"/>
              </a:lnSpc>
              <a:spcAft>
                <a:spcPts val="0"/>
              </a:spcAft>
            </a:pPr>
            <a:r>
              <a:rPr sz="1200" b="1" i="0">
                <a:solidFill>
                  <a:srgbClr val="2D2D2D"/>
                </a:solidFill>
                <a:latin typeface="Georgia"/>
              </a:rPr>
              <a:t>42% → 32% attrition in pilot stores</a:t>
            </a:r>
          </a:p>
          <a:p>
            <a:pPr algn="l">
              <a:lnSpc>
                <a:spcPct val="135000"/>
              </a:lnSpc>
              <a:spcAft>
                <a:spcPts val="0"/>
              </a:spcAft>
            </a:pPr>
            <a:r>
              <a:rPr sz="1200" b="1" i="0">
                <a:solidFill>
                  <a:srgbClr val="2D2D2D"/>
                </a:solidFill>
                <a:latin typeface="Georgia"/>
              </a:rPr>
              <a:t>Associate selling time +30%</a:t>
            </a:r>
          </a:p>
        </p:txBody>
      </p:sp>
      <p:sp>
        <p:nvSpPr>
          <p:cNvPr id="29" name="Rectangle 28"/>
          <p:cNvSpPr/>
          <p:nvPr/>
        </p:nvSpPr>
        <p:spPr>
          <a:xfrm>
            <a:off x="457200" y="5532120"/>
            <a:ext cx="11274552" cy="667512"/>
          </a:xfrm>
          <a:prstGeom prst="rect">
            <a:avLst/>
          </a:prstGeom>
          <a:solidFill>
            <a:srgbClr val="2D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3232" y="5669280"/>
            <a:ext cx="10789920" cy="457200"/>
          </a:xfrm>
          <a:prstGeom prst="rect">
            <a:avLst/>
          </a:prstGeom>
          <a:noFill/>
        </p:spPr>
        <p:txBody>
          <a:bodyPr wrap="square" anchor="t" lIns="0" rIns="0" tIns="0" bIns="0">
            <a:spAutoFit/>
          </a:bodyPr>
          <a:lstStyle/>
          <a:p>
            <a:pPr algn="l">
              <a:lnSpc>
                <a:spcPct val="120000"/>
              </a:lnSpc>
              <a:spcAft>
                <a:spcPts val="700"/>
              </a:spcAft>
            </a:pPr>
            <a:r>
              <a:rPr sz="1150" b="0" i="0">
                <a:solidFill>
                  <a:srgbClr val="FFFFFF"/>
                </a:solidFill>
                <a:latin typeface="Arial"/>
              </a:rPr>
              <a:t>Manufacturing &amp; Quality has the largest routine load of any function and the lowest readiness score on the list. </a:t>
            </a:r>
            <a:r>
              <a:rPr sz="1150" b="1" i="0">
                <a:solidFill>
                  <a:srgbClr val="FFB600"/>
                </a:solidFill>
                <a:latin typeface="Arial"/>
              </a:rPr>
              <a:t>That's exactly why it waits for Phase 3, </a:t>
            </a:r>
            <a:r>
              <a:rPr sz="1150" b="0" i="0">
                <a:solidFill>
                  <a:srgbClr val="FFFFFF"/>
                </a:solidFill>
                <a:latin typeface="Arial"/>
              </a:rPr>
              <a:t>paired with EPR traceability work — where AI adds new compliance roles instead of touching the inspection jobs people already have.</a:t>
            </a:r>
          </a:p>
        </p:txBody>
      </p:sp>
      <p:sp>
        <p:nvSpPr>
          <p:cNvPr id="31" name="Rectangle 30"/>
          <p:cNvSpPr/>
          <p:nvPr/>
        </p:nvSpPr>
        <p:spPr>
          <a:xfrm>
            <a:off x="457200" y="6336792"/>
            <a:ext cx="11274552" cy="10972"/>
          </a:xfrm>
          <a:prstGeom prst="rect">
            <a:avLst/>
          </a:prstGeom>
          <a:solidFill>
            <a:srgbClr val="C9C3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6419088"/>
            <a:ext cx="9966960" cy="329184"/>
          </a:xfrm>
          <a:prstGeom prst="rect">
            <a:avLst/>
          </a:prstGeom>
          <a:noFill/>
        </p:spPr>
        <p:txBody>
          <a:bodyPr wrap="square" anchor="t" lIns="0" rIns="0" tIns="0" bIns="0">
            <a:spAutoFit/>
          </a:bodyPr>
          <a:lstStyle/>
          <a:p>
            <a:pPr algn="l">
              <a:lnSpc>
                <a:spcPct val="110000"/>
              </a:lnSpc>
              <a:spcAft>
                <a:spcPts val="0"/>
              </a:spcAft>
            </a:pPr>
            <a:r>
              <a:rPr sz="1000" b="0" i="0">
                <a:solidFill>
                  <a:srgbClr val="7D7D7D"/>
                </a:solidFill>
                <a:latin typeface="Arial"/>
              </a:rPr>
              <a:t>Pilot gate: adoption ≥70% of associates using the tool weekly and no decline in employee sentiment before scaling beyond 20 stores.</a:t>
            </a:r>
          </a:p>
        </p:txBody>
      </p:sp>
      <p:sp>
        <p:nvSpPr>
          <p:cNvPr id="33" name="TextBox 32"/>
          <p:cNvSpPr txBox="1"/>
          <p:nvPr/>
        </p:nvSpPr>
        <p:spPr>
          <a:xfrm>
            <a:off x="10515600" y="6419088"/>
            <a:ext cx="1216152" cy="219456"/>
          </a:xfrm>
          <a:prstGeom prst="rect">
            <a:avLst/>
          </a:prstGeom>
          <a:noFill/>
        </p:spPr>
        <p:txBody>
          <a:bodyPr wrap="square" anchor="t" lIns="0" rIns="0" tIns="0" bIns="0">
            <a:spAutoFit/>
          </a:bodyPr>
          <a:lstStyle/>
          <a:p>
            <a:pPr algn="r">
              <a:lnSpc>
                <a:spcPct val="100000"/>
              </a:lnSpc>
              <a:spcAft>
                <a:spcPts val="0"/>
              </a:spcAft>
            </a:pPr>
            <a:r>
              <a:rPr sz="1000" b="0" i="0">
                <a:solidFill>
                  <a:srgbClr val="7D7D7D"/>
                </a:solidFill>
                <a:latin typeface="Arial"/>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10896"/>
            <a:ext cx="457200" cy="50292"/>
          </a:xfrm>
          <a:prstGeom prst="rect">
            <a:avLst/>
          </a:prstGeom>
          <a:solidFill>
            <a:srgbClr val="D04A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0624"/>
            <a:ext cx="10515600" cy="237744"/>
          </a:xfrm>
          <a:prstGeom prst="rect">
            <a:avLst/>
          </a:prstGeom>
          <a:noFill/>
        </p:spPr>
        <p:txBody>
          <a:bodyPr wrap="square" anchor="t" lIns="0" rIns="0" tIns="0" bIns="0">
            <a:spAutoFit/>
          </a:bodyPr>
          <a:lstStyle/>
          <a:p>
            <a:pPr algn="l">
              <a:lnSpc>
                <a:spcPct val="100000"/>
              </a:lnSpc>
              <a:spcAft>
                <a:spcPts val="0"/>
              </a:spcAft>
            </a:pPr>
            <a:r>
              <a:rPr sz="1000" b="1" i="0">
                <a:solidFill>
                  <a:srgbClr val="D04A02"/>
                </a:solidFill>
                <a:latin typeface="Arial"/>
              </a:rPr>
              <a:t>BODY  |  B6  ·  DELIVERABLE 2</a:t>
            </a:r>
          </a:p>
        </p:txBody>
      </p:sp>
      <p:sp>
        <p:nvSpPr>
          <p:cNvPr id="4" name="TextBox 3"/>
          <p:cNvSpPr txBox="1"/>
          <p:nvPr/>
        </p:nvSpPr>
        <p:spPr>
          <a:xfrm>
            <a:off x="457200" y="676656"/>
            <a:ext cx="11338560" cy="566928"/>
          </a:xfrm>
          <a:prstGeom prst="rect">
            <a:avLst/>
          </a:prstGeom>
          <a:noFill/>
        </p:spPr>
        <p:txBody>
          <a:bodyPr wrap="square" anchor="t" lIns="0" rIns="0" tIns="0" bIns="0">
            <a:spAutoFit/>
          </a:bodyPr>
          <a:lstStyle/>
          <a:p>
            <a:pPr algn="l">
              <a:lnSpc>
                <a:spcPct val="105000"/>
              </a:lnSpc>
              <a:spcAft>
                <a:spcPts val="0"/>
              </a:spcAft>
            </a:pPr>
            <a:r>
              <a:rPr sz="2000" b="1" i="0">
                <a:solidFill>
                  <a:srgbClr val="2D2D2D"/>
                </a:solidFill>
                <a:latin typeface="Georgia"/>
              </a:rPr>
              <a:t>We're redesigning around the workflow. The org chart can mostly stay put.</a:t>
            </a:r>
          </a:p>
        </p:txBody>
      </p:sp>
      <p:sp>
        <p:nvSpPr>
          <p:cNvPr id="5" name="TextBox 4"/>
          <p:cNvSpPr txBox="1"/>
          <p:nvPr/>
        </p:nvSpPr>
        <p:spPr>
          <a:xfrm>
            <a:off x="457200" y="1316736"/>
            <a:ext cx="5486400" cy="237744"/>
          </a:xfrm>
          <a:prstGeom prst="rect">
            <a:avLst/>
          </a:prstGeom>
          <a:noFill/>
        </p:spPr>
        <p:txBody>
          <a:bodyPr wrap="square" anchor="t" lIns="0" rIns="0" tIns="0" bIns="0">
            <a:spAutoFit/>
          </a:bodyPr>
          <a:lstStyle/>
          <a:p>
            <a:pPr algn="l">
              <a:lnSpc>
                <a:spcPct val="100000"/>
              </a:lnSpc>
              <a:spcAft>
                <a:spcPts val="0"/>
              </a:spcAft>
            </a:pPr>
            <a:r>
              <a:rPr sz="1050" b="1" i="0">
                <a:solidFill>
                  <a:srgbClr val="7D7D7D"/>
                </a:solidFill>
                <a:latin typeface="Arial"/>
              </a:rPr>
              <a:t>TODAY — SEQUENTIAL HANDOFFS</a:t>
            </a:r>
          </a:p>
        </p:txBody>
      </p:sp>
      <p:sp>
        <p:nvSpPr>
          <p:cNvPr id="6" name="Rectangle 5"/>
          <p:cNvSpPr/>
          <p:nvPr/>
        </p:nvSpPr>
        <p:spPr>
          <a:xfrm>
            <a:off x="457200" y="1591056"/>
            <a:ext cx="1298448" cy="786384"/>
          </a:xfrm>
          <a:prstGeom prst="rect">
            <a:avLst/>
          </a:prstGeom>
          <a:solidFill>
            <a:srgbClr val="F4F1EF"/>
          </a:solidFill>
          <a:ln w="12700">
            <a:solidFill>
              <a:srgbClr val="C9C3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9496" y="1700784"/>
            <a:ext cx="1133856" cy="603504"/>
          </a:xfrm>
          <a:prstGeom prst="rect">
            <a:avLst/>
          </a:prstGeom>
          <a:noFill/>
        </p:spPr>
        <p:txBody>
          <a:bodyPr wrap="square" anchor="t" lIns="0" rIns="0" tIns="0" bIns="0">
            <a:spAutoFit/>
          </a:bodyPr>
          <a:lstStyle/>
          <a:p>
            <a:pPr algn="ctr">
              <a:lnSpc>
                <a:spcPct val="115000"/>
              </a:lnSpc>
              <a:spcAft>
                <a:spcPts val="0"/>
              </a:spcAft>
            </a:pPr>
            <a:r>
              <a:rPr sz="1000" b="0" i="0">
                <a:solidFill>
                  <a:srgbClr val="7D7D7D"/>
                </a:solidFill>
                <a:latin typeface="Arial"/>
              </a:rPr>
              <a:t>Designer researches</a:t>
            </a:r>
          </a:p>
          <a:p>
            <a:pPr algn="ctr">
              <a:lnSpc>
                <a:spcPct val="115000"/>
              </a:lnSpc>
              <a:spcAft>
                <a:spcPts val="0"/>
              </a:spcAft>
            </a:pPr>
            <a:r>
              <a:rPr sz="1000" b="0" i="0">
                <a:solidFill>
                  <a:srgbClr val="7D7D7D"/>
                </a:solidFill>
                <a:latin typeface="Arial"/>
              </a:rPr>
              <a:t>trends manually</a:t>
            </a:r>
          </a:p>
        </p:txBody>
      </p:sp>
      <p:sp>
        <p:nvSpPr>
          <p:cNvPr id="8" name="Rectangle 7"/>
          <p:cNvSpPr/>
          <p:nvPr/>
        </p:nvSpPr>
        <p:spPr>
          <a:xfrm>
            <a:off x="1856232" y="1591056"/>
            <a:ext cx="1298448" cy="786384"/>
          </a:xfrm>
          <a:prstGeom prst="rect">
            <a:avLst/>
          </a:prstGeom>
          <a:solidFill>
            <a:srgbClr val="F4F1EF"/>
          </a:solidFill>
          <a:ln w="12700">
            <a:solidFill>
              <a:srgbClr val="C9C3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938528" y="1700784"/>
            <a:ext cx="1133856" cy="603504"/>
          </a:xfrm>
          <a:prstGeom prst="rect">
            <a:avLst/>
          </a:prstGeom>
          <a:noFill/>
        </p:spPr>
        <p:txBody>
          <a:bodyPr wrap="square" anchor="t" lIns="0" rIns="0" tIns="0" bIns="0">
            <a:spAutoFit/>
          </a:bodyPr>
          <a:lstStyle/>
          <a:p>
            <a:pPr algn="ctr">
              <a:lnSpc>
                <a:spcPct val="115000"/>
              </a:lnSpc>
              <a:spcAft>
                <a:spcPts val="0"/>
              </a:spcAft>
            </a:pPr>
            <a:r>
              <a:rPr sz="1000" b="0" i="0">
                <a:solidFill>
                  <a:srgbClr val="7D7D7D"/>
                </a:solidFill>
                <a:latin typeface="Arial"/>
              </a:rPr>
              <a:t>Merchandising reviews</a:t>
            </a:r>
          </a:p>
          <a:p>
            <a:pPr algn="ctr">
              <a:lnSpc>
                <a:spcPct val="115000"/>
              </a:lnSpc>
              <a:spcAft>
                <a:spcPts val="0"/>
              </a:spcAft>
            </a:pPr>
            <a:r>
              <a:rPr sz="1000" b="0" i="0">
                <a:solidFill>
                  <a:srgbClr val="7D7D7D"/>
                </a:solidFill>
                <a:latin typeface="Arial"/>
              </a:rPr>
              <a:t>historical sales</a:t>
            </a:r>
          </a:p>
        </p:txBody>
      </p:sp>
      <p:sp>
        <p:nvSpPr>
          <p:cNvPr id="10" name="Rectangle 9"/>
          <p:cNvSpPr/>
          <p:nvPr/>
        </p:nvSpPr>
        <p:spPr>
          <a:xfrm>
            <a:off x="3255264" y="1591056"/>
            <a:ext cx="1298448" cy="786384"/>
          </a:xfrm>
          <a:prstGeom prst="rect">
            <a:avLst/>
          </a:prstGeom>
          <a:solidFill>
            <a:srgbClr val="F4F1EF"/>
          </a:solidFill>
          <a:ln w="12700">
            <a:solidFill>
              <a:srgbClr val="C9C3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7560" y="1700784"/>
            <a:ext cx="1133856" cy="603504"/>
          </a:xfrm>
          <a:prstGeom prst="rect">
            <a:avLst/>
          </a:prstGeom>
          <a:noFill/>
        </p:spPr>
        <p:txBody>
          <a:bodyPr wrap="square" anchor="t" lIns="0" rIns="0" tIns="0" bIns="0">
            <a:spAutoFit/>
          </a:bodyPr>
          <a:lstStyle/>
          <a:p>
            <a:pPr algn="ctr">
              <a:lnSpc>
                <a:spcPct val="115000"/>
              </a:lnSpc>
              <a:spcAft>
                <a:spcPts val="0"/>
              </a:spcAft>
            </a:pPr>
            <a:r>
              <a:rPr sz="1000" b="0" i="0">
                <a:solidFill>
                  <a:srgbClr val="7D7D7D"/>
                </a:solidFill>
                <a:latin typeface="Arial"/>
              </a:rPr>
              <a:t>Multiple approval</a:t>
            </a:r>
          </a:p>
          <a:p>
            <a:pPr algn="ctr">
              <a:lnSpc>
                <a:spcPct val="115000"/>
              </a:lnSpc>
              <a:spcAft>
                <a:spcPts val="0"/>
              </a:spcAft>
            </a:pPr>
            <a:r>
              <a:rPr sz="1000" b="0" i="0">
                <a:solidFill>
                  <a:srgbClr val="7D7D7D"/>
                </a:solidFill>
                <a:latin typeface="Arial"/>
              </a:rPr>
              <a:t>cycles</a:t>
            </a:r>
          </a:p>
        </p:txBody>
      </p:sp>
      <p:sp>
        <p:nvSpPr>
          <p:cNvPr id="12" name="Rectangle 11"/>
          <p:cNvSpPr/>
          <p:nvPr/>
        </p:nvSpPr>
        <p:spPr>
          <a:xfrm>
            <a:off x="4654296" y="1591056"/>
            <a:ext cx="1298448" cy="786384"/>
          </a:xfrm>
          <a:prstGeom prst="rect">
            <a:avLst/>
          </a:prstGeom>
          <a:solidFill>
            <a:srgbClr val="F4F1EF"/>
          </a:solidFill>
          <a:ln w="12700">
            <a:solidFill>
              <a:srgbClr val="C9C3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2" y="1700784"/>
            <a:ext cx="1133856" cy="603504"/>
          </a:xfrm>
          <a:prstGeom prst="rect">
            <a:avLst/>
          </a:prstGeom>
          <a:noFill/>
        </p:spPr>
        <p:txBody>
          <a:bodyPr wrap="square" anchor="t" lIns="0" rIns="0" tIns="0" bIns="0">
            <a:spAutoFit/>
          </a:bodyPr>
          <a:lstStyle/>
          <a:p>
            <a:pPr algn="ctr">
              <a:lnSpc>
                <a:spcPct val="115000"/>
              </a:lnSpc>
              <a:spcAft>
                <a:spcPts val="0"/>
              </a:spcAft>
            </a:pPr>
            <a:r>
              <a:rPr sz="1000" b="0" i="0">
                <a:solidFill>
                  <a:srgbClr val="7D7D7D"/>
                </a:solidFill>
                <a:latin typeface="Arial"/>
              </a:rPr>
              <a:t>Retail executes</a:t>
            </a:r>
          </a:p>
          <a:p>
            <a:pPr algn="ctr">
              <a:lnSpc>
                <a:spcPct val="115000"/>
              </a:lnSpc>
              <a:spcAft>
                <a:spcPts val="0"/>
              </a:spcAft>
            </a:pPr>
            <a:r>
              <a:rPr sz="1000" b="0" i="0">
                <a:solidFill>
                  <a:srgbClr val="7D7D7D"/>
                </a:solidFill>
                <a:latin typeface="Arial"/>
              </a:rPr>
              <a:t>with no context</a:t>
            </a:r>
          </a:p>
        </p:txBody>
      </p:sp>
      <p:sp>
        <p:nvSpPr>
          <p:cNvPr id="14" name="TextBox 13"/>
          <p:cNvSpPr txBox="1"/>
          <p:nvPr/>
        </p:nvSpPr>
        <p:spPr>
          <a:xfrm>
            <a:off x="457200" y="2450592"/>
            <a:ext cx="5486400" cy="237744"/>
          </a:xfrm>
          <a:prstGeom prst="rect">
            <a:avLst/>
          </a:prstGeom>
          <a:noFill/>
        </p:spPr>
        <p:txBody>
          <a:bodyPr wrap="square" anchor="t" lIns="0" rIns="0" tIns="0" bIns="0">
            <a:spAutoFit/>
          </a:bodyPr>
          <a:lstStyle/>
          <a:p>
            <a:pPr algn="l">
              <a:lnSpc>
                <a:spcPct val="100000"/>
              </a:lnSpc>
              <a:spcAft>
                <a:spcPts val="0"/>
              </a:spcAft>
            </a:pPr>
            <a:r>
              <a:rPr sz="1100" b="1" i="0">
                <a:solidFill>
                  <a:srgbClr val="E0301E"/>
                </a:solidFill>
                <a:latin typeface="Arial"/>
              </a:rPr>
              <a:t>14 weeks  ·  62% forecast accuracy</a:t>
            </a:r>
          </a:p>
        </p:txBody>
      </p:sp>
      <p:sp>
        <p:nvSpPr>
          <p:cNvPr id="15" name="TextBox 14"/>
          <p:cNvSpPr txBox="1"/>
          <p:nvPr/>
        </p:nvSpPr>
        <p:spPr>
          <a:xfrm>
            <a:off x="6309360" y="1316736"/>
            <a:ext cx="5486400" cy="237744"/>
          </a:xfrm>
          <a:prstGeom prst="rect">
            <a:avLst/>
          </a:prstGeom>
          <a:noFill/>
        </p:spPr>
        <p:txBody>
          <a:bodyPr wrap="square" anchor="t" lIns="0" rIns="0" tIns="0" bIns="0">
            <a:spAutoFit/>
          </a:bodyPr>
          <a:lstStyle/>
          <a:p>
            <a:pPr algn="l">
              <a:lnSpc>
                <a:spcPct val="100000"/>
              </a:lnSpc>
              <a:spcAft>
                <a:spcPts val="0"/>
              </a:spcAft>
            </a:pPr>
            <a:r>
              <a:rPr sz="1050" b="1" i="0">
                <a:solidFill>
                  <a:srgbClr val="D04A02"/>
                </a:solidFill>
                <a:latin typeface="Arial"/>
              </a:rPr>
              <a:t>FUTURE — ONE CONCURRENT WORKFLOW</a:t>
            </a:r>
          </a:p>
        </p:txBody>
      </p:sp>
      <p:sp>
        <p:nvSpPr>
          <p:cNvPr id="16" name="Rectangle 15"/>
          <p:cNvSpPr/>
          <p:nvPr/>
        </p:nvSpPr>
        <p:spPr>
          <a:xfrm>
            <a:off x="6309360" y="1591056"/>
            <a:ext cx="5422392" cy="786384"/>
          </a:xfrm>
          <a:prstGeom prst="rect">
            <a:avLst/>
          </a:prstGeom>
          <a:solidFill>
            <a:srgbClr val="FFFFFF"/>
          </a:solidFill>
          <a:ln w="19050">
            <a:solidFill>
              <a:srgbClr val="D04A0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1700784"/>
            <a:ext cx="5029200" cy="274320"/>
          </a:xfrm>
          <a:prstGeom prst="rect">
            <a:avLst/>
          </a:prstGeom>
          <a:noFill/>
        </p:spPr>
        <p:txBody>
          <a:bodyPr wrap="square" anchor="t" lIns="0" rIns="0" tIns="0" bIns="0">
            <a:spAutoFit/>
          </a:bodyPr>
          <a:lstStyle/>
          <a:p>
            <a:pPr algn="l">
              <a:lnSpc>
                <a:spcPct val="100000"/>
              </a:lnSpc>
              <a:spcAft>
                <a:spcPts val="0"/>
              </a:spcAft>
            </a:pPr>
            <a:r>
              <a:rPr sz="1200" b="1" i="0">
                <a:solidFill>
                  <a:srgbClr val="2D2D2D"/>
                </a:solidFill>
                <a:latin typeface="Georgia"/>
              </a:rPr>
              <a:t>Shared signal &amp; decision layer</a:t>
            </a:r>
          </a:p>
        </p:txBody>
      </p:sp>
      <p:sp>
        <p:nvSpPr>
          <p:cNvPr id="18" name="TextBox 17"/>
          <p:cNvSpPr txBox="1"/>
          <p:nvPr/>
        </p:nvSpPr>
        <p:spPr>
          <a:xfrm>
            <a:off x="6492240" y="1993392"/>
            <a:ext cx="5029200" cy="274320"/>
          </a:xfrm>
          <a:prstGeom prst="rect">
            <a:avLst/>
          </a:prstGeom>
          <a:noFill/>
        </p:spPr>
        <p:txBody>
          <a:bodyPr wrap="square" anchor="t" lIns="0" rIns="0" tIns="0" bIns="0">
            <a:spAutoFit/>
          </a:bodyPr>
          <a:lstStyle/>
          <a:p>
            <a:pPr algn="l">
              <a:lnSpc>
                <a:spcPct val="100000"/>
              </a:lnSpc>
              <a:spcAft>
                <a:spcPts val="0"/>
              </a:spcAft>
            </a:pPr>
            <a:r>
              <a:rPr sz="1050" b="0" i="0">
                <a:solidFill>
                  <a:srgbClr val="2D2D2D"/>
                </a:solidFill>
                <a:latin typeface="Arial"/>
              </a:rPr>
              <a:t>Design · Merchandising · Retail work on the same live view</a:t>
            </a:r>
          </a:p>
        </p:txBody>
      </p:sp>
      <p:sp>
        <p:nvSpPr>
          <p:cNvPr id="19" name="TextBox 18"/>
          <p:cNvSpPr txBox="1"/>
          <p:nvPr/>
        </p:nvSpPr>
        <p:spPr>
          <a:xfrm>
            <a:off x="6309360" y="2450592"/>
            <a:ext cx="5486400" cy="237744"/>
          </a:xfrm>
          <a:prstGeom prst="rect">
            <a:avLst/>
          </a:prstGeom>
          <a:noFill/>
        </p:spPr>
        <p:txBody>
          <a:bodyPr wrap="square" anchor="t" lIns="0" rIns="0" tIns="0" bIns="0">
            <a:spAutoFit/>
          </a:bodyPr>
          <a:lstStyle/>
          <a:p>
            <a:pPr algn="l">
              <a:lnSpc>
                <a:spcPct val="100000"/>
              </a:lnSpc>
              <a:spcAft>
                <a:spcPts val="0"/>
              </a:spcAft>
            </a:pPr>
            <a:r>
              <a:rPr sz="1100" b="1" i="0">
                <a:solidFill>
                  <a:srgbClr val="D04A02"/>
                </a:solidFill>
                <a:latin typeface="Arial"/>
              </a:rPr>
              <a:t>8 weeks  ·  78% forecast accuracy</a:t>
            </a:r>
          </a:p>
        </p:txBody>
      </p:sp>
      <p:graphicFrame>
        <p:nvGraphicFramePr>
          <p:cNvPr id="20" name="Table 19"/>
          <p:cNvGraphicFramePr>
            <a:graphicFrameLocks noGrp="1"/>
          </p:cNvGraphicFramePr>
          <p:nvPr/>
        </p:nvGraphicFramePr>
        <p:xfrm>
          <a:off x="457200" y="2889504"/>
          <a:ext cx="11274551" cy="2084831"/>
        </p:xfrm>
        <a:graphic>
          <a:graphicData uri="http://schemas.openxmlformats.org/drawingml/2006/table">
            <a:tbl>
              <a:tblPr firstRow="0" bandRow="0">
                <a:tableStyleId>{5C22544A-7EE6-4342-B048-85BDC9FD1C3A}</a:tableStyleId>
              </a:tblPr>
              <a:tblGrid>
                <a:gridCol w="1463040"/>
                <a:gridCol w="6309359"/>
                <a:gridCol w="3502152"/>
              </a:tblGrid>
              <a:tr h="416966">
                <a:tc>
                  <a:txBody>
                    <a:bodyPr wrap="square"/>
                    <a:lstStyle/>
                    <a:p>
                      <a:pPr algn="l">
                        <a:lnSpc>
                          <a:spcPct val="105000"/>
                        </a:lnSpc>
                      </a:pPr>
                      <a:r>
                        <a:rPr sz="1050" b="1" i="0">
                          <a:solidFill>
                            <a:srgbClr val="FFFFFF"/>
                          </a:solidFill>
                          <a:latin typeface="Arial"/>
                        </a:rPr>
                        <a:t>Layer</a:t>
                      </a:r>
                    </a:p>
                  </a:txBody>
                  <a:tcPr marL="64008" marR="64008" marT="32004" marB="32004" anchor="ctr">
                    <a:solidFill>
                      <a:srgbClr val="2D2D2D"/>
                    </a:solidFill>
                  </a:tcPr>
                </a:tc>
                <a:tc>
                  <a:txBody>
                    <a:bodyPr wrap="square"/>
                    <a:lstStyle/>
                    <a:p>
                      <a:pPr algn="ctr">
                        <a:lnSpc>
                          <a:spcPct val="105000"/>
                        </a:lnSpc>
                      </a:pPr>
                      <a:r>
                        <a:rPr sz="1050" b="1" i="0">
                          <a:solidFill>
                            <a:srgbClr val="FFFFFF"/>
                          </a:solidFill>
                          <a:latin typeface="Arial"/>
                        </a:rPr>
                        <a:t>What changes</a:t>
                      </a:r>
                    </a:p>
                  </a:txBody>
                  <a:tcPr marL="64008" marR="64008" marT="32004" marB="32004" anchor="ctr">
                    <a:solidFill>
                      <a:srgbClr val="2D2D2D"/>
                    </a:solidFill>
                  </a:tcPr>
                </a:tc>
                <a:tc>
                  <a:txBody>
                    <a:bodyPr wrap="square"/>
                    <a:lstStyle/>
                    <a:p>
                      <a:pPr algn="ctr">
                        <a:lnSpc>
                          <a:spcPct val="105000"/>
                        </a:lnSpc>
                      </a:pPr>
                      <a:r>
                        <a:rPr sz="1050" b="1" i="0">
                          <a:solidFill>
                            <a:srgbClr val="FFFFFF"/>
                          </a:solidFill>
                          <a:latin typeface="Arial"/>
                        </a:rPr>
                        <a:t>Who owns it</a:t>
                      </a:r>
                    </a:p>
                  </a:txBody>
                  <a:tcPr marL="64008" marR="64008" marT="32004" marB="32004" anchor="ctr">
                    <a:solidFill>
                      <a:srgbClr val="2D2D2D"/>
                    </a:solidFill>
                  </a:tcPr>
                </a:tc>
              </a:tr>
              <a:tr h="416966">
                <a:tc>
                  <a:txBody>
                    <a:bodyPr wrap="square"/>
                    <a:lstStyle/>
                    <a:p>
                      <a:pPr algn="l">
                        <a:lnSpc>
                          <a:spcPct val="105000"/>
                        </a:lnSpc>
                      </a:pPr>
                      <a:r>
                        <a:rPr sz="1050" b="1" i="0">
                          <a:solidFill>
                            <a:srgbClr val="2D2D2D"/>
                          </a:solidFill>
                          <a:latin typeface="Arial"/>
                        </a:rPr>
                        <a:t>Structure</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Cross-functional Product &amp; Customer squads replace function-only teams for the 3 Phase-1 workflows</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Chief AI &amp; Transformation Officer (new, reports to CEO)</a:t>
                      </a:r>
                    </a:p>
                  </a:txBody>
                  <a:tcPr marL="64008" marR="64008" marT="32004" marB="32004" anchor="ctr">
                    <a:solidFill>
                      <a:srgbClr val="FFFFFF"/>
                    </a:solidFill>
                  </a:tcPr>
                </a:tc>
              </a:tr>
              <a:tr h="416966">
                <a:tc>
                  <a:txBody>
                    <a:bodyPr wrap="square"/>
                    <a:lstStyle/>
                    <a:p>
                      <a:pPr algn="l">
                        <a:lnSpc>
                          <a:spcPct val="105000"/>
                        </a:lnSpc>
                      </a:pPr>
                      <a:r>
                        <a:rPr sz="1050" b="1" i="0">
                          <a:solidFill>
                            <a:srgbClr val="2D2D2D"/>
                          </a:solidFill>
                          <a:latin typeface="Arial"/>
                        </a:rPr>
                        <a:t>Roles</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Six new role families created as redeployment destinations; no role eliminated</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Function heads with CHRO</a:t>
                      </a:r>
                    </a:p>
                  </a:txBody>
                  <a:tcPr marL="64008" marR="64008" marT="32004" marB="32004" anchor="ctr">
                    <a:solidFill>
                      <a:srgbClr val="FAF8F7"/>
                    </a:solidFill>
                  </a:tcPr>
                </a:tc>
              </a:tr>
              <a:tr h="416966">
                <a:tc>
                  <a:txBody>
                    <a:bodyPr wrap="square"/>
                    <a:lstStyle/>
                    <a:p>
                      <a:pPr algn="l">
                        <a:lnSpc>
                          <a:spcPct val="105000"/>
                        </a:lnSpc>
                      </a:pPr>
                      <a:r>
                        <a:rPr sz="1050" b="1" i="0">
                          <a:solidFill>
                            <a:srgbClr val="2D2D2D"/>
                          </a:solidFill>
                          <a:latin typeface="Arial"/>
                        </a:rPr>
                        <a:t>Workflows</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Approval cycles replaced by exception-based review — humans intervene where AI flags uncertainty</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Squad leads, standards set by the AI CoE</a:t>
                      </a:r>
                    </a:p>
                  </a:txBody>
                  <a:tcPr marL="64008" marR="64008" marT="32004" marB="32004" anchor="ctr">
                    <a:solidFill>
                      <a:srgbClr val="FFFFFF"/>
                    </a:solidFill>
                  </a:tcPr>
                </a:tc>
              </a:tr>
              <a:tr h="416967">
                <a:tc>
                  <a:txBody>
                    <a:bodyPr wrap="square"/>
                    <a:lstStyle/>
                    <a:p>
                      <a:pPr algn="l">
                        <a:lnSpc>
                          <a:spcPct val="105000"/>
                        </a:lnSpc>
                      </a:pPr>
                      <a:r>
                        <a:rPr sz="1050" b="1" i="0">
                          <a:solidFill>
                            <a:srgbClr val="2D2D2D"/>
                          </a:solidFill>
                          <a:latin typeface="Arial"/>
                        </a:rPr>
                        <a:t>Decision rights</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Every AI-influenced decision assigned to one of four tiers with a named accountable human</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AI Governance Council</a:t>
                      </a:r>
                    </a:p>
                  </a:txBody>
                  <a:tcPr marL="64008" marR="64008" marT="32004" marB="32004" anchor="ctr">
                    <a:solidFill>
                      <a:srgbClr val="FAF8F7"/>
                    </a:solidFill>
                  </a:tcPr>
                </a:tc>
              </a:tr>
            </a:tbl>
          </a:graphicData>
        </a:graphic>
      </p:graphicFrame>
      <p:sp>
        <p:nvSpPr>
          <p:cNvPr id="21" name="Rectangle 20"/>
          <p:cNvSpPr/>
          <p:nvPr/>
        </p:nvSpPr>
        <p:spPr>
          <a:xfrm>
            <a:off x="457200" y="5120640"/>
            <a:ext cx="11274552" cy="1078992"/>
          </a:xfrm>
          <a:prstGeom prst="rect">
            <a:avLst/>
          </a:prstGeom>
          <a:solidFill>
            <a:srgbClr val="F4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5266944"/>
            <a:ext cx="10881360" cy="237744"/>
          </a:xfrm>
          <a:prstGeom prst="rect">
            <a:avLst/>
          </a:prstGeom>
          <a:noFill/>
        </p:spPr>
        <p:txBody>
          <a:bodyPr wrap="square" anchor="t" lIns="0" rIns="0" tIns="0" bIns="0">
            <a:spAutoFit/>
          </a:bodyPr>
          <a:lstStyle/>
          <a:p>
            <a:pPr algn="l">
              <a:lnSpc>
                <a:spcPct val="100000"/>
              </a:lnSpc>
              <a:spcAft>
                <a:spcPts val="0"/>
              </a:spcAft>
            </a:pPr>
            <a:r>
              <a:rPr sz="1050" b="1" i="0">
                <a:solidFill>
                  <a:srgbClr val="D04A02"/>
                </a:solidFill>
                <a:latin typeface="Arial"/>
              </a:rPr>
              <a:t>THE ONE STRUCTURAL RULE WE DON'T BREAK</a:t>
            </a:r>
          </a:p>
        </p:txBody>
      </p:sp>
      <p:sp>
        <p:nvSpPr>
          <p:cNvPr id="23" name="TextBox 22"/>
          <p:cNvSpPr txBox="1"/>
          <p:nvPr/>
        </p:nvSpPr>
        <p:spPr>
          <a:xfrm>
            <a:off x="658368" y="5541264"/>
            <a:ext cx="10881360" cy="548640"/>
          </a:xfrm>
          <a:prstGeom prst="rect">
            <a:avLst/>
          </a:prstGeom>
          <a:noFill/>
        </p:spPr>
        <p:txBody>
          <a:bodyPr wrap="square" anchor="t" lIns="0" rIns="0" tIns="0" bIns="0">
            <a:spAutoFit/>
          </a:bodyPr>
          <a:lstStyle/>
          <a:p>
            <a:pPr algn="l">
              <a:lnSpc>
                <a:spcPct val="120000"/>
              </a:lnSpc>
              <a:spcAft>
                <a:spcPts val="700"/>
              </a:spcAft>
            </a:pPr>
            <a:r>
              <a:rPr sz="1150" b="0" i="0">
                <a:solidFill>
                  <a:srgbClr val="2D2D2D"/>
                </a:solidFill>
                <a:latin typeface="Arial"/>
              </a:rPr>
              <a:t>We don't deploy AI into a workflow that still needs a manual handoff to finish. Automate one side of a broken handoff and the handoff itself just becomes the new bottleneck — none of the cycle-time gain shows up. This is, more or less, exactly how StyleVerse ended up fragmented in the first place.</a:t>
            </a:r>
          </a:p>
        </p:txBody>
      </p:sp>
      <p:sp>
        <p:nvSpPr>
          <p:cNvPr id="24" name="Rectangle 23"/>
          <p:cNvSpPr/>
          <p:nvPr/>
        </p:nvSpPr>
        <p:spPr>
          <a:xfrm>
            <a:off x="457200" y="6336792"/>
            <a:ext cx="11274552" cy="10972"/>
          </a:xfrm>
          <a:prstGeom prst="rect">
            <a:avLst/>
          </a:prstGeom>
          <a:solidFill>
            <a:srgbClr val="C9C3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6419088"/>
            <a:ext cx="9966960" cy="329184"/>
          </a:xfrm>
          <a:prstGeom prst="rect">
            <a:avLst/>
          </a:prstGeom>
          <a:noFill/>
        </p:spPr>
        <p:txBody>
          <a:bodyPr wrap="square" anchor="t" lIns="0" rIns="0" tIns="0" bIns="0">
            <a:spAutoFit/>
          </a:bodyPr>
          <a:lstStyle/>
          <a:p>
            <a:pPr algn="l">
              <a:lnSpc>
                <a:spcPct val="110000"/>
              </a:lnSpc>
              <a:spcAft>
                <a:spcPts val="0"/>
              </a:spcAft>
            </a:pPr>
            <a:r>
              <a:rPr sz="1000" b="0" i="0">
                <a:solidFill>
                  <a:srgbClr val="7D7D7D"/>
                </a:solidFill>
                <a:latin typeface="Arial"/>
              </a:rPr>
              <a:t>Cycle-time target of 8 weeks assumes concurrent design–merchandising review replaces three sequential approval cycles; benchmark competitors operate at under 4 weeks.</a:t>
            </a:r>
          </a:p>
        </p:txBody>
      </p:sp>
      <p:sp>
        <p:nvSpPr>
          <p:cNvPr id="26" name="TextBox 25"/>
          <p:cNvSpPr txBox="1"/>
          <p:nvPr/>
        </p:nvSpPr>
        <p:spPr>
          <a:xfrm>
            <a:off x="10515600" y="6419088"/>
            <a:ext cx="1216152" cy="219456"/>
          </a:xfrm>
          <a:prstGeom prst="rect">
            <a:avLst/>
          </a:prstGeom>
          <a:noFill/>
        </p:spPr>
        <p:txBody>
          <a:bodyPr wrap="square" anchor="t" lIns="0" rIns="0" tIns="0" bIns="0">
            <a:spAutoFit/>
          </a:bodyPr>
          <a:lstStyle/>
          <a:p>
            <a:pPr algn="r">
              <a:lnSpc>
                <a:spcPct val="100000"/>
              </a:lnSpc>
              <a:spcAft>
                <a:spcPts val="0"/>
              </a:spcAft>
            </a:pPr>
            <a:r>
              <a:rPr sz="1000" b="0" i="0">
                <a:solidFill>
                  <a:srgbClr val="7D7D7D"/>
                </a:solidFill>
                <a:latin typeface="Arial"/>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10896"/>
            <a:ext cx="457200" cy="50292"/>
          </a:xfrm>
          <a:prstGeom prst="rect">
            <a:avLst/>
          </a:prstGeom>
          <a:solidFill>
            <a:srgbClr val="D04A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0624"/>
            <a:ext cx="10515600" cy="237744"/>
          </a:xfrm>
          <a:prstGeom prst="rect">
            <a:avLst/>
          </a:prstGeom>
          <a:noFill/>
        </p:spPr>
        <p:txBody>
          <a:bodyPr wrap="square" anchor="t" lIns="0" rIns="0" tIns="0" bIns="0">
            <a:spAutoFit/>
          </a:bodyPr>
          <a:lstStyle/>
          <a:p>
            <a:pPr algn="l">
              <a:lnSpc>
                <a:spcPct val="100000"/>
              </a:lnSpc>
              <a:spcAft>
                <a:spcPts val="0"/>
              </a:spcAft>
            </a:pPr>
            <a:r>
              <a:rPr sz="1000" b="1" i="0">
                <a:solidFill>
                  <a:srgbClr val="D04A02"/>
                </a:solidFill>
                <a:latin typeface="Arial"/>
              </a:rPr>
              <a:t>BODY  |  B7  ·  DELIVERABLE 2</a:t>
            </a:r>
          </a:p>
        </p:txBody>
      </p:sp>
      <p:sp>
        <p:nvSpPr>
          <p:cNvPr id="4" name="TextBox 3"/>
          <p:cNvSpPr txBox="1"/>
          <p:nvPr/>
        </p:nvSpPr>
        <p:spPr>
          <a:xfrm>
            <a:off x="457200" y="676656"/>
            <a:ext cx="11338560" cy="566928"/>
          </a:xfrm>
          <a:prstGeom prst="rect">
            <a:avLst/>
          </a:prstGeom>
          <a:noFill/>
        </p:spPr>
        <p:txBody>
          <a:bodyPr wrap="square" anchor="t" lIns="0" rIns="0" tIns="0" bIns="0">
            <a:spAutoFit/>
          </a:bodyPr>
          <a:lstStyle/>
          <a:p>
            <a:pPr algn="l">
              <a:lnSpc>
                <a:spcPct val="105000"/>
              </a:lnSpc>
              <a:spcAft>
                <a:spcPts val="0"/>
              </a:spcAft>
            </a:pPr>
            <a:r>
              <a:rPr sz="2000" b="1" i="0">
                <a:solidFill>
                  <a:srgbClr val="2D2D2D"/>
                </a:solidFill>
                <a:latin typeface="Georgia"/>
              </a:rPr>
              <a:t>Our recommendation: a federated hub-and-spoke CoE, centralised on standards, embedded on delivery</a:t>
            </a:r>
          </a:p>
        </p:txBody>
      </p:sp>
      <p:sp>
        <p:nvSpPr>
          <p:cNvPr id="5" name="Rectangle 4"/>
          <p:cNvSpPr/>
          <p:nvPr/>
        </p:nvSpPr>
        <p:spPr>
          <a:xfrm>
            <a:off x="457200" y="1335024"/>
            <a:ext cx="3685032" cy="2011680"/>
          </a:xfrm>
          <a:prstGeom prst="rect">
            <a:avLst/>
          </a:prstGeom>
          <a:solidFill>
            <a:srgbClr val="FFFFFF"/>
          </a:solidFill>
          <a:ln w="19050">
            <a:solidFill>
              <a:srgbClr val="D04A0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335024"/>
            <a:ext cx="3685032" cy="45720"/>
          </a:xfrm>
          <a:prstGeom prst="rect">
            <a:avLst/>
          </a:prstGeom>
          <a:solidFill>
            <a:srgbClr val="D04A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499616"/>
            <a:ext cx="3291840" cy="219456"/>
          </a:xfrm>
          <a:prstGeom prst="rect">
            <a:avLst/>
          </a:prstGeom>
          <a:noFill/>
        </p:spPr>
        <p:txBody>
          <a:bodyPr wrap="square" anchor="t" lIns="0" rIns="0" tIns="0" bIns="0">
            <a:spAutoFit/>
          </a:bodyPr>
          <a:lstStyle/>
          <a:p>
            <a:pPr algn="l">
              <a:lnSpc>
                <a:spcPct val="100000"/>
              </a:lnSpc>
              <a:spcAft>
                <a:spcPts val="0"/>
              </a:spcAft>
            </a:pPr>
            <a:r>
              <a:rPr sz="1000" b="1" i="0">
                <a:solidFill>
                  <a:srgbClr val="D04A02"/>
                </a:solidFill>
                <a:latin typeface="Arial"/>
              </a:rPr>
              <a:t>THE HUB</a:t>
            </a:r>
          </a:p>
        </p:txBody>
      </p:sp>
      <p:sp>
        <p:nvSpPr>
          <p:cNvPr id="8" name="TextBox 7"/>
          <p:cNvSpPr txBox="1"/>
          <p:nvPr/>
        </p:nvSpPr>
        <p:spPr>
          <a:xfrm>
            <a:off x="658368" y="1737360"/>
            <a:ext cx="3291840" cy="274320"/>
          </a:xfrm>
          <a:prstGeom prst="rect">
            <a:avLst/>
          </a:prstGeom>
          <a:noFill/>
        </p:spPr>
        <p:txBody>
          <a:bodyPr wrap="square" anchor="t" lIns="0" rIns="0" tIns="0" bIns="0">
            <a:spAutoFit/>
          </a:bodyPr>
          <a:lstStyle/>
          <a:p>
            <a:pPr algn="l">
              <a:lnSpc>
                <a:spcPct val="100000"/>
              </a:lnSpc>
              <a:spcAft>
                <a:spcPts val="0"/>
              </a:spcAft>
            </a:pPr>
            <a:r>
              <a:rPr sz="1400" b="1" i="0">
                <a:solidFill>
                  <a:srgbClr val="2D2D2D"/>
                </a:solidFill>
                <a:latin typeface="Georgia"/>
              </a:rPr>
              <a:t>AI Centre of Excellence</a:t>
            </a:r>
          </a:p>
        </p:txBody>
      </p:sp>
      <p:sp>
        <p:nvSpPr>
          <p:cNvPr id="9" name="TextBox 8"/>
          <p:cNvSpPr txBox="1"/>
          <p:nvPr/>
        </p:nvSpPr>
        <p:spPr>
          <a:xfrm>
            <a:off x="658368" y="2048256"/>
            <a:ext cx="3291840" cy="219456"/>
          </a:xfrm>
          <a:prstGeom prst="rect">
            <a:avLst/>
          </a:prstGeom>
          <a:noFill/>
        </p:spPr>
        <p:txBody>
          <a:bodyPr wrap="square" anchor="t" lIns="0" rIns="0" tIns="0" bIns="0">
            <a:spAutoFit/>
          </a:bodyPr>
          <a:lstStyle/>
          <a:p>
            <a:pPr algn="l">
              <a:lnSpc>
                <a:spcPct val="100000"/>
              </a:lnSpc>
              <a:spcAft>
                <a:spcPts val="0"/>
              </a:spcAft>
            </a:pPr>
            <a:r>
              <a:rPr sz="1050" b="1" i="0">
                <a:solidFill>
                  <a:srgbClr val="7D7D7D"/>
                </a:solidFill>
                <a:latin typeface="Arial"/>
              </a:rPr>
              <a:t>~60 FTE</a:t>
            </a:r>
          </a:p>
        </p:txBody>
      </p:sp>
      <p:sp>
        <p:nvSpPr>
          <p:cNvPr id="10" name="TextBox 9"/>
          <p:cNvSpPr txBox="1"/>
          <p:nvPr/>
        </p:nvSpPr>
        <p:spPr>
          <a:xfrm>
            <a:off x="658368" y="2340864"/>
            <a:ext cx="3337560" cy="914400"/>
          </a:xfrm>
          <a:prstGeom prst="rect">
            <a:avLst/>
          </a:prstGeom>
          <a:noFill/>
        </p:spPr>
        <p:txBody>
          <a:bodyPr wrap="square" anchor="t" lIns="0" rIns="0" tIns="0" bIns="0">
            <a:spAutoFit/>
          </a:bodyPr>
          <a:lstStyle/>
          <a:p>
            <a:pPr algn="l">
              <a:lnSpc>
                <a:spcPct val="120000"/>
              </a:lnSpc>
              <a:spcAft>
                <a:spcPts val="0"/>
              </a:spcAft>
            </a:pPr>
            <a:r>
              <a:rPr sz="1050" b="0" i="0">
                <a:solidFill>
                  <a:srgbClr val="2D2D2D"/>
                </a:solidFill>
                <a:latin typeface="Arial"/>
              </a:rPr>
              <a:t>Owns the data platform, MLOps, reusable components, model risk, standards and talent development. Reports to the Chief AI &amp; Transformation Officer.</a:t>
            </a:r>
          </a:p>
        </p:txBody>
      </p:sp>
      <p:sp>
        <p:nvSpPr>
          <p:cNvPr id="11" name="Rectangle 10"/>
          <p:cNvSpPr/>
          <p:nvPr/>
        </p:nvSpPr>
        <p:spPr>
          <a:xfrm>
            <a:off x="4251960" y="1335024"/>
            <a:ext cx="3685032" cy="2011680"/>
          </a:xfrm>
          <a:prstGeom prst="rect">
            <a:avLst/>
          </a:prstGeom>
          <a:solidFill>
            <a:srgbClr val="FFFFFF"/>
          </a:solidFill>
          <a:ln w="19050">
            <a:solidFill>
              <a:srgbClr val="EB8C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51960" y="1335024"/>
            <a:ext cx="3685032" cy="45720"/>
          </a:xfrm>
          <a:prstGeom prst="rect">
            <a:avLst/>
          </a:prstGeom>
          <a:solidFill>
            <a:srgbClr val="EB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53128" y="1499616"/>
            <a:ext cx="3291840" cy="219456"/>
          </a:xfrm>
          <a:prstGeom prst="rect">
            <a:avLst/>
          </a:prstGeom>
          <a:noFill/>
        </p:spPr>
        <p:txBody>
          <a:bodyPr wrap="square" anchor="t" lIns="0" rIns="0" tIns="0" bIns="0">
            <a:spAutoFit/>
          </a:bodyPr>
          <a:lstStyle/>
          <a:p>
            <a:pPr algn="l">
              <a:lnSpc>
                <a:spcPct val="100000"/>
              </a:lnSpc>
              <a:spcAft>
                <a:spcPts val="0"/>
              </a:spcAft>
            </a:pPr>
            <a:r>
              <a:rPr sz="1000" b="1" i="0">
                <a:solidFill>
                  <a:srgbClr val="EB8C00"/>
                </a:solidFill>
                <a:latin typeface="Arial"/>
              </a:rPr>
              <a:t>THE SPOKES</a:t>
            </a:r>
          </a:p>
        </p:txBody>
      </p:sp>
      <p:sp>
        <p:nvSpPr>
          <p:cNvPr id="14" name="TextBox 13"/>
          <p:cNvSpPr txBox="1"/>
          <p:nvPr/>
        </p:nvSpPr>
        <p:spPr>
          <a:xfrm>
            <a:off x="4453128" y="1737360"/>
            <a:ext cx="3291840" cy="274320"/>
          </a:xfrm>
          <a:prstGeom prst="rect">
            <a:avLst/>
          </a:prstGeom>
          <a:noFill/>
        </p:spPr>
        <p:txBody>
          <a:bodyPr wrap="square" anchor="t" lIns="0" rIns="0" tIns="0" bIns="0">
            <a:spAutoFit/>
          </a:bodyPr>
          <a:lstStyle/>
          <a:p>
            <a:pPr algn="l">
              <a:lnSpc>
                <a:spcPct val="100000"/>
              </a:lnSpc>
              <a:spcAft>
                <a:spcPts val="0"/>
              </a:spcAft>
            </a:pPr>
            <a:r>
              <a:rPr sz="1400" b="1" i="0">
                <a:solidFill>
                  <a:srgbClr val="2D2D2D"/>
                </a:solidFill>
                <a:latin typeface="Georgia"/>
              </a:rPr>
              <a:t>Embedded AI squads</a:t>
            </a:r>
          </a:p>
        </p:txBody>
      </p:sp>
      <p:sp>
        <p:nvSpPr>
          <p:cNvPr id="15" name="TextBox 14"/>
          <p:cNvSpPr txBox="1"/>
          <p:nvPr/>
        </p:nvSpPr>
        <p:spPr>
          <a:xfrm>
            <a:off x="4453128" y="2048256"/>
            <a:ext cx="3291840" cy="219456"/>
          </a:xfrm>
          <a:prstGeom prst="rect">
            <a:avLst/>
          </a:prstGeom>
          <a:noFill/>
        </p:spPr>
        <p:txBody>
          <a:bodyPr wrap="square" anchor="t" lIns="0" rIns="0" tIns="0" bIns="0">
            <a:spAutoFit/>
          </a:bodyPr>
          <a:lstStyle/>
          <a:p>
            <a:pPr algn="l">
              <a:lnSpc>
                <a:spcPct val="100000"/>
              </a:lnSpc>
              <a:spcAft>
                <a:spcPts val="0"/>
              </a:spcAft>
            </a:pPr>
            <a:r>
              <a:rPr sz="1050" b="1" i="0">
                <a:solidFill>
                  <a:srgbClr val="7D7D7D"/>
                </a:solidFill>
                <a:latin typeface="Arial"/>
              </a:rPr>
              <a:t>8–10 FTE each</a:t>
            </a:r>
          </a:p>
        </p:txBody>
      </p:sp>
      <p:sp>
        <p:nvSpPr>
          <p:cNvPr id="16" name="TextBox 15"/>
          <p:cNvSpPr txBox="1"/>
          <p:nvPr/>
        </p:nvSpPr>
        <p:spPr>
          <a:xfrm>
            <a:off x="4453128" y="2340864"/>
            <a:ext cx="3337560" cy="914400"/>
          </a:xfrm>
          <a:prstGeom prst="rect">
            <a:avLst/>
          </a:prstGeom>
          <a:noFill/>
        </p:spPr>
        <p:txBody>
          <a:bodyPr wrap="square" anchor="t" lIns="0" rIns="0" tIns="0" bIns="0">
            <a:spAutoFit/>
          </a:bodyPr>
          <a:lstStyle/>
          <a:p>
            <a:pPr algn="l">
              <a:lnSpc>
                <a:spcPct val="120000"/>
              </a:lnSpc>
              <a:spcAft>
                <a:spcPts val="0"/>
              </a:spcAft>
            </a:pPr>
            <a:r>
              <a:rPr sz="1050" b="0" i="0">
                <a:solidFill>
                  <a:srgbClr val="2D2D2D"/>
                </a:solidFill>
                <a:latin typeface="Arial"/>
              </a:rPr>
              <a:t>One squad per Phase-1 function, sitting inside the business. Owns use cases end to end. Dual reporting: outcomes to the function head, standards to the hub.</a:t>
            </a:r>
          </a:p>
        </p:txBody>
      </p:sp>
      <p:sp>
        <p:nvSpPr>
          <p:cNvPr id="17" name="Rectangle 16"/>
          <p:cNvSpPr/>
          <p:nvPr/>
        </p:nvSpPr>
        <p:spPr>
          <a:xfrm>
            <a:off x="8046720" y="1335024"/>
            <a:ext cx="3685032" cy="2011680"/>
          </a:xfrm>
          <a:prstGeom prst="rect">
            <a:avLst/>
          </a:prstGeom>
          <a:solidFill>
            <a:srgbClr val="FFFFFF"/>
          </a:solidFill>
          <a:ln w="19050">
            <a:solidFill>
              <a:srgbClr val="FFB6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46720" y="1335024"/>
            <a:ext cx="3685032" cy="45720"/>
          </a:xfrm>
          <a:prstGeom prst="rect">
            <a:avLst/>
          </a:prstGeom>
          <a:solidFill>
            <a:srgbClr val="FFB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47888" y="1499616"/>
            <a:ext cx="3291840" cy="219456"/>
          </a:xfrm>
          <a:prstGeom prst="rect">
            <a:avLst/>
          </a:prstGeom>
          <a:noFill/>
        </p:spPr>
        <p:txBody>
          <a:bodyPr wrap="square" anchor="t" lIns="0" rIns="0" tIns="0" bIns="0">
            <a:spAutoFit/>
          </a:bodyPr>
          <a:lstStyle/>
          <a:p>
            <a:pPr algn="l">
              <a:lnSpc>
                <a:spcPct val="100000"/>
              </a:lnSpc>
              <a:spcAft>
                <a:spcPts val="0"/>
              </a:spcAft>
            </a:pPr>
            <a:r>
              <a:rPr sz="1000" b="1" i="0">
                <a:solidFill>
                  <a:srgbClr val="FFB600"/>
                </a:solidFill>
                <a:latin typeface="Arial"/>
              </a:rPr>
              <a:t>THE BRIDGE</a:t>
            </a:r>
          </a:p>
        </p:txBody>
      </p:sp>
      <p:sp>
        <p:nvSpPr>
          <p:cNvPr id="20" name="TextBox 19"/>
          <p:cNvSpPr txBox="1"/>
          <p:nvPr/>
        </p:nvSpPr>
        <p:spPr>
          <a:xfrm>
            <a:off x="8247888" y="1737360"/>
            <a:ext cx="3291840" cy="274320"/>
          </a:xfrm>
          <a:prstGeom prst="rect">
            <a:avLst/>
          </a:prstGeom>
          <a:noFill/>
        </p:spPr>
        <p:txBody>
          <a:bodyPr wrap="square" anchor="t" lIns="0" rIns="0" tIns="0" bIns="0">
            <a:spAutoFit/>
          </a:bodyPr>
          <a:lstStyle/>
          <a:p>
            <a:pPr algn="l">
              <a:lnSpc>
                <a:spcPct val="100000"/>
              </a:lnSpc>
              <a:spcAft>
                <a:spcPts val="0"/>
              </a:spcAft>
            </a:pPr>
            <a:r>
              <a:rPr sz="1400" b="1" i="0">
                <a:solidFill>
                  <a:srgbClr val="2D2D2D"/>
                </a:solidFill>
                <a:latin typeface="Georgia"/>
              </a:rPr>
              <a:t>AI Translators</a:t>
            </a:r>
          </a:p>
        </p:txBody>
      </p:sp>
      <p:sp>
        <p:nvSpPr>
          <p:cNvPr id="21" name="TextBox 20"/>
          <p:cNvSpPr txBox="1"/>
          <p:nvPr/>
        </p:nvSpPr>
        <p:spPr>
          <a:xfrm>
            <a:off x="8247888" y="2048256"/>
            <a:ext cx="3291840" cy="219456"/>
          </a:xfrm>
          <a:prstGeom prst="rect">
            <a:avLst/>
          </a:prstGeom>
          <a:noFill/>
        </p:spPr>
        <p:txBody>
          <a:bodyPr wrap="square" anchor="t" lIns="0" rIns="0" tIns="0" bIns="0">
            <a:spAutoFit/>
          </a:bodyPr>
          <a:lstStyle/>
          <a:p>
            <a:pPr algn="l">
              <a:lnSpc>
                <a:spcPct val="100000"/>
              </a:lnSpc>
              <a:spcAft>
                <a:spcPts val="0"/>
              </a:spcAft>
            </a:pPr>
            <a:r>
              <a:rPr sz="1050" b="1" i="0">
                <a:solidFill>
                  <a:srgbClr val="7D7D7D"/>
                </a:solidFill>
                <a:latin typeface="Arial"/>
              </a:rPr>
              <a:t>~30, rotating</a:t>
            </a:r>
          </a:p>
        </p:txBody>
      </p:sp>
      <p:sp>
        <p:nvSpPr>
          <p:cNvPr id="22" name="TextBox 21"/>
          <p:cNvSpPr txBox="1"/>
          <p:nvPr/>
        </p:nvSpPr>
        <p:spPr>
          <a:xfrm>
            <a:off x="8247888" y="2340864"/>
            <a:ext cx="3337560" cy="914400"/>
          </a:xfrm>
          <a:prstGeom prst="rect">
            <a:avLst/>
          </a:prstGeom>
          <a:noFill/>
        </p:spPr>
        <p:txBody>
          <a:bodyPr wrap="square" anchor="t" lIns="0" rIns="0" tIns="0" bIns="0">
            <a:spAutoFit/>
          </a:bodyPr>
          <a:lstStyle/>
          <a:p>
            <a:pPr algn="l">
              <a:lnSpc>
                <a:spcPct val="120000"/>
              </a:lnSpc>
              <a:spcAft>
                <a:spcPts val="0"/>
              </a:spcAft>
            </a:pPr>
            <a:r>
              <a:rPr sz="1050" b="0" i="0">
                <a:solidFill>
                  <a:srgbClr val="2D2D2D"/>
                </a:solidFill>
                <a:latin typeface="Arial"/>
              </a:rPr>
              <a:t>Business people trained to specify and test use cases — drawn from existing employees, making this the first and most visible redeployment destination.</a:t>
            </a:r>
          </a:p>
        </p:txBody>
      </p:sp>
      <p:graphicFrame>
        <p:nvGraphicFramePr>
          <p:cNvPr id="23" name="Table 22"/>
          <p:cNvGraphicFramePr>
            <a:graphicFrameLocks noGrp="1"/>
          </p:cNvGraphicFramePr>
          <p:nvPr/>
        </p:nvGraphicFramePr>
        <p:xfrm>
          <a:off x="457200" y="3529584"/>
          <a:ext cx="11274552" cy="1481328"/>
        </p:xfrm>
        <a:graphic>
          <a:graphicData uri="http://schemas.openxmlformats.org/drawingml/2006/table">
            <a:tbl>
              <a:tblPr firstRow="0" bandRow="0">
                <a:tableStyleId>{5C22544A-7EE6-4342-B048-85BDC9FD1C3A}</a:tableStyleId>
              </a:tblPr>
              <a:tblGrid>
                <a:gridCol w="2606040"/>
                <a:gridCol w="3657600"/>
                <a:gridCol w="5010912"/>
              </a:tblGrid>
              <a:tr h="370332">
                <a:tc>
                  <a:txBody>
                    <a:bodyPr wrap="square"/>
                    <a:lstStyle/>
                    <a:p>
                      <a:pPr algn="l">
                        <a:lnSpc>
                          <a:spcPct val="105000"/>
                        </a:lnSpc>
                      </a:pPr>
                      <a:r>
                        <a:rPr sz="1050" b="1" i="0">
                          <a:solidFill>
                            <a:srgbClr val="FFFFFF"/>
                          </a:solidFill>
                          <a:latin typeface="Arial"/>
                        </a:rPr>
                        <a:t>Model</a:t>
                      </a:r>
                    </a:p>
                  </a:txBody>
                  <a:tcPr marL="64008" marR="64008" marT="32004" marB="32004" anchor="ctr">
                    <a:solidFill>
                      <a:srgbClr val="2D2D2D"/>
                    </a:solidFill>
                  </a:tcPr>
                </a:tc>
                <a:tc>
                  <a:txBody>
                    <a:bodyPr wrap="square"/>
                    <a:lstStyle/>
                    <a:p>
                      <a:pPr algn="ctr">
                        <a:lnSpc>
                          <a:spcPct val="105000"/>
                        </a:lnSpc>
                      </a:pPr>
                      <a:r>
                        <a:rPr sz="1050" b="1" i="0">
                          <a:solidFill>
                            <a:srgbClr val="FFFFFF"/>
                          </a:solidFill>
                          <a:latin typeface="Arial"/>
                        </a:rPr>
                        <a:t>Strength</a:t>
                      </a:r>
                    </a:p>
                  </a:txBody>
                  <a:tcPr marL="64008" marR="64008" marT="32004" marB="32004" anchor="ctr">
                    <a:solidFill>
                      <a:srgbClr val="2D2D2D"/>
                    </a:solidFill>
                  </a:tcPr>
                </a:tc>
                <a:tc>
                  <a:txBody>
                    <a:bodyPr wrap="square"/>
                    <a:lstStyle/>
                    <a:p>
                      <a:pPr algn="ctr">
                        <a:lnSpc>
                          <a:spcPct val="105000"/>
                        </a:lnSpc>
                      </a:pPr>
                      <a:r>
                        <a:rPr sz="1050" b="1" i="0">
                          <a:solidFill>
                            <a:srgbClr val="FFFFFF"/>
                          </a:solidFill>
                          <a:latin typeface="Arial"/>
                        </a:rPr>
                        <a:t>Why it fails at StyleVerse</a:t>
                      </a:r>
                    </a:p>
                  </a:txBody>
                  <a:tcPr marL="64008" marR="64008" marT="32004" marB="32004" anchor="ctr">
                    <a:solidFill>
                      <a:srgbClr val="2D2D2D"/>
                    </a:solidFill>
                  </a:tcPr>
                </a:tc>
              </a:tr>
              <a:tr h="370332">
                <a:tc>
                  <a:txBody>
                    <a:bodyPr wrap="square"/>
                    <a:lstStyle/>
                    <a:p>
                      <a:pPr algn="l">
                        <a:lnSpc>
                          <a:spcPct val="105000"/>
                        </a:lnSpc>
                      </a:pPr>
                      <a:r>
                        <a:rPr sz="1050" b="1" i="0">
                          <a:solidFill>
                            <a:srgbClr val="2D2D2D"/>
                          </a:solidFill>
                          <a:latin typeface="Arial"/>
                        </a:rPr>
                        <a:t>Fully centralised CoE</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Consistent standards, no duplicated spend</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Too far from five brands with genuinely different value propositions; becomes a queue</a:t>
                      </a:r>
                    </a:p>
                  </a:txBody>
                  <a:tcPr marL="64008" marR="64008" marT="32004" marB="32004" anchor="ctr">
                    <a:solidFill>
                      <a:srgbClr val="FFFFFF"/>
                    </a:solidFill>
                  </a:tcPr>
                </a:tc>
              </a:tr>
              <a:tr h="370332">
                <a:tc>
                  <a:txBody>
                    <a:bodyPr wrap="square"/>
                    <a:lstStyle/>
                    <a:p>
                      <a:pPr algn="l">
                        <a:lnSpc>
                          <a:spcPct val="105000"/>
                        </a:lnSpc>
                      </a:pPr>
                      <a:r>
                        <a:rPr sz="1050" b="1" i="0">
                          <a:solidFill>
                            <a:srgbClr val="2D2D2D"/>
                          </a:solidFill>
                          <a:latin typeface="Arial"/>
                        </a:rPr>
                        <a:t>Fully embedded in functions</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Fast, close to the business</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Recreates the exact fragmentation the case describes — duplicated tools, no shared model risk</a:t>
                      </a:r>
                    </a:p>
                  </a:txBody>
                  <a:tcPr marL="64008" marR="64008" marT="32004" marB="32004" anchor="ctr">
                    <a:solidFill>
                      <a:srgbClr val="FAF8F7"/>
                    </a:solidFill>
                  </a:tcPr>
                </a:tc>
              </a:tr>
              <a:tr h="370332">
                <a:tc>
                  <a:txBody>
                    <a:bodyPr wrap="square"/>
                    <a:lstStyle/>
                    <a:p>
                      <a:pPr algn="l">
                        <a:lnSpc>
                          <a:spcPct val="105000"/>
                        </a:lnSpc>
                      </a:pPr>
                      <a:r>
                        <a:rPr sz="1050" b="1" i="0">
                          <a:solidFill>
                            <a:srgbClr val="2D2D2D"/>
                          </a:solidFill>
                          <a:latin typeface="Arial"/>
                        </a:rPr>
                        <a:t>Federated hub-and-spoke  ✓</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Shared platform and governance, local ownership of outcomes</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Requires disciplined dual reporting — mitigated by a single standards charter</a:t>
                      </a:r>
                    </a:p>
                  </a:txBody>
                  <a:tcPr marL="64008" marR="64008" marT="32004" marB="32004" anchor="ctr">
                    <a:solidFill>
                      <a:srgbClr val="FFFFFF"/>
                    </a:solidFill>
                  </a:tcPr>
                </a:tc>
              </a:tr>
            </a:tbl>
          </a:graphicData>
        </a:graphic>
      </p:graphicFrame>
      <p:sp>
        <p:nvSpPr>
          <p:cNvPr id="24" name="Rectangle 23"/>
          <p:cNvSpPr/>
          <p:nvPr/>
        </p:nvSpPr>
        <p:spPr>
          <a:xfrm>
            <a:off x="457200" y="5193792"/>
            <a:ext cx="11274552" cy="1005840"/>
          </a:xfrm>
          <a:prstGeom prst="rect">
            <a:avLst/>
          </a:prstGeom>
          <a:solidFill>
            <a:srgbClr val="2D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 y="5358384"/>
            <a:ext cx="10789920" cy="676656"/>
          </a:xfrm>
          <a:prstGeom prst="rect">
            <a:avLst/>
          </a:prstGeom>
          <a:noFill/>
        </p:spPr>
        <p:txBody>
          <a:bodyPr wrap="square" anchor="t" lIns="0" rIns="0" tIns="0" bIns="0">
            <a:spAutoFit/>
          </a:bodyPr>
          <a:lstStyle/>
          <a:p>
            <a:pPr algn="l">
              <a:lnSpc>
                <a:spcPct val="122000"/>
              </a:lnSpc>
              <a:spcAft>
                <a:spcPts val="700"/>
              </a:spcAft>
            </a:pPr>
            <a:r>
              <a:rPr sz="1150" b="0" i="0">
                <a:solidFill>
                  <a:srgbClr val="FFFFFF"/>
                </a:solidFill>
                <a:latin typeface="Arial"/>
              </a:rPr>
              <a:t>Here's what settles it. StyleVerse's current mess exists because functions each introduced </a:t>
            </a:r>
            <a:r>
              <a:rPr sz="1150" b="0" i="1">
                <a:solidFill>
                  <a:srgbClr val="FFB600"/>
                </a:solidFill>
                <a:latin typeface="Arial"/>
              </a:rPr>
              <a:t>“their own systems, processes and ways of working,”</a:t>
            </a:r>
            <a:r>
              <a:rPr sz="1150" b="0" i="0">
                <a:solidFill>
                  <a:srgbClr val="FFFFFF"/>
                </a:solidFill>
                <a:latin typeface="Arial"/>
              </a:rPr>
              <a:t> in the case's own words. Go fully embedded on AI and you'd repeat that mistake, only bigger: five brands training five sets of models on five sets of data, no shared governance, nobody learning from anybody else's mistakes.</a:t>
            </a:r>
          </a:p>
        </p:txBody>
      </p:sp>
      <p:sp>
        <p:nvSpPr>
          <p:cNvPr id="26" name="Rectangle 25"/>
          <p:cNvSpPr/>
          <p:nvPr/>
        </p:nvSpPr>
        <p:spPr>
          <a:xfrm>
            <a:off x="457200" y="6336792"/>
            <a:ext cx="11274552" cy="10972"/>
          </a:xfrm>
          <a:prstGeom prst="rect">
            <a:avLst/>
          </a:prstGeom>
          <a:solidFill>
            <a:srgbClr val="C9C3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6419088"/>
            <a:ext cx="9966960" cy="329184"/>
          </a:xfrm>
          <a:prstGeom prst="rect">
            <a:avLst/>
          </a:prstGeom>
          <a:noFill/>
        </p:spPr>
        <p:txBody>
          <a:bodyPr wrap="square" anchor="t" lIns="0" rIns="0" tIns="0" bIns="0">
            <a:spAutoFit/>
          </a:bodyPr>
          <a:lstStyle/>
          <a:p>
            <a:pPr algn="l">
              <a:lnSpc>
                <a:spcPct val="110000"/>
              </a:lnSpc>
              <a:spcAft>
                <a:spcPts val="0"/>
              </a:spcAft>
            </a:pPr>
            <a:r>
              <a:rPr sz="1000" b="0" i="0">
                <a:solidFill>
                  <a:srgbClr val="7D7D7D"/>
                </a:solidFill>
                <a:latin typeface="Arial"/>
              </a:rPr>
              <a:t>CoE sizing assumption: ~60 hub FTE and 3 squads of 8–10 in Phase 1, funded from the ₹55 Cr use-case build and ₹60 Cr platform allocations. Roles filled substantially by internal redeployment.</a:t>
            </a:r>
          </a:p>
        </p:txBody>
      </p:sp>
      <p:sp>
        <p:nvSpPr>
          <p:cNvPr id="28" name="TextBox 27"/>
          <p:cNvSpPr txBox="1"/>
          <p:nvPr/>
        </p:nvSpPr>
        <p:spPr>
          <a:xfrm>
            <a:off x="10515600" y="6419088"/>
            <a:ext cx="1216152" cy="219456"/>
          </a:xfrm>
          <a:prstGeom prst="rect">
            <a:avLst/>
          </a:prstGeom>
          <a:noFill/>
        </p:spPr>
        <p:txBody>
          <a:bodyPr wrap="square" anchor="t" lIns="0" rIns="0" tIns="0" bIns="0">
            <a:spAutoFit/>
          </a:bodyPr>
          <a:lstStyle/>
          <a:p>
            <a:pPr algn="r">
              <a:lnSpc>
                <a:spcPct val="100000"/>
              </a:lnSpc>
              <a:spcAft>
                <a:spcPts val="0"/>
              </a:spcAft>
            </a:pPr>
            <a:r>
              <a:rPr sz="1000" b="0" i="0">
                <a:solidFill>
                  <a:srgbClr val="7D7D7D"/>
                </a:solidFill>
                <a:latin typeface="Arial"/>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10896"/>
            <a:ext cx="457200" cy="50292"/>
          </a:xfrm>
          <a:prstGeom prst="rect">
            <a:avLst/>
          </a:prstGeom>
          <a:solidFill>
            <a:srgbClr val="D04A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0624"/>
            <a:ext cx="10515600" cy="237744"/>
          </a:xfrm>
          <a:prstGeom prst="rect">
            <a:avLst/>
          </a:prstGeom>
          <a:noFill/>
        </p:spPr>
        <p:txBody>
          <a:bodyPr wrap="square" anchor="t" lIns="0" rIns="0" tIns="0" bIns="0">
            <a:spAutoFit/>
          </a:bodyPr>
          <a:lstStyle/>
          <a:p>
            <a:pPr algn="l">
              <a:lnSpc>
                <a:spcPct val="100000"/>
              </a:lnSpc>
              <a:spcAft>
                <a:spcPts val="0"/>
              </a:spcAft>
            </a:pPr>
            <a:r>
              <a:rPr sz="1000" b="1" i="0">
                <a:solidFill>
                  <a:srgbClr val="D04A02"/>
                </a:solidFill>
                <a:latin typeface="Arial"/>
              </a:rPr>
              <a:t>BODY  |  B8  ·  DELIVERABLE 3</a:t>
            </a:r>
          </a:p>
        </p:txBody>
      </p:sp>
      <p:sp>
        <p:nvSpPr>
          <p:cNvPr id="4" name="TextBox 3"/>
          <p:cNvSpPr txBox="1"/>
          <p:nvPr/>
        </p:nvSpPr>
        <p:spPr>
          <a:xfrm>
            <a:off x="457200" y="676656"/>
            <a:ext cx="11338560" cy="566928"/>
          </a:xfrm>
          <a:prstGeom prst="rect">
            <a:avLst/>
          </a:prstGeom>
          <a:noFill/>
        </p:spPr>
        <p:txBody>
          <a:bodyPr wrap="square" anchor="t" lIns="0" rIns="0" tIns="0" bIns="0">
            <a:spAutoFit/>
          </a:bodyPr>
          <a:lstStyle/>
          <a:p>
            <a:pPr algn="l">
              <a:lnSpc>
                <a:spcPct val="105000"/>
              </a:lnSpc>
              <a:spcAft>
                <a:spcPts val="0"/>
              </a:spcAft>
            </a:pPr>
            <a:r>
              <a:rPr sz="2000" b="1" i="0">
                <a:solidFill>
                  <a:srgbClr val="2D2D2D"/>
                </a:solidFill>
                <a:latin typeface="Georgia"/>
              </a:rPr>
              <a:t>6,056 FTE-equivalents of capacity need a destination — we name six</a:t>
            </a:r>
          </a:p>
        </p:txBody>
      </p:sp>
      <p:graphicFrame>
        <p:nvGraphicFramePr>
          <p:cNvPr id="5" name="Table 4"/>
          <p:cNvGraphicFramePr>
            <a:graphicFrameLocks noGrp="1"/>
          </p:cNvGraphicFramePr>
          <p:nvPr/>
        </p:nvGraphicFramePr>
        <p:xfrm>
          <a:off x="457200" y="1335024"/>
          <a:ext cx="11274552" cy="2084831"/>
        </p:xfrm>
        <a:graphic>
          <a:graphicData uri="http://schemas.openxmlformats.org/drawingml/2006/table">
            <a:tbl>
              <a:tblPr firstRow="0" bandRow="0">
                <a:tableStyleId>{5C22544A-7EE6-4342-B048-85BDC9FD1C3A}</a:tableStyleId>
              </a:tblPr>
              <a:tblGrid>
                <a:gridCol w="3657600"/>
                <a:gridCol w="2468880"/>
                <a:gridCol w="4114800"/>
                <a:gridCol w="1033272"/>
              </a:tblGrid>
              <a:tr h="297833">
                <a:tc>
                  <a:txBody>
                    <a:bodyPr wrap="square"/>
                    <a:lstStyle/>
                    <a:p>
                      <a:pPr algn="l">
                        <a:lnSpc>
                          <a:spcPct val="105000"/>
                        </a:lnSpc>
                      </a:pPr>
                      <a:r>
                        <a:rPr sz="1050" b="1" i="0">
                          <a:solidFill>
                            <a:srgbClr val="FFFFFF"/>
                          </a:solidFill>
                          <a:latin typeface="Arial"/>
                        </a:rPr>
                        <a:t>From (routine work automated)</a:t>
                      </a:r>
                    </a:p>
                  </a:txBody>
                  <a:tcPr marL="64008" marR="64008" marT="32004" marB="32004" anchor="ctr">
                    <a:solidFill>
                      <a:srgbClr val="2D2D2D"/>
                    </a:solidFill>
                  </a:tcPr>
                </a:tc>
                <a:tc>
                  <a:txBody>
                    <a:bodyPr wrap="square"/>
                    <a:lstStyle/>
                    <a:p>
                      <a:pPr algn="ctr">
                        <a:lnSpc>
                          <a:spcPct val="105000"/>
                        </a:lnSpc>
                      </a:pPr>
                      <a:r>
                        <a:rPr sz="1050" b="1" i="0">
                          <a:solidFill>
                            <a:srgbClr val="FFFFFF"/>
                          </a:solidFill>
                          <a:latin typeface="Arial"/>
                        </a:rPr>
                        <a:t>To (new role family)</a:t>
                      </a:r>
                    </a:p>
                  </a:txBody>
                  <a:tcPr marL="64008" marR="64008" marT="32004" marB="32004" anchor="ctr">
                    <a:solidFill>
                      <a:srgbClr val="2D2D2D"/>
                    </a:solidFill>
                  </a:tcPr>
                </a:tc>
                <a:tc>
                  <a:txBody>
                    <a:bodyPr wrap="square"/>
                    <a:lstStyle/>
                    <a:p>
                      <a:pPr algn="ctr">
                        <a:lnSpc>
                          <a:spcPct val="105000"/>
                        </a:lnSpc>
                      </a:pPr>
                      <a:r>
                        <a:rPr sz="1050" b="1" i="0">
                          <a:solidFill>
                            <a:srgbClr val="FFFFFF"/>
                          </a:solidFill>
                          <a:latin typeface="Arial"/>
                        </a:rPr>
                        <a:t>What the role does</a:t>
                      </a:r>
                    </a:p>
                  </a:txBody>
                  <a:tcPr marL="64008" marR="64008" marT="32004" marB="32004" anchor="ctr">
                    <a:solidFill>
                      <a:srgbClr val="2D2D2D"/>
                    </a:solidFill>
                  </a:tcPr>
                </a:tc>
                <a:tc>
                  <a:txBody>
                    <a:bodyPr wrap="square"/>
                    <a:lstStyle/>
                    <a:p>
                      <a:pPr algn="ctr">
                        <a:lnSpc>
                          <a:spcPct val="105000"/>
                        </a:lnSpc>
                      </a:pPr>
                      <a:r>
                        <a:rPr sz="1050" b="1" i="0">
                          <a:solidFill>
                            <a:srgbClr val="FFFFFF"/>
                          </a:solidFill>
                          <a:latin typeface="Arial"/>
                        </a:rPr>
                        <a:t>Scale</a:t>
                      </a:r>
                    </a:p>
                  </a:txBody>
                  <a:tcPr marL="64008" marR="64008" marT="32004" marB="32004" anchor="ctr">
                    <a:solidFill>
                      <a:srgbClr val="2D2D2D"/>
                    </a:solidFill>
                  </a:tcPr>
                </a:tc>
              </a:tr>
              <a:tr h="297833">
                <a:tc>
                  <a:txBody>
                    <a:bodyPr wrap="square"/>
                    <a:lstStyle/>
                    <a:p>
                      <a:pPr algn="l">
                        <a:lnSpc>
                          <a:spcPct val="105000"/>
                        </a:lnSpc>
                      </a:pPr>
                      <a:r>
                        <a:rPr sz="1050" b="1" i="0">
                          <a:solidFill>
                            <a:srgbClr val="2D2D2D"/>
                          </a:solidFill>
                          <a:latin typeface="Arial"/>
                        </a:rPr>
                        <a:t>Retail associates — stock look-ups, billing, admin</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Style Advisor</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Clienteling, styling, repeat-purchase building</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~2,200</a:t>
                      </a:r>
                    </a:p>
                  </a:txBody>
                  <a:tcPr marL="64008" marR="64008" marT="32004" marB="32004" anchor="ctr">
                    <a:solidFill>
                      <a:srgbClr val="FFFFFF"/>
                    </a:solidFill>
                  </a:tcPr>
                </a:tc>
              </a:tr>
              <a:tr h="297833">
                <a:tc>
                  <a:txBody>
                    <a:bodyPr wrap="square"/>
                    <a:lstStyle/>
                    <a:p>
                      <a:pPr algn="l">
                        <a:lnSpc>
                          <a:spcPct val="105000"/>
                        </a:lnSpc>
                      </a:pPr>
                      <a:r>
                        <a:rPr sz="1050" b="1" i="0">
                          <a:solidFill>
                            <a:srgbClr val="2D2D2D"/>
                          </a:solidFill>
                          <a:latin typeface="Arial"/>
                        </a:rPr>
                        <a:t>Planners — spreadsheet consolidation, sales pulls</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Demand Scientist</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Scenario planning, exceptions, model challenge</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~240</a:t>
                      </a:r>
                    </a:p>
                  </a:txBody>
                  <a:tcPr marL="64008" marR="64008" marT="32004" marB="32004" anchor="ctr">
                    <a:solidFill>
                      <a:srgbClr val="FAF8F7"/>
                    </a:solidFill>
                  </a:tcPr>
                </a:tc>
              </a:tr>
              <a:tr h="297833">
                <a:tc>
                  <a:txBody>
                    <a:bodyPr wrap="square"/>
                    <a:lstStyle/>
                    <a:p>
                      <a:pPr algn="l">
                        <a:lnSpc>
                          <a:spcPct val="105000"/>
                        </a:lnSpc>
                      </a:pPr>
                      <a:r>
                        <a:rPr sz="1050" b="1" i="0">
                          <a:solidFill>
                            <a:srgbClr val="2D2D2D"/>
                          </a:solidFill>
                          <a:latin typeface="Arial"/>
                        </a:rPr>
                        <a:t>Service reps — delivery, returns, size/fit queries</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Experience Specialist</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Complex, high-value, multi-brand resolution</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~400</a:t>
                      </a:r>
                    </a:p>
                  </a:txBody>
                  <a:tcPr marL="64008" marR="64008" marT="32004" marB="32004" anchor="ctr">
                    <a:solidFill>
                      <a:srgbClr val="FFFFFF"/>
                    </a:solidFill>
                  </a:tcPr>
                </a:tc>
              </a:tr>
              <a:tr h="297833">
                <a:tc>
                  <a:txBody>
                    <a:bodyPr wrap="square"/>
                    <a:lstStyle/>
                    <a:p>
                      <a:pPr algn="l">
                        <a:lnSpc>
                          <a:spcPct val="105000"/>
                        </a:lnSpc>
                      </a:pPr>
                      <a:r>
                        <a:rPr sz="1050" b="1" i="0">
                          <a:solidFill>
                            <a:srgbClr val="2D2D2D"/>
                          </a:solidFill>
                          <a:latin typeface="Arial"/>
                        </a:rPr>
                        <a:t>Manufacturing QC — repetitive inspection, reporting</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Traceability &amp; Compliance Analyst</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EPR and circular-textiles traceability; supplier audit</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~2,640</a:t>
                      </a:r>
                    </a:p>
                  </a:txBody>
                  <a:tcPr marL="64008" marR="64008" marT="32004" marB="32004" anchor="ctr">
                    <a:solidFill>
                      <a:srgbClr val="FAF8F7"/>
                    </a:solidFill>
                  </a:tcPr>
                </a:tc>
              </a:tr>
              <a:tr h="297833">
                <a:tc>
                  <a:txBody>
                    <a:bodyPr wrap="square"/>
                    <a:lstStyle/>
                    <a:p>
                      <a:pPr algn="l">
                        <a:lnSpc>
                          <a:spcPct val="105000"/>
                        </a:lnSpc>
                      </a:pPr>
                      <a:r>
                        <a:rPr sz="1050" b="1" i="0">
                          <a:solidFill>
                            <a:srgbClr val="2D2D2D"/>
                          </a:solidFill>
                          <a:latin typeface="Arial"/>
                        </a:rPr>
                        <a:t>Corporate — report preparation, data gathering</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AI Translator / Process Owner</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Specifies, tests and owns AI use cases</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~396</a:t>
                      </a:r>
                    </a:p>
                  </a:txBody>
                  <a:tcPr marL="64008" marR="64008" marT="32004" marB="32004" anchor="ctr">
                    <a:solidFill>
                      <a:srgbClr val="FFFFFF"/>
                    </a:solidFill>
                  </a:tcPr>
                </a:tc>
              </a:tr>
              <a:tr h="297833">
                <a:tc>
                  <a:txBody>
                    <a:bodyPr wrap="square"/>
                    <a:lstStyle/>
                    <a:p>
                      <a:pPr algn="l">
                        <a:lnSpc>
                          <a:spcPct val="105000"/>
                        </a:lnSpc>
                      </a:pPr>
                      <a:r>
                        <a:rPr sz="1050" b="1" i="0">
                          <a:solidFill>
                            <a:srgbClr val="2D2D2D"/>
                          </a:solidFill>
                          <a:latin typeface="Arial"/>
                        </a:rPr>
                        <a:t>Designers — trend scanning, competitor collation</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Concept Lead</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More concepts per designer; EcoWeave expansion</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~180</a:t>
                      </a:r>
                    </a:p>
                  </a:txBody>
                  <a:tcPr marL="64008" marR="64008" marT="32004" marB="32004" anchor="ctr">
                    <a:solidFill>
                      <a:srgbClr val="FAF8F7"/>
                    </a:solidFill>
                  </a:tcPr>
                </a:tc>
              </a:tr>
            </a:tbl>
          </a:graphicData>
        </a:graphic>
      </p:graphicFrame>
      <p:sp>
        <p:nvSpPr>
          <p:cNvPr id="6" name="TextBox 5"/>
          <p:cNvSpPr txBox="1"/>
          <p:nvPr/>
        </p:nvSpPr>
        <p:spPr>
          <a:xfrm>
            <a:off x="457200" y="3584448"/>
            <a:ext cx="6035040" cy="237744"/>
          </a:xfrm>
          <a:prstGeom prst="rect">
            <a:avLst/>
          </a:prstGeom>
          <a:noFill/>
        </p:spPr>
        <p:txBody>
          <a:bodyPr wrap="square" anchor="t" lIns="0" rIns="0" tIns="0" bIns="0">
            <a:spAutoFit/>
          </a:bodyPr>
          <a:lstStyle/>
          <a:p>
            <a:pPr algn="l">
              <a:lnSpc>
                <a:spcPct val="100000"/>
              </a:lnSpc>
              <a:spcAft>
                <a:spcPts val="0"/>
              </a:spcAft>
            </a:pPr>
            <a:r>
              <a:rPr sz="1050" b="1" i="0">
                <a:solidFill>
                  <a:srgbClr val="D04A02"/>
                </a:solidFill>
                <a:latin typeface="Arial"/>
              </a:rPr>
              <a:t>FOUR LEARNING JOURNEYS  ·  12 → 40 HOURS PER EMPLOYEE</a:t>
            </a:r>
          </a:p>
        </p:txBody>
      </p:sp>
      <p:graphicFrame>
        <p:nvGraphicFramePr>
          <p:cNvPr id="7" name="Table 6"/>
          <p:cNvGraphicFramePr>
            <a:graphicFrameLocks noGrp="1"/>
          </p:cNvGraphicFramePr>
          <p:nvPr/>
        </p:nvGraphicFramePr>
        <p:xfrm>
          <a:off x="457200" y="3840480"/>
          <a:ext cx="5806439" cy="1554480"/>
        </p:xfrm>
        <a:graphic>
          <a:graphicData uri="http://schemas.openxmlformats.org/drawingml/2006/table">
            <a:tbl>
              <a:tblPr firstRow="0" bandRow="0">
                <a:tableStyleId>{5C22544A-7EE6-4342-B048-85BDC9FD1C3A}</a:tableStyleId>
              </a:tblPr>
              <a:tblGrid>
                <a:gridCol w="1600200"/>
                <a:gridCol w="3017520"/>
                <a:gridCol w="1188719"/>
              </a:tblGrid>
              <a:tr h="310896">
                <a:tc>
                  <a:txBody>
                    <a:bodyPr wrap="square"/>
                    <a:lstStyle/>
                    <a:p>
                      <a:pPr algn="l">
                        <a:lnSpc>
                          <a:spcPct val="105000"/>
                        </a:lnSpc>
                      </a:pPr>
                      <a:r>
                        <a:rPr sz="1050" b="1" i="0">
                          <a:solidFill>
                            <a:srgbClr val="FFFFFF"/>
                          </a:solidFill>
                          <a:latin typeface="Arial"/>
                        </a:rPr>
                        <a:t>Journey</a:t>
                      </a:r>
                    </a:p>
                  </a:txBody>
                  <a:tcPr marL="64008" marR="64008" marT="32004" marB="32004" anchor="ctr">
                    <a:solidFill>
                      <a:srgbClr val="2D2D2D"/>
                    </a:solidFill>
                  </a:tcPr>
                </a:tc>
                <a:tc>
                  <a:txBody>
                    <a:bodyPr wrap="square"/>
                    <a:lstStyle/>
                    <a:p>
                      <a:pPr algn="ctr">
                        <a:lnSpc>
                          <a:spcPct val="105000"/>
                        </a:lnSpc>
                      </a:pPr>
                      <a:r>
                        <a:rPr sz="1050" b="1" i="0">
                          <a:solidFill>
                            <a:srgbClr val="FFFFFF"/>
                          </a:solidFill>
                          <a:latin typeface="Arial"/>
                        </a:rPr>
                        <a:t>Who</a:t>
                      </a:r>
                    </a:p>
                  </a:txBody>
                  <a:tcPr marL="64008" marR="64008" marT="32004" marB="32004" anchor="ctr">
                    <a:solidFill>
                      <a:srgbClr val="2D2D2D"/>
                    </a:solidFill>
                  </a:tcPr>
                </a:tc>
                <a:tc>
                  <a:txBody>
                    <a:bodyPr wrap="square"/>
                    <a:lstStyle/>
                    <a:p>
                      <a:pPr algn="ctr">
                        <a:lnSpc>
                          <a:spcPct val="105000"/>
                        </a:lnSpc>
                      </a:pPr>
                      <a:r>
                        <a:rPr sz="1050" b="1" i="0">
                          <a:solidFill>
                            <a:srgbClr val="FFFFFF"/>
                          </a:solidFill>
                          <a:latin typeface="Arial"/>
                        </a:rPr>
                        <a:t>Hours</a:t>
                      </a:r>
                    </a:p>
                  </a:txBody>
                  <a:tcPr marL="64008" marR="64008" marT="32004" marB="32004" anchor="ctr">
                    <a:solidFill>
                      <a:srgbClr val="2D2D2D"/>
                    </a:solidFill>
                  </a:tcPr>
                </a:tc>
              </a:tr>
              <a:tr h="310896">
                <a:tc>
                  <a:txBody>
                    <a:bodyPr wrap="square"/>
                    <a:lstStyle/>
                    <a:p>
                      <a:pPr algn="l">
                        <a:lnSpc>
                          <a:spcPct val="105000"/>
                        </a:lnSpc>
                      </a:pPr>
                      <a:r>
                        <a:rPr sz="1050" b="1" i="0">
                          <a:solidFill>
                            <a:srgbClr val="2D2D2D"/>
                          </a:solidFill>
                          <a:latin typeface="Arial"/>
                        </a:rPr>
                        <a:t>AI Aware</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All 28,000</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16</a:t>
                      </a:r>
                    </a:p>
                  </a:txBody>
                  <a:tcPr marL="64008" marR="64008" marT="32004" marB="32004" anchor="ctr">
                    <a:solidFill>
                      <a:srgbClr val="FFFFFF"/>
                    </a:solidFill>
                  </a:tcPr>
                </a:tc>
              </a:tr>
              <a:tr h="310896">
                <a:tc>
                  <a:txBody>
                    <a:bodyPr wrap="square"/>
                    <a:lstStyle/>
                    <a:p>
                      <a:pPr algn="l">
                        <a:lnSpc>
                          <a:spcPct val="105000"/>
                        </a:lnSpc>
                      </a:pPr>
                      <a:r>
                        <a:rPr sz="1050" b="1" i="0">
                          <a:solidFill>
                            <a:srgbClr val="2D2D2D"/>
                          </a:solidFill>
                          <a:latin typeface="Arial"/>
                        </a:rPr>
                        <a:t>AI Assisted</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~18,000 operational roles</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40</a:t>
                      </a:r>
                    </a:p>
                  </a:txBody>
                  <a:tcPr marL="64008" marR="64008" marT="32004" marB="32004" anchor="ctr">
                    <a:solidFill>
                      <a:srgbClr val="FAF8F7"/>
                    </a:solidFill>
                  </a:tcPr>
                </a:tc>
              </a:tr>
              <a:tr h="310896">
                <a:tc>
                  <a:txBody>
                    <a:bodyPr wrap="square"/>
                    <a:lstStyle/>
                    <a:p>
                      <a:pPr algn="l">
                        <a:lnSpc>
                          <a:spcPct val="105000"/>
                        </a:lnSpc>
                      </a:pPr>
                      <a:r>
                        <a:rPr sz="1050" b="1" i="0">
                          <a:solidFill>
                            <a:srgbClr val="2D2D2D"/>
                          </a:solidFill>
                          <a:latin typeface="Arial"/>
                        </a:rPr>
                        <a:t>AI Enabled</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~8,000 judgment roles</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80</a:t>
                      </a:r>
                    </a:p>
                  </a:txBody>
                  <a:tcPr marL="64008" marR="64008" marT="32004" marB="32004" anchor="ctr">
                    <a:solidFill>
                      <a:srgbClr val="FFFFFF"/>
                    </a:solidFill>
                  </a:tcPr>
                </a:tc>
              </a:tr>
              <a:tr h="310896">
                <a:tc>
                  <a:txBody>
                    <a:bodyPr wrap="square"/>
                    <a:lstStyle/>
                    <a:p>
                      <a:pPr algn="l">
                        <a:lnSpc>
                          <a:spcPct val="105000"/>
                        </a:lnSpc>
                      </a:pPr>
                      <a:r>
                        <a:rPr sz="1050" b="1" i="0">
                          <a:solidFill>
                            <a:srgbClr val="2D2D2D"/>
                          </a:solidFill>
                          <a:latin typeface="Arial"/>
                        </a:rPr>
                        <a:t>AI Builders</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~800 squads &amp; translators</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200</a:t>
                      </a:r>
                    </a:p>
                  </a:txBody>
                  <a:tcPr marL="64008" marR="64008" marT="32004" marB="32004" anchor="ctr">
                    <a:solidFill>
                      <a:srgbClr val="FAF8F7"/>
                    </a:solidFill>
                  </a:tcPr>
                </a:tc>
              </a:tr>
            </a:tbl>
          </a:graphicData>
        </a:graphic>
      </p:graphicFrame>
      <p:sp>
        <p:nvSpPr>
          <p:cNvPr id="8" name="Rectangle 7"/>
          <p:cNvSpPr/>
          <p:nvPr/>
        </p:nvSpPr>
        <p:spPr>
          <a:xfrm>
            <a:off x="6492240" y="3840480"/>
            <a:ext cx="5239512" cy="1554480"/>
          </a:xfrm>
          <a:prstGeom prst="rect">
            <a:avLst/>
          </a:prstGeom>
          <a:solidFill>
            <a:srgbClr val="FFFFFF"/>
          </a:solidFill>
          <a:ln w="19050">
            <a:solidFill>
              <a:srgbClr val="E030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93408" y="3968496"/>
            <a:ext cx="4846320" cy="237744"/>
          </a:xfrm>
          <a:prstGeom prst="rect">
            <a:avLst/>
          </a:prstGeom>
          <a:noFill/>
        </p:spPr>
        <p:txBody>
          <a:bodyPr wrap="square" anchor="t" lIns="0" rIns="0" tIns="0" bIns="0">
            <a:spAutoFit/>
          </a:bodyPr>
          <a:lstStyle/>
          <a:p>
            <a:pPr algn="l">
              <a:lnSpc>
                <a:spcPct val="100000"/>
              </a:lnSpc>
              <a:spcAft>
                <a:spcPts val="0"/>
              </a:spcAft>
            </a:pPr>
            <a:r>
              <a:rPr sz="1050" b="1" i="0">
                <a:solidFill>
                  <a:srgbClr val="E0301E"/>
                </a:solidFill>
                <a:latin typeface="Arial"/>
              </a:rPr>
              <a:t>KNOWLEDGE CAPTURE IS A RACE AGAINST ATTRITION</a:t>
            </a:r>
          </a:p>
        </p:txBody>
      </p:sp>
      <p:sp>
        <p:nvSpPr>
          <p:cNvPr id="10" name="TextBox 9"/>
          <p:cNvSpPr txBox="1"/>
          <p:nvPr/>
        </p:nvSpPr>
        <p:spPr>
          <a:xfrm>
            <a:off x="6693408" y="4242816"/>
            <a:ext cx="4864608" cy="1097280"/>
          </a:xfrm>
          <a:prstGeom prst="rect">
            <a:avLst/>
          </a:prstGeom>
          <a:noFill/>
        </p:spPr>
        <p:txBody>
          <a:bodyPr wrap="square" anchor="t" lIns="0" rIns="0" tIns="0" bIns="0">
            <a:spAutoFit/>
          </a:bodyPr>
          <a:lstStyle/>
          <a:p>
            <a:pPr algn="l">
              <a:lnSpc>
                <a:spcPct val="118000"/>
              </a:lnSpc>
              <a:spcAft>
                <a:spcPts val="600"/>
              </a:spcAft>
            </a:pPr>
            <a:r>
              <a:rPr sz="1100" b="0" i="0">
                <a:solidFill>
                  <a:srgbClr val="2D2D2D"/>
                </a:solidFill>
                <a:latin typeface="Arial"/>
              </a:rPr>
              <a:t>Average tenure in Retail is 1.7 years against 42% attrition. Institutional knowledge is already leaking out faster than anyone's writing it down.</a:t>
            </a:r>
          </a:p>
          <a:p>
            <a:pPr algn="l">
              <a:lnSpc>
                <a:spcPct val="118000"/>
              </a:lnSpc>
              <a:spcAft>
                <a:spcPts val="600"/>
              </a:spcAft>
            </a:pPr>
            <a:r>
              <a:rPr sz="1100" b="0" i="0">
                <a:solidFill>
                  <a:srgbClr val="2D2D2D"/>
                </a:solidFill>
                <a:latin typeface="Arial"/>
              </a:rPr>
              <a:t>So </a:t>
            </a:r>
            <a:r>
              <a:rPr sz="1100" b="1" i="0">
                <a:solidFill>
                  <a:srgbClr val="2D2D2D"/>
                </a:solidFill>
                <a:latin typeface="Arial"/>
              </a:rPr>
              <a:t>Phase 0</a:t>
            </a:r>
            <a:r>
              <a:rPr sz="1100" b="0" i="0">
                <a:solidFill>
                  <a:srgbClr val="2D2D2D"/>
                </a:solidFill>
                <a:latin typeface="Arial"/>
              </a:rPr>
              <a:t> starts by pulling tacit know-how out of the longest-tenured functions — Corporate at 5.1 years, Design at 4.6 — into structured knowledge bases, before automation touches the roles that hold it.</a:t>
            </a:r>
          </a:p>
        </p:txBody>
      </p:sp>
      <p:sp>
        <p:nvSpPr>
          <p:cNvPr id="11" name="Rectangle 10"/>
          <p:cNvSpPr/>
          <p:nvPr/>
        </p:nvSpPr>
        <p:spPr>
          <a:xfrm>
            <a:off x="457200" y="5486400"/>
            <a:ext cx="11274552" cy="713232"/>
          </a:xfrm>
          <a:prstGeom prst="rect">
            <a:avLst/>
          </a:prstGeom>
          <a:solidFill>
            <a:srgbClr val="F4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5632704"/>
            <a:ext cx="10881360" cy="475488"/>
          </a:xfrm>
          <a:prstGeom prst="rect">
            <a:avLst/>
          </a:prstGeom>
          <a:noFill/>
        </p:spPr>
        <p:txBody>
          <a:bodyPr wrap="square" anchor="t" lIns="0" rIns="0" tIns="0" bIns="0">
            <a:spAutoFit/>
          </a:bodyPr>
          <a:lstStyle/>
          <a:p>
            <a:pPr algn="l">
              <a:lnSpc>
                <a:spcPct val="120000"/>
              </a:lnSpc>
              <a:spcAft>
                <a:spcPts val="700"/>
              </a:spcAft>
            </a:pPr>
            <a:r>
              <a:rPr sz="1150" b="1" i="0">
                <a:solidFill>
                  <a:srgbClr val="D04A02"/>
                </a:solidFill>
                <a:latin typeface="Arial"/>
              </a:rPr>
              <a:t>In practice, Zero-Layoff means three things: </a:t>
            </a:r>
            <a:r>
              <a:rPr sz="1150" b="0" i="0">
                <a:solidFill>
                  <a:srgbClr val="2D2D2D"/>
                </a:solidFill>
                <a:latin typeface="Arial"/>
              </a:rPr>
              <a:t>a written redeployment guarantee, an internal talent marketplace that matches people to open roles by skill rather than job title, and a 90-day paid transition window where the learning journey finishes before the role actually changes.</a:t>
            </a:r>
          </a:p>
        </p:txBody>
      </p:sp>
      <p:sp>
        <p:nvSpPr>
          <p:cNvPr id="13" name="Rectangle 12"/>
          <p:cNvSpPr/>
          <p:nvPr/>
        </p:nvSpPr>
        <p:spPr>
          <a:xfrm>
            <a:off x="457200" y="6336792"/>
            <a:ext cx="11274552" cy="10972"/>
          </a:xfrm>
          <a:prstGeom prst="rect">
            <a:avLst/>
          </a:prstGeom>
          <a:solidFill>
            <a:srgbClr val="C9C3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6419088"/>
            <a:ext cx="9966960" cy="329184"/>
          </a:xfrm>
          <a:prstGeom prst="rect">
            <a:avLst/>
          </a:prstGeom>
          <a:noFill/>
        </p:spPr>
        <p:txBody>
          <a:bodyPr wrap="square" anchor="t" lIns="0" rIns="0" tIns="0" bIns="0">
            <a:spAutoFit/>
          </a:bodyPr>
          <a:lstStyle/>
          <a:p>
            <a:pPr algn="l">
              <a:lnSpc>
                <a:spcPct val="110000"/>
              </a:lnSpc>
              <a:spcAft>
                <a:spcPts val="0"/>
              </a:spcAft>
            </a:pPr>
            <a:r>
              <a:rPr sz="1000" b="0" i="0">
                <a:solidFill>
                  <a:srgbClr val="7D7D7D"/>
                </a:solidFill>
                <a:latin typeface="Arial"/>
              </a:rPr>
              <a:t>Scale column = FTE-equivalents released per function (Appendix A1). Learning-hour targets benchmarked against the case's stated 12 hours per employee per year.</a:t>
            </a:r>
          </a:p>
        </p:txBody>
      </p:sp>
      <p:sp>
        <p:nvSpPr>
          <p:cNvPr id="15" name="TextBox 14"/>
          <p:cNvSpPr txBox="1"/>
          <p:nvPr/>
        </p:nvSpPr>
        <p:spPr>
          <a:xfrm>
            <a:off x="10515600" y="6419088"/>
            <a:ext cx="1216152" cy="219456"/>
          </a:xfrm>
          <a:prstGeom prst="rect">
            <a:avLst/>
          </a:prstGeom>
          <a:noFill/>
        </p:spPr>
        <p:txBody>
          <a:bodyPr wrap="square" anchor="t" lIns="0" rIns="0" tIns="0" bIns="0">
            <a:spAutoFit/>
          </a:bodyPr>
          <a:lstStyle/>
          <a:p>
            <a:pPr algn="r">
              <a:lnSpc>
                <a:spcPct val="100000"/>
              </a:lnSpc>
              <a:spcAft>
                <a:spcPts val="0"/>
              </a:spcAft>
            </a:pPr>
            <a:r>
              <a:rPr sz="1000" b="0" i="0">
                <a:solidFill>
                  <a:srgbClr val="7D7D7D"/>
                </a:solidFill>
                <a:latin typeface="Arial"/>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10896"/>
            <a:ext cx="457200" cy="50292"/>
          </a:xfrm>
          <a:prstGeom prst="rect">
            <a:avLst/>
          </a:prstGeom>
          <a:solidFill>
            <a:srgbClr val="D04A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0624"/>
            <a:ext cx="10515600" cy="237744"/>
          </a:xfrm>
          <a:prstGeom prst="rect">
            <a:avLst/>
          </a:prstGeom>
          <a:noFill/>
        </p:spPr>
        <p:txBody>
          <a:bodyPr wrap="square" anchor="t" lIns="0" rIns="0" tIns="0" bIns="0">
            <a:spAutoFit/>
          </a:bodyPr>
          <a:lstStyle/>
          <a:p>
            <a:pPr algn="l">
              <a:lnSpc>
                <a:spcPct val="100000"/>
              </a:lnSpc>
              <a:spcAft>
                <a:spcPts val="0"/>
              </a:spcAft>
            </a:pPr>
            <a:r>
              <a:rPr sz="1000" b="1" i="0">
                <a:solidFill>
                  <a:srgbClr val="D04A02"/>
                </a:solidFill>
                <a:latin typeface="Arial"/>
              </a:rPr>
              <a:t>BODY  |  B9  ·  DELIVERABLE 4</a:t>
            </a:r>
          </a:p>
        </p:txBody>
      </p:sp>
      <p:sp>
        <p:nvSpPr>
          <p:cNvPr id="4" name="TextBox 3"/>
          <p:cNvSpPr txBox="1"/>
          <p:nvPr/>
        </p:nvSpPr>
        <p:spPr>
          <a:xfrm>
            <a:off x="457200" y="676656"/>
            <a:ext cx="11338560" cy="566928"/>
          </a:xfrm>
          <a:prstGeom prst="rect">
            <a:avLst/>
          </a:prstGeom>
          <a:noFill/>
        </p:spPr>
        <p:txBody>
          <a:bodyPr wrap="square" anchor="t" lIns="0" rIns="0" tIns="0" bIns="0">
            <a:spAutoFit/>
          </a:bodyPr>
          <a:lstStyle/>
          <a:p>
            <a:pPr algn="l">
              <a:lnSpc>
                <a:spcPct val="105000"/>
              </a:lnSpc>
              <a:spcAft>
                <a:spcPts val="0"/>
              </a:spcAft>
            </a:pPr>
            <a:r>
              <a:rPr sz="2000" b="1" i="0">
                <a:solidFill>
                  <a:srgbClr val="2D2D2D"/>
                </a:solidFill>
                <a:latin typeface="Georgia"/>
              </a:rPr>
              <a:t>One AI policy across five brands would damage the most valuable one</a:t>
            </a:r>
          </a:p>
        </p:txBody>
      </p:sp>
      <p:graphicFrame>
        <p:nvGraphicFramePr>
          <p:cNvPr id="5" name="Table 4"/>
          <p:cNvGraphicFramePr>
            <a:graphicFrameLocks noGrp="1"/>
          </p:cNvGraphicFramePr>
          <p:nvPr/>
        </p:nvGraphicFramePr>
        <p:xfrm>
          <a:off x="457200" y="1335024"/>
          <a:ext cx="11274552" cy="1792224"/>
        </p:xfrm>
        <a:graphic>
          <a:graphicData uri="http://schemas.openxmlformats.org/drawingml/2006/table">
            <a:tbl>
              <a:tblPr firstRow="0" bandRow="0">
                <a:tableStyleId>{5C22544A-7EE6-4342-B048-85BDC9FD1C3A}</a:tableStyleId>
              </a:tblPr>
              <a:tblGrid>
                <a:gridCol w="1554480"/>
                <a:gridCol w="640080"/>
                <a:gridCol w="2743200"/>
                <a:gridCol w="4206240"/>
                <a:gridCol w="2130552"/>
              </a:tblGrid>
              <a:tr h="298704">
                <a:tc>
                  <a:txBody>
                    <a:bodyPr wrap="square"/>
                    <a:lstStyle/>
                    <a:p>
                      <a:pPr algn="l">
                        <a:lnSpc>
                          <a:spcPct val="105000"/>
                        </a:lnSpc>
                      </a:pPr>
                      <a:r>
                        <a:rPr sz="1050" b="1" i="0">
                          <a:solidFill>
                            <a:srgbClr val="FFFFFF"/>
                          </a:solidFill>
                          <a:latin typeface="Arial"/>
                        </a:rPr>
                        <a:t>Brand</a:t>
                      </a:r>
                    </a:p>
                  </a:txBody>
                  <a:tcPr marL="64008" marR="64008" marT="32004" marB="32004" anchor="ctr">
                    <a:solidFill>
                      <a:srgbClr val="2D2D2D"/>
                    </a:solidFill>
                  </a:tcPr>
                </a:tc>
                <a:tc>
                  <a:txBody>
                    <a:bodyPr wrap="square"/>
                    <a:lstStyle/>
                    <a:p>
                      <a:pPr algn="ctr">
                        <a:lnSpc>
                          <a:spcPct val="105000"/>
                        </a:lnSpc>
                      </a:pPr>
                      <a:r>
                        <a:rPr sz="1050" b="1" i="0">
                          <a:solidFill>
                            <a:srgbClr val="FFFFFF"/>
                          </a:solidFill>
                          <a:latin typeface="Arial"/>
                        </a:rPr>
                        <a:t>NPS</a:t>
                      </a:r>
                    </a:p>
                  </a:txBody>
                  <a:tcPr marL="64008" marR="64008" marT="32004" marB="32004" anchor="ctr">
                    <a:solidFill>
                      <a:srgbClr val="2D2D2D"/>
                    </a:solidFill>
                  </a:tcPr>
                </a:tc>
                <a:tc>
                  <a:txBody>
                    <a:bodyPr wrap="square"/>
                    <a:lstStyle/>
                    <a:p>
                      <a:pPr algn="ctr">
                        <a:lnSpc>
                          <a:spcPct val="105000"/>
                        </a:lnSpc>
                      </a:pPr>
                      <a:r>
                        <a:rPr sz="1050" b="1" i="0">
                          <a:solidFill>
                            <a:srgbClr val="FFFFFF"/>
                          </a:solidFill>
                          <a:latin typeface="Arial"/>
                        </a:rPr>
                        <a:t>Brand promise</a:t>
                      </a:r>
                    </a:p>
                  </a:txBody>
                  <a:tcPr marL="64008" marR="64008" marT="32004" marB="32004" anchor="ctr">
                    <a:solidFill>
                      <a:srgbClr val="2D2D2D"/>
                    </a:solidFill>
                  </a:tcPr>
                </a:tc>
                <a:tc>
                  <a:txBody>
                    <a:bodyPr wrap="square"/>
                    <a:lstStyle/>
                    <a:p>
                      <a:pPr algn="ctr">
                        <a:lnSpc>
                          <a:spcPct val="105000"/>
                        </a:lnSpc>
                      </a:pPr>
                      <a:r>
                        <a:rPr sz="1050" b="1" i="0">
                          <a:solidFill>
                            <a:srgbClr val="FFFFFF"/>
                          </a:solidFill>
                          <a:latin typeface="Arial"/>
                        </a:rPr>
                        <a:t>AI posture</a:t>
                      </a:r>
                    </a:p>
                  </a:txBody>
                  <a:tcPr marL="64008" marR="64008" marT="32004" marB="32004" anchor="ctr">
                    <a:solidFill>
                      <a:srgbClr val="2D2D2D"/>
                    </a:solidFill>
                  </a:tcPr>
                </a:tc>
                <a:tc>
                  <a:txBody>
                    <a:bodyPr wrap="square"/>
                    <a:lstStyle/>
                    <a:p>
                      <a:pPr algn="ctr">
                        <a:lnSpc>
                          <a:spcPct val="105000"/>
                        </a:lnSpc>
                      </a:pPr>
                      <a:r>
                        <a:rPr sz="1050" b="1" i="0">
                          <a:solidFill>
                            <a:srgbClr val="FFFFFF"/>
                          </a:solidFill>
                          <a:latin typeface="Arial"/>
                        </a:rPr>
                        <a:t>Disclosure</a:t>
                      </a:r>
                    </a:p>
                  </a:txBody>
                  <a:tcPr marL="64008" marR="64008" marT="32004" marB="32004" anchor="ctr">
                    <a:solidFill>
                      <a:srgbClr val="2D2D2D"/>
                    </a:solidFill>
                  </a:tcPr>
                </a:tc>
              </a:tr>
              <a:tr h="298704">
                <a:tc>
                  <a:txBody>
                    <a:bodyPr wrap="square"/>
                    <a:lstStyle/>
                    <a:p>
                      <a:pPr algn="l">
                        <a:lnSpc>
                          <a:spcPct val="105000"/>
                        </a:lnSpc>
                      </a:pPr>
                      <a:r>
                        <a:rPr sz="1050" b="1" i="0">
                          <a:solidFill>
                            <a:srgbClr val="2D2D2D"/>
                          </a:solidFill>
                          <a:latin typeface="Arial"/>
                        </a:rPr>
                        <a:t>Maison Luxe</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62</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Craftsmanship and human exclusivity</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Back-office only — no generative design, no AI-written client contact</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Human-crafted assurance</a:t>
                      </a:r>
                    </a:p>
                  </a:txBody>
                  <a:tcPr marL="64008" marR="64008" marT="32004" marB="32004" anchor="ctr">
                    <a:solidFill>
                      <a:srgbClr val="FFFFFF"/>
                    </a:solidFill>
                  </a:tcPr>
                </a:tc>
              </a:tr>
              <a:tr h="298704">
                <a:tc>
                  <a:txBody>
                    <a:bodyPr wrap="square"/>
                    <a:lstStyle/>
                    <a:p>
                      <a:pPr algn="l">
                        <a:lnSpc>
                          <a:spcPct val="105000"/>
                        </a:lnSpc>
                      </a:pPr>
                      <a:r>
                        <a:rPr sz="1050" b="1" i="0">
                          <a:solidFill>
                            <a:srgbClr val="2D2D2D"/>
                          </a:solidFill>
                          <a:latin typeface="Arial"/>
                        </a:rPr>
                        <a:t>EcoWeave</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55</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Environmental responsibility</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AI for traceability, EPR compliance and transparency reporting</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Publish AI use openly</a:t>
                      </a:r>
                    </a:p>
                  </a:txBody>
                  <a:tcPr marL="64008" marR="64008" marT="32004" marB="32004" anchor="ctr">
                    <a:solidFill>
                      <a:srgbClr val="FAF8F7"/>
                    </a:solidFill>
                  </a:tcPr>
                </a:tc>
              </a:tr>
              <a:tr h="298704">
                <a:tc>
                  <a:txBody>
                    <a:bodyPr wrap="square"/>
                    <a:lstStyle/>
                    <a:p>
                      <a:pPr algn="l">
                        <a:lnSpc>
                          <a:spcPct val="105000"/>
                        </a:lnSpc>
                      </a:pPr>
                      <a:r>
                        <a:rPr sz="1050" b="1" i="0">
                          <a:solidFill>
                            <a:srgbClr val="2D2D2D"/>
                          </a:solidFill>
                          <a:latin typeface="Arial"/>
                        </a:rPr>
                        <a:t>UrbanEdge</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48</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Seamless omnichannel</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AI personalisation and service across channels</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Disclosed at interaction</a:t>
                      </a:r>
                    </a:p>
                  </a:txBody>
                  <a:tcPr marL="64008" marR="64008" marT="32004" marB="32004" anchor="ctr">
                    <a:solidFill>
                      <a:srgbClr val="FFFFFF"/>
                    </a:solidFill>
                  </a:tcPr>
                </a:tc>
              </a:tr>
              <a:tr h="298704">
                <a:tc>
                  <a:txBody>
                    <a:bodyPr wrap="square"/>
                    <a:lstStyle/>
                    <a:p>
                      <a:pPr algn="l">
                        <a:lnSpc>
                          <a:spcPct val="105000"/>
                        </a:lnSpc>
                      </a:pPr>
                      <a:r>
                        <a:rPr sz="1050" b="1" i="0">
                          <a:solidFill>
                            <a:srgbClr val="2D2D2D"/>
                          </a:solidFill>
                          <a:latin typeface="Arial"/>
                        </a:rPr>
                        <a:t>SpeedStyle</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35</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Speed and trend</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AI-forward — trend sensing, generative concepts, service automation</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Disclosed at interaction</a:t>
                      </a:r>
                    </a:p>
                  </a:txBody>
                  <a:tcPr marL="64008" marR="64008" marT="32004" marB="32004" anchor="ctr">
                    <a:solidFill>
                      <a:srgbClr val="FAF8F7"/>
                    </a:solidFill>
                  </a:tcPr>
                </a:tc>
              </a:tr>
              <a:tr h="298704">
                <a:tc>
                  <a:txBody>
                    <a:bodyPr wrap="square"/>
                    <a:lstStyle/>
                    <a:p>
                      <a:pPr algn="l">
                        <a:lnSpc>
                          <a:spcPct val="105000"/>
                        </a:lnSpc>
                      </a:pPr>
                      <a:r>
                        <a:rPr sz="1050" b="1" i="0">
                          <a:solidFill>
                            <a:srgbClr val="2D2D2D"/>
                          </a:solidFill>
                          <a:latin typeface="Arial"/>
                        </a:rPr>
                        <a:t>ThreadBasics</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30</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Affordability and efficiency</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Maximum service and supply-chain automation</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Disclosed at interaction</a:t>
                      </a:r>
                    </a:p>
                  </a:txBody>
                  <a:tcPr marL="64008" marR="64008" marT="32004" marB="32004" anchor="ctr">
                    <a:solidFill>
                      <a:srgbClr val="FFFFFF"/>
                    </a:solidFill>
                  </a:tcPr>
                </a:tc>
              </a:tr>
            </a:tbl>
          </a:graphicData>
        </a:graphic>
      </p:graphicFrame>
      <p:sp>
        <p:nvSpPr>
          <p:cNvPr id="6" name="TextBox 5"/>
          <p:cNvSpPr txBox="1"/>
          <p:nvPr/>
        </p:nvSpPr>
        <p:spPr>
          <a:xfrm>
            <a:off x="457200" y="3291840"/>
            <a:ext cx="5486400" cy="237744"/>
          </a:xfrm>
          <a:prstGeom prst="rect">
            <a:avLst/>
          </a:prstGeom>
          <a:noFill/>
        </p:spPr>
        <p:txBody>
          <a:bodyPr wrap="square" anchor="t" lIns="0" rIns="0" tIns="0" bIns="0">
            <a:spAutoFit/>
          </a:bodyPr>
          <a:lstStyle/>
          <a:p>
            <a:pPr algn="l">
              <a:lnSpc>
                <a:spcPct val="100000"/>
              </a:lnSpc>
              <a:spcAft>
                <a:spcPts val="0"/>
              </a:spcAft>
            </a:pPr>
            <a:r>
              <a:rPr sz="1050" b="1" i="0">
                <a:solidFill>
                  <a:srgbClr val="D04A02"/>
                </a:solidFill>
                <a:latin typeface="Arial"/>
              </a:rPr>
              <a:t>AI DECISION RIGHTS — FOUR TIERS</a:t>
            </a:r>
          </a:p>
        </p:txBody>
      </p:sp>
      <p:graphicFrame>
        <p:nvGraphicFramePr>
          <p:cNvPr id="7" name="Table 6"/>
          <p:cNvGraphicFramePr>
            <a:graphicFrameLocks noGrp="1"/>
          </p:cNvGraphicFramePr>
          <p:nvPr/>
        </p:nvGraphicFramePr>
        <p:xfrm>
          <a:off x="457200" y="3566160"/>
          <a:ext cx="5806439" cy="1773936"/>
        </p:xfrm>
        <a:graphic>
          <a:graphicData uri="http://schemas.openxmlformats.org/drawingml/2006/table">
            <a:tbl>
              <a:tblPr firstRow="0" bandRow="0">
                <a:tableStyleId>{5C22544A-7EE6-4342-B048-85BDC9FD1C3A}</a:tableStyleId>
              </a:tblPr>
              <a:tblGrid>
                <a:gridCol w="1195443"/>
                <a:gridCol w="2817831"/>
                <a:gridCol w="1793165"/>
              </a:tblGrid>
              <a:tr h="354787">
                <a:tc>
                  <a:txBody>
                    <a:bodyPr wrap="square"/>
                    <a:lstStyle/>
                    <a:p>
                      <a:pPr algn="l">
                        <a:lnSpc>
                          <a:spcPct val="105000"/>
                        </a:lnSpc>
                      </a:pPr>
                      <a:r>
                        <a:rPr sz="1050" b="1" i="0">
                          <a:solidFill>
                            <a:srgbClr val="FFFFFF"/>
                          </a:solidFill>
                          <a:latin typeface="Arial"/>
                        </a:rPr>
                        <a:t>Tier</a:t>
                      </a:r>
                    </a:p>
                  </a:txBody>
                  <a:tcPr marL="64008" marR="64008" marT="32004" marB="32004" anchor="ctr">
                    <a:solidFill>
                      <a:srgbClr val="2D2D2D"/>
                    </a:solidFill>
                  </a:tcPr>
                </a:tc>
                <a:tc>
                  <a:txBody>
                    <a:bodyPr wrap="square"/>
                    <a:lstStyle/>
                    <a:p>
                      <a:pPr algn="ctr">
                        <a:lnSpc>
                          <a:spcPct val="105000"/>
                        </a:lnSpc>
                      </a:pPr>
                      <a:r>
                        <a:rPr sz="1050" b="1" i="0">
                          <a:solidFill>
                            <a:srgbClr val="FFFFFF"/>
                          </a:solidFill>
                          <a:latin typeface="Arial"/>
                        </a:rPr>
                        <a:t>Example</a:t>
                      </a:r>
                    </a:p>
                  </a:txBody>
                  <a:tcPr marL="64008" marR="64008" marT="32004" marB="32004" anchor="ctr">
                    <a:solidFill>
                      <a:srgbClr val="2D2D2D"/>
                    </a:solidFill>
                  </a:tcPr>
                </a:tc>
                <a:tc>
                  <a:txBody>
                    <a:bodyPr wrap="square"/>
                    <a:lstStyle/>
                    <a:p>
                      <a:pPr algn="ctr">
                        <a:lnSpc>
                          <a:spcPct val="105000"/>
                        </a:lnSpc>
                      </a:pPr>
                      <a:r>
                        <a:rPr sz="1050" b="1" i="0">
                          <a:solidFill>
                            <a:srgbClr val="FFFFFF"/>
                          </a:solidFill>
                          <a:latin typeface="Arial"/>
                        </a:rPr>
                        <a:t>Control</a:t>
                      </a:r>
                    </a:p>
                  </a:txBody>
                  <a:tcPr marL="64008" marR="64008" marT="32004" marB="32004" anchor="ctr">
                    <a:solidFill>
                      <a:srgbClr val="2D2D2D"/>
                    </a:solidFill>
                  </a:tcPr>
                </a:tc>
              </a:tr>
              <a:tr h="354787">
                <a:tc>
                  <a:txBody>
                    <a:bodyPr wrap="square"/>
                    <a:lstStyle/>
                    <a:p>
                      <a:pPr algn="l">
                        <a:lnSpc>
                          <a:spcPct val="105000"/>
                        </a:lnSpc>
                      </a:pPr>
                      <a:r>
                        <a:rPr sz="1050" b="1" i="0">
                          <a:solidFill>
                            <a:srgbClr val="2D2D2D"/>
                          </a:solidFill>
                          <a:latin typeface="Arial"/>
                        </a:rPr>
                        <a:t>1 Auto</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Stock look-up, delivery status reply</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Logged, sampled</a:t>
                      </a:r>
                    </a:p>
                  </a:txBody>
                  <a:tcPr marL="64008" marR="64008" marT="32004" marB="32004" anchor="ctr">
                    <a:solidFill>
                      <a:srgbClr val="FFFFFF"/>
                    </a:solidFill>
                  </a:tcPr>
                </a:tc>
              </a:tr>
              <a:tr h="354787">
                <a:tc>
                  <a:txBody>
                    <a:bodyPr wrap="square"/>
                    <a:lstStyle/>
                    <a:p>
                      <a:pPr algn="l">
                        <a:lnSpc>
                          <a:spcPct val="105000"/>
                        </a:lnSpc>
                      </a:pPr>
                      <a:r>
                        <a:rPr sz="1050" b="1" i="0">
                          <a:solidFill>
                            <a:srgbClr val="2D2D2D"/>
                          </a:solidFill>
                          <a:latin typeface="Arial"/>
                        </a:rPr>
                        <a:t>2 Assisted</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Allocation, campaign targeting</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Human approves</a:t>
                      </a:r>
                    </a:p>
                  </a:txBody>
                  <a:tcPr marL="64008" marR="64008" marT="32004" marB="32004" anchor="ctr">
                    <a:solidFill>
                      <a:srgbClr val="FAF8F7"/>
                    </a:solidFill>
                  </a:tcPr>
                </a:tc>
              </a:tr>
              <a:tr h="354787">
                <a:tc>
                  <a:txBody>
                    <a:bodyPr wrap="square"/>
                    <a:lstStyle/>
                    <a:p>
                      <a:pPr algn="l">
                        <a:lnSpc>
                          <a:spcPct val="105000"/>
                        </a:lnSpc>
                      </a:pPr>
                      <a:r>
                        <a:rPr sz="1050" b="1" i="0">
                          <a:solidFill>
                            <a:srgbClr val="2D2D2D"/>
                          </a:solidFill>
                          <a:latin typeface="Arial"/>
                        </a:rPr>
                        <a:t>3 Sign-off</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Pricing, markdown, QC release</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Named accountable owner</a:t>
                      </a:r>
                    </a:p>
                  </a:txBody>
                  <a:tcPr marL="64008" marR="64008" marT="32004" marB="32004" anchor="ctr">
                    <a:solidFill>
                      <a:srgbClr val="FFFFFF"/>
                    </a:solidFill>
                  </a:tcPr>
                </a:tc>
              </a:tr>
              <a:tr h="354788">
                <a:tc>
                  <a:txBody>
                    <a:bodyPr wrap="square"/>
                    <a:lstStyle/>
                    <a:p>
                      <a:pPr algn="l">
                        <a:lnSpc>
                          <a:spcPct val="105000"/>
                        </a:lnSpc>
                      </a:pPr>
                      <a:r>
                        <a:rPr sz="1050" b="1" i="0">
                          <a:solidFill>
                            <a:srgbClr val="2D2D2D"/>
                          </a:solidFill>
                          <a:latin typeface="Arial"/>
                        </a:rPr>
                        <a:t>4 Prohibited</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Hiring, exit, credit decisions</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No AI involvement</a:t>
                      </a:r>
                    </a:p>
                  </a:txBody>
                  <a:tcPr marL="64008" marR="64008" marT="32004" marB="32004" anchor="ctr">
                    <a:solidFill>
                      <a:srgbClr val="FAF8F7"/>
                    </a:solidFill>
                  </a:tcPr>
                </a:tc>
              </a:tr>
            </a:tbl>
          </a:graphicData>
        </a:graphic>
      </p:graphicFrame>
      <p:sp>
        <p:nvSpPr>
          <p:cNvPr id="8" name="Rectangle 7"/>
          <p:cNvSpPr/>
          <p:nvPr/>
        </p:nvSpPr>
        <p:spPr>
          <a:xfrm>
            <a:off x="6492240" y="3566160"/>
            <a:ext cx="5239512" cy="1773936"/>
          </a:xfrm>
          <a:prstGeom prst="rect">
            <a:avLst/>
          </a:prstGeom>
          <a:solidFill>
            <a:srgbClr val="F4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93408" y="3712463"/>
            <a:ext cx="4846320" cy="237744"/>
          </a:xfrm>
          <a:prstGeom prst="rect">
            <a:avLst/>
          </a:prstGeom>
          <a:noFill/>
        </p:spPr>
        <p:txBody>
          <a:bodyPr wrap="square" anchor="t" lIns="0" rIns="0" tIns="0" bIns="0">
            <a:spAutoFit/>
          </a:bodyPr>
          <a:lstStyle/>
          <a:p>
            <a:pPr algn="l">
              <a:lnSpc>
                <a:spcPct val="100000"/>
              </a:lnSpc>
              <a:spcAft>
                <a:spcPts val="0"/>
              </a:spcAft>
            </a:pPr>
            <a:r>
              <a:rPr sz="1050" b="1" i="0">
                <a:solidFill>
                  <a:srgbClr val="D04A02"/>
                </a:solidFill>
                <a:latin typeface="Arial"/>
              </a:rPr>
              <a:t>TRUST, DATA, IP AND REGULATION</a:t>
            </a:r>
          </a:p>
        </p:txBody>
      </p:sp>
      <p:sp>
        <p:nvSpPr>
          <p:cNvPr id="10" name="TextBox 9"/>
          <p:cNvSpPr txBox="1"/>
          <p:nvPr/>
        </p:nvSpPr>
        <p:spPr>
          <a:xfrm>
            <a:off x="6693408" y="4005072"/>
            <a:ext cx="4864608" cy="1280160"/>
          </a:xfrm>
          <a:prstGeom prst="rect">
            <a:avLst/>
          </a:prstGeom>
          <a:noFill/>
        </p:spPr>
        <p:txBody>
          <a:bodyPr wrap="square" anchor="t" lIns="0" rIns="0" tIns="0" bIns="0">
            <a:spAutoFit/>
          </a:bodyPr>
          <a:lstStyle/>
          <a:p>
            <a:pPr algn="l">
              <a:lnSpc>
                <a:spcPct val="115000"/>
              </a:lnSpc>
              <a:spcAft>
                <a:spcPts val="500"/>
              </a:spcAft>
            </a:pPr>
            <a:r>
              <a:rPr sz="1050" b="1" i="0">
                <a:solidFill>
                  <a:srgbClr val="2D2D2D"/>
                </a:solidFill>
                <a:latin typeface="Arial"/>
              </a:rPr>
              <a:t>Data privacy: </a:t>
            </a:r>
            <a:r>
              <a:rPr sz="1050" b="0" i="0">
                <a:solidFill>
                  <a:srgbClr val="2D2D2D"/>
                </a:solidFill>
                <a:latin typeface="Arial"/>
              </a:rPr>
              <a:t>DPDP Act 2023 for India, GDPR for European operations — consent, purpose limitation and residency enforced in the platform, not per project.</a:t>
            </a:r>
          </a:p>
          <a:p>
            <a:pPr algn="l">
              <a:lnSpc>
                <a:spcPct val="115000"/>
              </a:lnSpc>
              <a:spcAft>
                <a:spcPts val="500"/>
              </a:spcAft>
            </a:pPr>
            <a:r>
              <a:rPr sz="1050" b="1" i="0">
                <a:solidFill>
                  <a:srgbClr val="2D2D2D"/>
                </a:solidFill>
                <a:latin typeface="Arial"/>
              </a:rPr>
              <a:t>IP: </a:t>
            </a:r>
            <a:r>
              <a:rPr sz="1050" b="0" i="0">
                <a:solidFill>
                  <a:srgbClr val="2D2D2D"/>
                </a:solidFill>
                <a:latin typeface="Arial"/>
              </a:rPr>
              <a:t>training-data provenance recorded for every model; no competitor imagery scraped; designer attribution retained on AI-assisted concepts.</a:t>
            </a:r>
          </a:p>
          <a:p>
            <a:pPr algn="l">
              <a:lnSpc>
                <a:spcPct val="115000"/>
              </a:lnSpc>
              <a:spcAft>
                <a:spcPts val="500"/>
              </a:spcAft>
            </a:pPr>
            <a:r>
              <a:rPr sz="1050" b="1" i="0">
                <a:solidFill>
                  <a:srgbClr val="2D2D2D"/>
                </a:solidFill>
                <a:latin typeface="Arial"/>
              </a:rPr>
              <a:t>Bias: </a:t>
            </a:r>
            <a:r>
              <a:rPr sz="1050" b="0" i="0">
                <a:solidFill>
                  <a:srgbClr val="2D2D2D"/>
                </a:solidFill>
                <a:latin typeface="Arial"/>
              </a:rPr>
              <a:t>sizing and recommendation models tested across body types and demographics before release, and quarterly thereafter.</a:t>
            </a:r>
          </a:p>
        </p:txBody>
      </p:sp>
      <p:sp>
        <p:nvSpPr>
          <p:cNvPr id="11" name="Rectangle 10"/>
          <p:cNvSpPr/>
          <p:nvPr/>
        </p:nvSpPr>
        <p:spPr>
          <a:xfrm>
            <a:off x="457200" y="5486400"/>
            <a:ext cx="11274552" cy="713232"/>
          </a:xfrm>
          <a:prstGeom prst="rect">
            <a:avLst/>
          </a:prstGeom>
          <a:solidFill>
            <a:srgbClr val="2D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5632704"/>
            <a:ext cx="10881360" cy="475488"/>
          </a:xfrm>
          <a:prstGeom prst="rect">
            <a:avLst/>
          </a:prstGeom>
          <a:noFill/>
        </p:spPr>
        <p:txBody>
          <a:bodyPr wrap="square" anchor="t" lIns="0" rIns="0" tIns="0" bIns="0">
            <a:spAutoFit/>
          </a:bodyPr>
          <a:lstStyle/>
          <a:p>
            <a:pPr algn="l">
              <a:lnSpc>
                <a:spcPct val="120000"/>
              </a:lnSpc>
              <a:spcAft>
                <a:spcPts val="700"/>
              </a:spcAft>
            </a:pPr>
            <a:r>
              <a:rPr sz="1150" b="0" i="0">
                <a:solidFill>
                  <a:srgbClr val="FFFFFF"/>
                </a:solidFill>
                <a:latin typeface="Arial"/>
              </a:rPr>
              <a:t>Maison Luxe has the best NPS in the portfolio (62) and the lowest return rate (8%), and both numbers exist because customers believe a person made the product. </a:t>
            </a:r>
            <a:r>
              <a:rPr sz="1150" b="1" i="0">
                <a:solidFill>
                  <a:srgbClr val="FFB600"/>
                </a:solidFill>
                <a:latin typeface="Arial"/>
              </a:rPr>
              <a:t>Give it SpeedStyle's AI posture and you'd be automating away the exact thing people are paying for.</a:t>
            </a:r>
          </a:p>
        </p:txBody>
      </p:sp>
      <p:sp>
        <p:nvSpPr>
          <p:cNvPr id="13" name="Rectangle 12"/>
          <p:cNvSpPr/>
          <p:nvPr/>
        </p:nvSpPr>
        <p:spPr>
          <a:xfrm>
            <a:off x="457200" y="6336792"/>
            <a:ext cx="11274552" cy="10972"/>
          </a:xfrm>
          <a:prstGeom prst="rect">
            <a:avLst/>
          </a:prstGeom>
          <a:solidFill>
            <a:srgbClr val="C9C3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6419088"/>
            <a:ext cx="9966960" cy="329184"/>
          </a:xfrm>
          <a:prstGeom prst="rect">
            <a:avLst/>
          </a:prstGeom>
          <a:noFill/>
        </p:spPr>
        <p:txBody>
          <a:bodyPr wrap="square" anchor="t" lIns="0" rIns="0" tIns="0" bIns="0">
            <a:spAutoFit/>
          </a:bodyPr>
          <a:lstStyle/>
          <a:p>
            <a:pPr algn="l">
              <a:lnSpc>
                <a:spcPct val="110000"/>
              </a:lnSpc>
              <a:spcAft>
                <a:spcPts val="0"/>
              </a:spcAft>
            </a:pPr>
            <a:r>
              <a:rPr sz="1000" b="0" i="0">
                <a:solidFill>
                  <a:srgbClr val="7D7D7D"/>
                </a:solidFill>
                <a:latin typeface="Arial"/>
              </a:rPr>
              <a:t>References: European Parliament. (2024). Regulation (EU) 2024/1689 (AI Act). Ministry of Electronics and IT. (2023). Digital Personal Data Protection Act, 2023. NIST. (2023). AI Risk Management Framework 1.0.</a:t>
            </a:r>
          </a:p>
        </p:txBody>
      </p:sp>
      <p:sp>
        <p:nvSpPr>
          <p:cNvPr id="15" name="TextBox 14"/>
          <p:cNvSpPr txBox="1"/>
          <p:nvPr/>
        </p:nvSpPr>
        <p:spPr>
          <a:xfrm>
            <a:off x="10515600" y="6419088"/>
            <a:ext cx="1216152" cy="219456"/>
          </a:xfrm>
          <a:prstGeom prst="rect">
            <a:avLst/>
          </a:prstGeom>
          <a:noFill/>
        </p:spPr>
        <p:txBody>
          <a:bodyPr wrap="square" anchor="t" lIns="0" rIns="0" tIns="0" bIns="0">
            <a:spAutoFit/>
          </a:bodyPr>
          <a:lstStyle/>
          <a:p>
            <a:pPr algn="r">
              <a:lnSpc>
                <a:spcPct val="100000"/>
              </a:lnSpc>
              <a:spcAft>
                <a:spcPts val="0"/>
              </a:spcAft>
            </a:pPr>
            <a:r>
              <a:rPr sz="1000" b="0" i="0">
                <a:solidFill>
                  <a:srgbClr val="7D7D7D"/>
                </a:solidFill>
                <a:latin typeface="Arial"/>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10896"/>
            <a:ext cx="457200" cy="50292"/>
          </a:xfrm>
          <a:prstGeom prst="rect">
            <a:avLst/>
          </a:prstGeom>
          <a:solidFill>
            <a:srgbClr val="D04A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0624"/>
            <a:ext cx="10515600" cy="237744"/>
          </a:xfrm>
          <a:prstGeom prst="rect">
            <a:avLst/>
          </a:prstGeom>
          <a:noFill/>
        </p:spPr>
        <p:txBody>
          <a:bodyPr wrap="square" anchor="t" lIns="0" rIns="0" tIns="0" bIns="0">
            <a:spAutoFit/>
          </a:bodyPr>
          <a:lstStyle/>
          <a:p>
            <a:pPr algn="l">
              <a:lnSpc>
                <a:spcPct val="100000"/>
              </a:lnSpc>
              <a:spcAft>
                <a:spcPts val="0"/>
              </a:spcAft>
            </a:pPr>
            <a:r>
              <a:rPr sz="1000" b="1" i="0">
                <a:solidFill>
                  <a:srgbClr val="D04A02"/>
                </a:solidFill>
                <a:latin typeface="Arial"/>
              </a:rPr>
              <a:t>BODY  |  B10  ·  DELIVERABLE 4</a:t>
            </a:r>
          </a:p>
        </p:txBody>
      </p:sp>
      <p:sp>
        <p:nvSpPr>
          <p:cNvPr id="4" name="TextBox 3"/>
          <p:cNvSpPr txBox="1"/>
          <p:nvPr/>
        </p:nvSpPr>
        <p:spPr>
          <a:xfrm>
            <a:off x="457200" y="676656"/>
            <a:ext cx="11338560" cy="566928"/>
          </a:xfrm>
          <a:prstGeom prst="rect">
            <a:avLst/>
          </a:prstGeom>
          <a:noFill/>
        </p:spPr>
        <p:txBody>
          <a:bodyPr wrap="square" anchor="t" lIns="0" rIns="0" tIns="0" bIns="0">
            <a:spAutoFit/>
          </a:bodyPr>
          <a:lstStyle/>
          <a:p>
            <a:pPr algn="l">
              <a:lnSpc>
                <a:spcPct val="105000"/>
              </a:lnSpc>
              <a:spcAft>
                <a:spcPts val="0"/>
              </a:spcAft>
            </a:pPr>
            <a:r>
              <a:rPr sz="2000" b="1" i="0">
                <a:solidFill>
                  <a:srgbClr val="2D2D2D"/>
                </a:solidFill>
                <a:latin typeface="Georgia"/>
              </a:rPr>
              <a:t>Fear turns out to be measurable. That's why we treat it as the top delivery risk.</a:t>
            </a:r>
          </a:p>
        </p:txBody>
      </p:sp>
      <p:graphicFrame>
        <p:nvGraphicFramePr>
          <p:cNvPr id="5" name="Table 4"/>
          <p:cNvGraphicFramePr>
            <a:graphicFrameLocks noGrp="1"/>
          </p:cNvGraphicFramePr>
          <p:nvPr/>
        </p:nvGraphicFramePr>
        <p:xfrm>
          <a:off x="457200" y="1335024"/>
          <a:ext cx="5806438" cy="1847088"/>
        </p:xfrm>
        <a:graphic>
          <a:graphicData uri="http://schemas.openxmlformats.org/drawingml/2006/table">
            <a:tbl>
              <a:tblPr firstRow="0" bandRow="0">
                <a:tableStyleId>{5C22544A-7EE6-4342-B048-85BDC9FD1C3A}</a:tableStyleId>
              </a:tblPr>
              <a:tblGrid>
                <a:gridCol w="1775217"/>
                <a:gridCol w="628722"/>
                <a:gridCol w="3402499"/>
              </a:tblGrid>
              <a:tr h="369417">
                <a:tc>
                  <a:txBody>
                    <a:bodyPr wrap="square"/>
                    <a:lstStyle/>
                    <a:p>
                      <a:pPr algn="l">
                        <a:lnSpc>
                          <a:spcPct val="105000"/>
                        </a:lnSpc>
                      </a:pPr>
                      <a:r>
                        <a:rPr sz="1050" b="1" i="0">
                          <a:solidFill>
                            <a:srgbClr val="FFFFFF"/>
                          </a:solidFill>
                          <a:latin typeface="Arial"/>
                        </a:rPr>
                        <a:t>Function</a:t>
                      </a:r>
                    </a:p>
                  </a:txBody>
                  <a:tcPr marL="64008" marR="64008" marT="32004" marB="32004" anchor="ctr">
                    <a:solidFill>
                      <a:srgbClr val="2D2D2D"/>
                    </a:solidFill>
                  </a:tcPr>
                </a:tc>
                <a:tc>
                  <a:txBody>
                    <a:bodyPr wrap="square"/>
                    <a:lstStyle/>
                    <a:p>
                      <a:pPr algn="ctr">
                        <a:lnSpc>
                          <a:spcPct val="105000"/>
                        </a:lnSpc>
                      </a:pPr>
                      <a:r>
                        <a:rPr sz="1050" b="1" i="0">
                          <a:solidFill>
                            <a:srgbClr val="FFFFFF"/>
                          </a:solidFill>
                          <a:latin typeface="Arial"/>
                        </a:rPr>
                        <a:t>Fear</a:t>
                      </a:r>
                    </a:p>
                  </a:txBody>
                  <a:tcPr marL="64008" marR="64008" marT="32004" marB="32004" anchor="ctr">
                    <a:solidFill>
                      <a:srgbClr val="2D2D2D"/>
                    </a:solidFill>
                  </a:tcPr>
                </a:tc>
                <a:tc>
                  <a:txBody>
                    <a:bodyPr wrap="square"/>
                    <a:lstStyle/>
                    <a:p>
                      <a:pPr algn="ctr">
                        <a:lnSpc>
                          <a:spcPct val="105000"/>
                        </a:lnSpc>
                      </a:pPr>
                      <a:r>
                        <a:rPr sz="1050" b="1" i="0">
                          <a:solidFill>
                            <a:srgbClr val="FFFFFF"/>
                          </a:solidFill>
                          <a:latin typeface="Arial"/>
                        </a:rPr>
                        <a:t>Intervention</a:t>
                      </a:r>
                    </a:p>
                  </a:txBody>
                  <a:tcPr marL="64008" marR="64008" marT="32004" marB="32004" anchor="ctr">
                    <a:solidFill>
                      <a:srgbClr val="2D2D2D"/>
                    </a:solidFill>
                  </a:tcPr>
                </a:tc>
              </a:tr>
              <a:tr h="369417">
                <a:tc>
                  <a:txBody>
                    <a:bodyPr wrap="square"/>
                    <a:lstStyle/>
                    <a:p>
                      <a:pPr algn="l">
                        <a:lnSpc>
                          <a:spcPct val="105000"/>
                        </a:lnSpc>
                      </a:pPr>
                      <a:r>
                        <a:rPr sz="1050" b="1" i="0">
                          <a:solidFill>
                            <a:srgbClr val="2D2D2D"/>
                          </a:solidFill>
                          <a:latin typeface="Arial"/>
                        </a:rPr>
                        <a:t>Manufacturing</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4.5</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Phase 3 entry; EPR roles announced before tooling</a:t>
                      </a:r>
                    </a:p>
                  </a:txBody>
                  <a:tcPr marL="64008" marR="64008" marT="32004" marB="32004" anchor="ctr">
                    <a:solidFill>
                      <a:srgbClr val="FFFFFF"/>
                    </a:solidFill>
                  </a:tcPr>
                </a:tc>
              </a:tr>
              <a:tr h="369417">
                <a:tc>
                  <a:txBody>
                    <a:bodyPr wrap="square"/>
                    <a:lstStyle/>
                    <a:p>
                      <a:pPr algn="l">
                        <a:lnSpc>
                          <a:spcPct val="105000"/>
                        </a:lnSpc>
                      </a:pPr>
                      <a:r>
                        <a:rPr sz="1050" b="1" i="0">
                          <a:solidFill>
                            <a:srgbClr val="2D2D2D"/>
                          </a:solidFill>
                          <a:latin typeface="Arial"/>
                        </a:rPr>
                        <a:t>Retail Operations</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4.3</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20-store pilot; associates co-design the tool</a:t>
                      </a:r>
                    </a:p>
                  </a:txBody>
                  <a:tcPr marL="64008" marR="64008" marT="32004" marB="32004" anchor="ctr">
                    <a:solidFill>
                      <a:srgbClr val="FAF8F7"/>
                    </a:solidFill>
                  </a:tcPr>
                </a:tc>
              </a:tr>
              <a:tr h="369417">
                <a:tc>
                  <a:txBody>
                    <a:bodyPr wrap="square"/>
                    <a:lstStyle/>
                    <a:p>
                      <a:pPr algn="l">
                        <a:lnSpc>
                          <a:spcPct val="105000"/>
                        </a:lnSpc>
                      </a:pPr>
                      <a:r>
                        <a:rPr sz="1050" b="1" i="0">
                          <a:solidFill>
                            <a:srgbClr val="2D2D2D"/>
                          </a:solidFill>
                          <a:latin typeface="Arial"/>
                        </a:rPr>
                        <a:t>Merchandising</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3.0</a:t>
                      </a:r>
                    </a:p>
                  </a:txBody>
                  <a:tcPr marL="64008" marR="64008" marT="32004" marB="32004" anchor="ctr">
                    <a:solidFill>
                      <a:srgbClr val="FFFFFF"/>
                    </a:solidFill>
                  </a:tcPr>
                </a:tc>
                <a:tc>
                  <a:txBody>
                    <a:bodyPr wrap="square"/>
                    <a:lstStyle/>
                    <a:p>
                      <a:pPr algn="ctr">
                        <a:lnSpc>
                          <a:spcPct val="105000"/>
                        </a:lnSpc>
                      </a:pPr>
                      <a:r>
                        <a:rPr sz="1050" b="0" i="0">
                          <a:solidFill>
                            <a:srgbClr val="2D2D2D"/>
                          </a:solidFill>
                          <a:latin typeface="Arial"/>
                        </a:rPr>
                        <a:t>Planners become model challengers, not subjects</a:t>
                      </a:r>
                    </a:p>
                  </a:txBody>
                  <a:tcPr marL="64008" marR="64008" marT="32004" marB="32004" anchor="ctr">
                    <a:solidFill>
                      <a:srgbClr val="FFFFFF"/>
                    </a:solidFill>
                  </a:tcPr>
                </a:tc>
              </a:tr>
              <a:tr h="369420">
                <a:tc>
                  <a:txBody>
                    <a:bodyPr wrap="square"/>
                    <a:lstStyle/>
                    <a:p>
                      <a:pPr algn="l">
                        <a:lnSpc>
                          <a:spcPct val="105000"/>
                        </a:lnSpc>
                      </a:pPr>
                      <a:r>
                        <a:rPr sz="1050" b="1" i="0">
                          <a:solidFill>
                            <a:srgbClr val="2D2D2D"/>
                          </a:solidFill>
                          <a:latin typeface="Arial"/>
                        </a:rPr>
                        <a:t>Marketing / Design / Corp.</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≤2.5</a:t>
                      </a:r>
                    </a:p>
                  </a:txBody>
                  <a:tcPr marL="64008" marR="64008" marT="32004" marB="32004" anchor="ctr">
                    <a:solidFill>
                      <a:srgbClr val="FAF8F7"/>
                    </a:solidFill>
                  </a:tcPr>
                </a:tc>
                <a:tc>
                  <a:txBody>
                    <a:bodyPr wrap="square"/>
                    <a:lstStyle/>
                    <a:p>
                      <a:pPr algn="ctr">
                        <a:lnSpc>
                          <a:spcPct val="105000"/>
                        </a:lnSpc>
                      </a:pPr>
                      <a:r>
                        <a:rPr sz="1050" b="0" i="0">
                          <a:solidFill>
                            <a:srgbClr val="2D2D2D"/>
                          </a:solidFill>
                          <a:latin typeface="Arial"/>
                        </a:rPr>
                        <a:t>Champion source — seed advocates into the above</a:t>
                      </a:r>
                    </a:p>
                  </a:txBody>
                  <a:tcPr marL="64008" marR="64008" marT="32004" marB="32004" anchor="ctr">
                    <a:solidFill>
                      <a:srgbClr val="FAF8F7"/>
                    </a:solidFill>
                  </a:tcPr>
                </a:tc>
              </a:tr>
            </a:tbl>
          </a:graphicData>
        </a:graphic>
      </p:graphicFrame>
      <p:sp>
        <p:nvSpPr>
          <p:cNvPr id="6" name="Rectangle 5"/>
          <p:cNvSpPr/>
          <p:nvPr/>
        </p:nvSpPr>
        <p:spPr>
          <a:xfrm>
            <a:off x="6492240" y="1335024"/>
            <a:ext cx="5239512" cy="1847088"/>
          </a:xfrm>
          <a:prstGeom prst="rect">
            <a:avLst/>
          </a:prstGeom>
          <a:solidFill>
            <a:srgbClr val="FFFFFF"/>
          </a:solidFill>
          <a:ln w="19050">
            <a:solidFill>
              <a:srgbClr val="D04A0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93408" y="1463040"/>
            <a:ext cx="4846320" cy="237744"/>
          </a:xfrm>
          <a:prstGeom prst="rect">
            <a:avLst/>
          </a:prstGeom>
          <a:noFill/>
        </p:spPr>
        <p:txBody>
          <a:bodyPr wrap="square" anchor="t" lIns="0" rIns="0" tIns="0" bIns="0">
            <a:spAutoFit/>
          </a:bodyPr>
          <a:lstStyle/>
          <a:p>
            <a:pPr algn="l">
              <a:lnSpc>
                <a:spcPct val="100000"/>
              </a:lnSpc>
              <a:spcAft>
                <a:spcPts val="0"/>
              </a:spcAft>
            </a:pPr>
            <a:r>
              <a:rPr sz="1050" b="1" i="0">
                <a:solidFill>
                  <a:srgbClr val="D04A02"/>
                </a:solidFill>
                <a:latin typeface="Arial"/>
              </a:rPr>
              <a:t>FOUR MOVES, IN THIS ORDER</a:t>
            </a:r>
          </a:p>
        </p:txBody>
      </p:sp>
      <p:sp>
        <p:nvSpPr>
          <p:cNvPr id="8" name="TextBox 7"/>
          <p:cNvSpPr txBox="1"/>
          <p:nvPr/>
        </p:nvSpPr>
        <p:spPr>
          <a:xfrm>
            <a:off x="6693408" y="1755648"/>
            <a:ext cx="1051560" cy="219456"/>
          </a:xfrm>
          <a:prstGeom prst="rect">
            <a:avLst/>
          </a:prstGeom>
          <a:noFill/>
        </p:spPr>
        <p:txBody>
          <a:bodyPr wrap="square" anchor="t" lIns="0" rIns="0" tIns="0" bIns="0">
            <a:spAutoFit/>
          </a:bodyPr>
          <a:lstStyle/>
          <a:p>
            <a:pPr algn="l">
              <a:lnSpc>
                <a:spcPct val="100000"/>
              </a:lnSpc>
              <a:spcAft>
                <a:spcPts val="0"/>
              </a:spcAft>
            </a:pPr>
            <a:r>
              <a:rPr sz="1050" b="1" i="0">
                <a:solidFill>
                  <a:srgbClr val="D04A02"/>
                </a:solidFill>
                <a:latin typeface="Arial"/>
              </a:rPr>
              <a:t>BELIEVE</a:t>
            </a:r>
          </a:p>
        </p:txBody>
      </p:sp>
      <p:sp>
        <p:nvSpPr>
          <p:cNvPr id="9" name="TextBox 8"/>
          <p:cNvSpPr txBox="1"/>
          <p:nvPr/>
        </p:nvSpPr>
        <p:spPr>
          <a:xfrm>
            <a:off x="7772400" y="1755648"/>
            <a:ext cx="3840480" cy="274320"/>
          </a:xfrm>
          <a:prstGeom prst="rect">
            <a:avLst/>
          </a:prstGeom>
          <a:noFill/>
        </p:spPr>
        <p:txBody>
          <a:bodyPr wrap="square" anchor="t" lIns="0" rIns="0" tIns="0" bIns="0">
            <a:spAutoFit/>
          </a:bodyPr>
          <a:lstStyle/>
          <a:p>
            <a:pPr algn="l">
              <a:lnSpc>
                <a:spcPct val="110000"/>
              </a:lnSpc>
              <a:spcAft>
                <a:spcPts val="0"/>
              </a:spcAft>
            </a:pPr>
            <a:r>
              <a:rPr sz="1050" b="0" i="0">
                <a:solidFill>
                  <a:srgbClr val="2D2D2D"/>
                </a:solidFill>
                <a:latin typeface="Arial"/>
              </a:rPr>
              <a:t>Zero-Layoff Charter, board-backed, published month 1</a:t>
            </a:r>
          </a:p>
        </p:txBody>
      </p:sp>
      <p:sp>
        <p:nvSpPr>
          <p:cNvPr id="10" name="TextBox 9"/>
          <p:cNvSpPr txBox="1"/>
          <p:nvPr/>
        </p:nvSpPr>
        <p:spPr>
          <a:xfrm>
            <a:off x="6693408" y="2093976"/>
            <a:ext cx="1051560" cy="219456"/>
          </a:xfrm>
          <a:prstGeom prst="rect">
            <a:avLst/>
          </a:prstGeom>
          <a:noFill/>
        </p:spPr>
        <p:txBody>
          <a:bodyPr wrap="square" anchor="t" lIns="0" rIns="0" tIns="0" bIns="0">
            <a:spAutoFit/>
          </a:bodyPr>
          <a:lstStyle/>
          <a:p>
            <a:pPr algn="l">
              <a:lnSpc>
                <a:spcPct val="100000"/>
              </a:lnSpc>
              <a:spcAft>
                <a:spcPts val="0"/>
              </a:spcAft>
            </a:pPr>
            <a:r>
              <a:rPr sz="1050" b="1" i="0">
                <a:solidFill>
                  <a:srgbClr val="D04A02"/>
                </a:solidFill>
                <a:latin typeface="Arial"/>
              </a:rPr>
              <a:t>BUILD</a:t>
            </a:r>
          </a:p>
        </p:txBody>
      </p:sp>
      <p:sp>
        <p:nvSpPr>
          <p:cNvPr id="11" name="TextBox 10"/>
          <p:cNvSpPr txBox="1"/>
          <p:nvPr/>
        </p:nvSpPr>
        <p:spPr>
          <a:xfrm>
            <a:off x="7772400" y="2093976"/>
            <a:ext cx="3840480" cy="274320"/>
          </a:xfrm>
          <a:prstGeom prst="rect">
            <a:avLst/>
          </a:prstGeom>
          <a:noFill/>
        </p:spPr>
        <p:txBody>
          <a:bodyPr wrap="square" anchor="t" lIns="0" rIns="0" tIns="0" bIns="0">
            <a:spAutoFit/>
          </a:bodyPr>
          <a:lstStyle/>
          <a:p>
            <a:pPr algn="l">
              <a:lnSpc>
                <a:spcPct val="110000"/>
              </a:lnSpc>
              <a:spcAft>
                <a:spcPts val="0"/>
              </a:spcAft>
            </a:pPr>
            <a:r>
              <a:rPr sz="1050" b="0" i="0">
                <a:solidFill>
                  <a:srgbClr val="2D2D2D"/>
                </a:solidFill>
                <a:latin typeface="Arial"/>
              </a:rPr>
              <a:t>Learning journeys start before tools arrive, not after</a:t>
            </a:r>
          </a:p>
        </p:txBody>
      </p:sp>
      <p:sp>
        <p:nvSpPr>
          <p:cNvPr id="12" name="TextBox 11"/>
          <p:cNvSpPr txBox="1"/>
          <p:nvPr/>
        </p:nvSpPr>
        <p:spPr>
          <a:xfrm>
            <a:off x="6693408" y="2432304"/>
            <a:ext cx="1051560" cy="219456"/>
          </a:xfrm>
          <a:prstGeom prst="rect">
            <a:avLst/>
          </a:prstGeom>
          <a:noFill/>
        </p:spPr>
        <p:txBody>
          <a:bodyPr wrap="square" anchor="t" lIns="0" rIns="0" tIns="0" bIns="0">
            <a:spAutoFit/>
          </a:bodyPr>
          <a:lstStyle/>
          <a:p>
            <a:pPr algn="l">
              <a:lnSpc>
                <a:spcPct val="100000"/>
              </a:lnSpc>
              <a:spcAft>
                <a:spcPts val="0"/>
              </a:spcAft>
            </a:pPr>
            <a:r>
              <a:rPr sz="1050" b="1" i="0">
                <a:solidFill>
                  <a:srgbClr val="D04A02"/>
                </a:solidFill>
                <a:latin typeface="Arial"/>
              </a:rPr>
              <a:t>BOND</a:t>
            </a:r>
          </a:p>
        </p:txBody>
      </p:sp>
      <p:sp>
        <p:nvSpPr>
          <p:cNvPr id="13" name="TextBox 12"/>
          <p:cNvSpPr txBox="1"/>
          <p:nvPr/>
        </p:nvSpPr>
        <p:spPr>
          <a:xfrm>
            <a:off x="7772400" y="2432304"/>
            <a:ext cx="3840480" cy="274320"/>
          </a:xfrm>
          <a:prstGeom prst="rect">
            <a:avLst/>
          </a:prstGeom>
          <a:noFill/>
        </p:spPr>
        <p:txBody>
          <a:bodyPr wrap="square" anchor="t" lIns="0" rIns="0" tIns="0" bIns="0">
            <a:spAutoFit/>
          </a:bodyPr>
          <a:lstStyle/>
          <a:p>
            <a:pPr algn="l">
              <a:lnSpc>
                <a:spcPct val="110000"/>
              </a:lnSpc>
              <a:spcAft>
                <a:spcPts val="0"/>
              </a:spcAft>
            </a:pPr>
            <a:r>
              <a:rPr sz="1050" b="0" i="0">
                <a:solidFill>
                  <a:srgbClr val="2D2D2D"/>
                </a:solidFill>
                <a:latin typeface="Arial"/>
              </a:rPr>
              <a:t>500 AI Champions (~2%) from high-willingness functions</a:t>
            </a:r>
          </a:p>
        </p:txBody>
      </p:sp>
      <p:sp>
        <p:nvSpPr>
          <p:cNvPr id="14" name="TextBox 13"/>
          <p:cNvSpPr txBox="1"/>
          <p:nvPr/>
        </p:nvSpPr>
        <p:spPr>
          <a:xfrm>
            <a:off x="6693408" y="2770632"/>
            <a:ext cx="1051560" cy="219456"/>
          </a:xfrm>
          <a:prstGeom prst="rect">
            <a:avLst/>
          </a:prstGeom>
          <a:noFill/>
        </p:spPr>
        <p:txBody>
          <a:bodyPr wrap="square" anchor="t" lIns="0" rIns="0" tIns="0" bIns="0">
            <a:spAutoFit/>
          </a:bodyPr>
          <a:lstStyle/>
          <a:p>
            <a:pPr algn="l">
              <a:lnSpc>
                <a:spcPct val="100000"/>
              </a:lnSpc>
              <a:spcAft>
                <a:spcPts val="0"/>
              </a:spcAft>
            </a:pPr>
            <a:r>
              <a:rPr sz="1050" b="1" i="0">
                <a:solidFill>
                  <a:srgbClr val="D04A02"/>
                </a:solidFill>
                <a:latin typeface="Arial"/>
              </a:rPr>
              <a:t>BEHAVE</a:t>
            </a:r>
          </a:p>
        </p:txBody>
      </p:sp>
      <p:sp>
        <p:nvSpPr>
          <p:cNvPr id="15" name="TextBox 14"/>
          <p:cNvSpPr txBox="1"/>
          <p:nvPr/>
        </p:nvSpPr>
        <p:spPr>
          <a:xfrm>
            <a:off x="7772400" y="2770632"/>
            <a:ext cx="3840480" cy="274320"/>
          </a:xfrm>
          <a:prstGeom prst="rect">
            <a:avLst/>
          </a:prstGeom>
          <a:noFill/>
        </p:spPr>
        <p:txBody>
          <a:bodyPr wrap="square" anchor="t" lIns="0" rIns="0" tIns="0" bIns="0">
            <a:spAutoFit/>
          </a:bodyPr>
          <a:lstStyle/>
          <a:p>
            <a:pPr algn="l">
              <a:lnSpc>
                <a:spcPct val="110000"/>
              </a:lnSpc>
              <a:spcAft>
                <a:spcPts val="0"/>
              </a:spcAft>
            </a:pPr>
            <a:r>
              <a:rPr sz="1050" b="0" i="0">
                <a:solidFill>
                  <a:srgbClr val="2D2D2D"/>
                </a:solidFill>
                <a:latin typeface="Arial"/>
              </a:rPr>
              <a:t>Adoption written into KPIs; redeployment celebrated</a:t>
            </a:r>
          </a:p>
        </p:txBody>
      </p:sp>
      <p:sp>
        <p:nvSpPr>
          <p:cNvPr id="16" name="TextBox 15"/>
          <p:cNvSpPr txBox="1"/>
          <p:nvPr/>
        </p:nvSpPr>
        <p:spPr>
          <a:xfrm>
            <a:off x="457200" y="3346704"/>
            <a:ext cx="11274552" cy="237744"/>
          </a:xfrm>
          <a:prstGeom prst="rect">
            <a:avLst/>
          </a:prstGeom>
          <a:noFill/>
        </p:spPr>
        <p:txBody>
          <a:bodyPr wrap="square" anchor="t" lIns="0" rIns="0" tIns="0" bIns="0">
            <a:spAutoFit/>
          </a:bodyPr>
          <a:lstStyle/>
          <a:p>
            <a:pPr algn="l">
              <a:lnSpc>
                <a:spcPct val="100000"/>
              </a:lnSpc>
              <a:spcAft>
                <a:spcPts val="0"/>
              </a:spcAft>
            </a:pPr>
            <a:r>
              <a:rPr sz="1050" b="1" i="0">
                <a:solidFill>
                  <a:srgbClr val="D04A02"/>
                </a:solidFill>
                <a:latin typeface="Arial"/>
              </a:rPr>
              <a:t>THE ₹200 CRORE, ALLOCATED</a:t>
            </a:r>
          </a:p>
        </p:txBody>
      </p:sp>
      <p:pic>
        <p:nvPicPr>
          <p:cNvPr id="17" name="Picture 16" descr="investment.png"/>
          <p:cNvPicPr>
            <a:picLocks noChangeAspect="1"/>
          </p:cNvPicPr>
          <p:nvPr/>
        </p:nvPicPr>
        <p:blipFill>
          <a:blip r:embed="rId2"/>
          <a:stretch>
            <a:fillRect/>
          </a:stretch>
        </p:blipFill>
        <p:spPr>
          <a:xfrm>
            <a:off x="457200" y="3602736"/>
            <a:ext cx="6858000" cy="1225296"/>
          </a:xfrm>
          <a:prstGeom prst="rect">
            <a:avLst/>
          </a:prstGeom>
        </p:spPr>
      </p:pic>
      <p:sp>
        <p:nvSpPr>
          <p:cNvPr id="18" name="Rectangle 17"/>
          <p:cNvSpPr/>
          <p:nvPr/>
        </p:nvSpPr>
        <p:spPr>
          <a:xfrm>
            <a:off x="7543800" y="3602736"/>
            <a:ext cx="4187952" cy="1225296"/>
          </a:xfrm>
          <a:prstGeom prst="rect">
            <a:avLst/>
          </a:prstGeom>
          <a:solidFill>
            <a:srgbClr val="F4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44968" y="3730752"/>
            <a:ext cx="3794760" cy="960120"/>
          </a:xfrm>
          <a:prstGeom prst="rect">
            <a:avLst/>
          </a:prstGeom>
          <a:noFill/>
        </p:spPr>
        <p:txBody>
          <a:bodyPr wrap="square" anchor="t" lIns="0" rIns="0" tIns="0" bIns="0">
            <a:spAutoFit/>
          </a:bodyPr>
          <a:lstStyle/>
          <a:p>
            <a:pPr algn="l">
              <a:lnSpc>
                <a:spcPct val="118000"/>
              </a:lnSpc>
              <a:spcAft>
                <a:spcPts val="700"/>
              </a:spcAft>
            </a:pPr>
            <a:r>
              <a:rPr sz="1100" b="0" i="0">
                <a:solidFill>
                  <a:srgbClr val="2D2D2D"/>
                </a:solidFill>
                <a:latin typeface="Arial"/>
              </a:rPr>
              <a:t>The 22% going to people isn't a rounding error. Most transformations shortchange reskilling, then wonder why the technology worked but nobody's behaviour changed. Zero-Layoff only means something if the redeployment budget is real money.</a:t>
            </a:r>
          </a:p>
        </p:txBody>
      </p:sp>
      <p:sp>
        <p:nvSpPr>
          <p:cNvPr id="20" name="TextBox 19"/>
          <p:cNvSpPr txBox="1"/>
          <p:nvPr/>
        </p:nvSpPr>
        <p:spPr>
          <a:xfrm>
            <a:off x="457200" y="4956048"/>
            <a:ext cx="11274552" cy="237744"/>
          </a:xfrm>
          <a:prstGeom prst="rect">
            <a:avLst/>
          </a:prstGeom>
          <a:noFill/>
        </p:spPr>
        <p:txBody>
          <a:bodyPr wrap="square" anchor="t" lIns="0" rIns="0" tIns="0" bIns="0">
            <a:spAutoFit/>
          </a:bodyPr>
          <a:lstStyle/>
          <a:p>
            <a:pPr algn="l">
              <a:lnSpc>
                <a:spcPct val="100000"/>
              </a:lnSpc>
              <a:spcAft>
                <a:spcPts val="0"/>
              </a:spcAft>
            </a:pPr>
            <a:r>
              <a:rPr sz="1050" b="1" i="0">
                <a:solidFill>
                  <a:srgbClr val="D04A02"/>
                </a:solidFill>
                <a:latin typeface="Arial"/>
              </a:rPr>
              <a:t>THE VALUE THIS UNLOCKS</a:t>
            </a:r>
          </a:p>
        </p:txBody>
      </p:sp>
      <p:pic>
        <p:nvPicPr>
          <p:cNvPr id="21" name="Picture 20" descr="value_bridge.png"/>
          <p:cNvPicPr>
            <a:picLocks noChangeAspect="1"/>
          </p:cNvPicPr>
          <p:nvPr/>
        </p:nvPicPr>
        <p:blipFill>
          <a:blip r:embed="rId3"/>
          <a:stretch>
            <a:fillRect/>
          </a:stretch>
        </p:blipFill>
        <p:spPr>
          <a:xfrm>
            <a:off x="457200" y="5175504"/>
            <a:ext cx="7040880" cy="1060704"/>
          </a:xfrm>
          <a:prstGeom prst="rect">
            <a:avLst/>
          </a:prstGeom>
        </p:spPr>
      </p:pic>
      <p:sp>
        <p:nvSpPr>
          <p:cNvPr id="22" name="Rectangle 21"/>
          <p:cNvSpPr/>
          <p:nvPr/>
        </p:nvSpPr>
        <p:spPr>
          <a:xfrm>
            <a:off x="7726679" y="5175504"/>
            <a:ext cx="4005072" cy="1060704"/>
          </a:xfrm>
          <a:prstGeom prst="rect">
            <a:avLst/>
          </a:prstGeom>
          <a:solidFill>
            <a:srgbClr val="2D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27848" y="5285232"/>
            <a:ext cx="3657600" cy="896112"/>
          </a:xfrm>
          <a:prstGeom prst="rect">
            <a:avLst/>
          </a:prstGeom>
          <a:noFill/>
        </p:spPr>
        <p:txBody>
          <a:bodyPr wrap="square" anchor="t" lIns="0" rIns="0" tIns="0" bIns="0">
            <a:spAutoFit/>
          </a:bodyPr>
          <a:lstStyle/>
          <a:p>
            <a:pPr algn="l">
              <a:lnSpc>
                <a:spcPct val="118000"/>
              </a:lnSpc>
              <a:spcAft>
                <a:spcPts val="400"/>
              </a:spcAft>
            </a:pPr>
            <a:r>
              <a:rPr sz="1700" b="1" i="0">
                <a:solidFill>
                  <a:srgbClr val="FFB600"/>
                </a:solidFill>
                <a:latin typeface="Georgia"/>
              </a:rPr>
              <a:t>₹311 Cr</a:t>
            </a:r>
            <a:r>
              <a:rPr sz="1100" b="0" i="0">
                <a:solidFill>
                  <a:srgbClr val="FFFFFF"/>
                </a:solidFill>
                <a:latin typeface="Arial"/>
              </a:rPr>
              <a:t>  annual run-rate</a:t>
            </a:r>
          </a:p>
          <a:p>
            <a:pPr algn="l">
              <a:lnSpc>
                <a:spcPct val="118000"/>
              </a:lnSpc>
              <a:spcAft>
                <a:spcPts val="400"/>
              </a:spcAft>
            </a:pPr>
            <a:r>
              <a:rPr sz="1050" b="0" i="0">
                <a:solidFill>
                  <a:srgbClr val="DEDAD6"/>
                </a:solidFill>
                <a:latin typeface="Arial"/>
              </a:rPr>
              <a:t>against a ₹200 Cr one-time spend. Payback lands under 12 months; EBITDA margin moves from 9.5% to 13.1%.</a:t>
            </a:r>
          </a:p>
        </p:txBody>
      </p:sp>
      <p:sp>
        <p:nvSpPr>
          <p:cNvPr id="24" name="Rectangle 23"/>
          <p:cNvSpPr/>
          <p:nvPr/>
        </p:nvSpPr>
        <p:spPr>
          <a:xfrm>
            <a:off x="457200" y="6336792"/>
            <a:ext cx="11274552" cy="10972"/>
          </a:xfrm>
          <a:prstGeom prst="rect">
            <a:avLst/>
          </a:prstGeom>
          <a:solidFill>
            <a:srgbClr val="C9C3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6419088"/>
            <a:ext cx="9966960" cy="329184"/>
          </a:xfrm>
          <a:prstGeom prst="rect">
            <a:avLst/>
          </a:prstGeom>
          <a:noFill/>
        </p:spPr>
        <p:txBody>
          <a:bodyPr wrap="square" anchor="t" lIns="0" rIns="0" tIns="0" bIns="0">
            <a:spAutoFit/>
          </a:bodyPr>
          <a:lstStyle/>
          <a:p>
            <a:pPr algn="l">
              <a:lnSpc>
                <a:spcPct val="110000"/>
              </a:lnSpc>
              <a:spcAft>
                <a:spcPts val="0"/>
              </a:spcAft>
            </a:pPr>
            <a:r>
              <a:rPr sz="1000" b="0" i="0">
                <a:solidFill>
                  <a:srgbClr val="7D7D7D"/>
                </a:solidFill>
                <a:latin typeface="Arial"/>
              </a:rPr>
              <a:t>Value bridge assumptions: markdown reduction at 35% pass-through of the ₹380 Cr pool; return cost = 25% of item value; ₹1.2 L replacement cost per exit; 5pp of the 15% growth target attributed to AI at 42% gross margin. Full workings in Appendix A3.</a:t>
            </a:r>
          </a:p>
        </p:txBody>
      </p:sp>
      <p:sp>
        <p:nvSpPr>
          <p:cNvPr id="26" name="TextBox 25"/>
          <p:cNvSpPr txBox="1"/>
          <p:nvPr/>
        </p:nvSpPr>
        <p:spPr>
          <a:xfrm>
            <a:off x="10515600" y="6419088"/>
            <a:ext cx="1216152" cy="219456"/>
          </a:xfrm>
          <a:prstGeom prst="rect">
            <a:avLst/>
          </a:prstGeom>
          <a:noFill/>
        </p:spPr>
        <p:txBody>
          <a:bodyPr wrap="square" anchor="t" lIns="0" rIns="0" tIns="0" bIns="0">
            <a:spAutoFit/>
          </a:bodyPr>
          <a:lstStyle/>
          <a:p>
            <a:pPr algn="r">
              <a:lnSpc>
                <a:spcPct val="100000"/>
              </a:lnSpc>
              <a:spcAft>
                <a:spcPts val="0"/>
              </a:spcAft>
            </a:pPr>
            <a:r>
              <a:rPr sz="1000" b="0" i="0">
                <a:solidFill>
                  <a:srgbClr val="7D7D7D"/>
                </a:solidFill>
                <a:latin typeface="Arial"/>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10896"/>
            <a:ext cx="457200" cy="50292"/>
          </a:xfrm>
          <a:prstGeom prst="rect">
            <a:avLst/>
          </a:prstGeom>
          <a:solidFill>
            <a:srgbClr val="7D7D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0624"/>
            <a:ext cx="10515600" cy="237744"/>
          </a:xfrm>
          <a:prstGeom prst="rect">
            <a:avLst/>
          </a:prstGeom>
          <a:noFill/>
        </p:spPr>
        <p:txBody>
          <a:bodyPr wrap="square" anchor="t" lIns="0" rIns="0" tIns="0" bIns="0">
            <a:spAutoFit/>
          </a:bodyPr>
          <a:lstStyle/>
          <a:p>
            <a:pPr algn="l">
              <a:lnSpc>
                <a:spcPct val="100000"/>
              </a:lnSpc>
              <a:spcAft>
                <a:spcPts val="0"/>
              </a:spcAft>
            </a:pPr>
            <a:r>
              <a:rPr sz="1000" b="1" i="0">
                <a:solidFill>
                  <a:srgbClr val="7D7D7D"/>
                </a:solidFill>
                <a:latin typeface="Arial"/>
              </a:rPr>
              <a:t>APPENDIX  |  A1</a:t>
            </a:r>
          </a:p>
        </p:txBody>
      </p:sp>
      <p:sp>
        <p:nvSpPr>
          <p:cNvPr id="4" name="TextBox 3"/>
          <p:cNvSpPr txBox="1"/>
          <p:nvPr/>
        </p:nvSpPr>
        <p:spPr>
          <a:xfrm>
            <a:off x="457200" y="676656"/>
            <a:ext cx="11338560" cy="566928"/>
          </a:xfrm>
          <a:prstGeom prst="rect">
            <a:avLst/>
          </a:prstGeom>
          <a:noFill/>
        </p:spPr>
        <p:txBody>
          <a:bodyPr wrap="square" anchor="t" lIns="0" rIns="0" tIns="0" bIns="0">
            <a:spAutoFit/>
          </a:bodyPr>
          <a:lstStyle/>
          <a:p>
            <a:pPr algn="l">
              <a:lnSpc>
                <a:spcPct val="105000"/>
              </a:lnSpc>
              <a:spcAft>
                <a:spcPts val="0"/>
              </a:spcAft>
            </a:pPr>
            <a:r>
              <a:rPr sz="2000" b="1" i="0">
                <a:solidFill>
                  <a:srgbClr val="2D2D2D"/>
                </a:solidFill>
                <a:latin typeface="Georgia"/>
              </a:rPr>
              <a:t>Task audit — detail by function</a:t>
            </a:r>
          </a:p>
        </p:txBody>
      </p:sp>
      <p:graphicFrame>
        <p:nvGraphicFramePr>
          <p:cNvPr id="5" name="Table 4"/>
          <p:cNvGraphicFramePr>
            <a:graphicFrameLocks noGrp="1"/>
          </p:cNvGraphicFramePr>
          <p:nvPr/>
        </p:nvGraphicFramePr>
        <p:xfrm>
          <a:off x="457200" y="1371600"/>
          <a:ext cx="11274552" cy="2834640"/>
        </p:xfrm>
        <a:graphic>
          <a:graphicData uri="http://schemas.openxmlformats.org/drawingml/2006/table">
            <a:tbl>
              <a:tblPr firstRow="0" bandRow="0">
                <a:tableStyleId>{5C22544A-7EE6-4342-B048-85BDC9FD1C3A}</a:tableStyleId>
              </a:tblPr>
              <a:tblGrid>
                <a:gridCol w="2103120"/>
                <a:gridCol w="685800"/>
                <a:gridCol w="777240"/>
                <a:gridCol w="777240"/>
                <a:gridCol w="731520"/>
                <a:gridCol w="731520"/>
                <a:gridCol w="1051560"/>
                <a:gridCol w="4416552"/>
              </a:tblGrid>
              <a:tr h="354330">
                <a:tc>
                  <a:txBody>
                    <a:bodyPr wrap="square"/>
                    <a:lstStyle/>
                    <a:p>
                      <a:pPr algn="l">
                        <a:lnSpc>
                          <a:spcPct val="105000"/>
                        </a:lnSpc>
                      </a:pPr>
                      <a:r>
                        <a:rPr sz="1000" b="1" i="0">
                          <a:solidFill>
                            <a:srgbClr val="FFFFFF"/>
                          </a:solidFill>
                          <a:latin typeface="Arial"/>
                        </a:rPr>
                        <a:t>Function</a:t>
                      </a:r>
                    </a:p>
                  </a:txBody>
                  <a:tcPr marL="64008" marR="64008" marT="32004" marB="32004" anchor="ctr">
                    <a:solidFill>
                      <a:srgbClr val="2D2D2D"/>
                    </a:solidFill>
                  </a:tcPr>
                </a:tc>
                <a:tc>
                  <a:txBody>
                    <a:bodyPr wrap="square"/>
                    <a:lstStyle/>
                    <a:p>
                      <a:pPr algn="ctr">
                        <a:lnSpc>
                          <a:spcPct val="105000"/>
                        </a:lnSpc>
                      </a:pPr>
                      <a:r>
                        <a:rPr sz="1000" b="1" i="0">
                          <a:solidFill>
                            <a:srgbClr val="FFFFFF"/>
                          </a:solidFill>
                          <a:latin typeface="Arial"/>
                        </a:rPr>
                        <a:t>HC</a:t>
                      </a:r>
                    </a:p>
                  </a:txBody>
                  <a:tcPr marL="64008" marR="64008" marT="32004" marB="32004" anchor="ctr">
                    <a:solidFill>
                      <a:srgbClr val="2D2D2D"/>
                    </a:solidFill>
                  </a:tcPr>
                </a:tc>
                <a:tc>
                  <a:txBody>
                    <a:bodyPr wrap="square"/>
                    <a:lstStyle/>
                    <a:p>
                      <a:pPr algn="ctr">
                        <a:lnSpc>
                          <a:spcPct val="105000"/>
                        </a:lnSpc>
                      </a:pPr>
                      <a:r>
                        <a:rPr sz="1000" b="1" i="0">
                          <a:solidFill>
                            <a:srgbClr val="FFFFFF"/>
                          </a:solidFill>
                          <a:latin typeface="Arial"/>
                        </a:rPr>
                        <a:t>Routine</a:t>
                      </a:r>
                    </a:p>
                  </a:txBody>
                  <a:tcPr marL="64008" marR="64008" marT="32004" marB="32004" anchor="ctr">
                    <a:solidFill>
                      <a:srgbClr val="2D2D2D"/>
                    </a:solidFill>
                  </a:tcPr>
                </a:tc>
                <a:tc>
                  <a:txBody>
                    <a:bodyPr wrap="square"/>
                    <a:lstStyle/>
                    <a:p>
                      <a:pPr algn="ctr">
                        <a:lnSpc>
                          <a:spcPct val="105000"/>
                        </a:lnSpc>
                      </a:pPr>
                      <a:r>
                        <a:rPr sz="1000" b="1" i="0">
                          <a:solidFill>
                            <a:srgbClr val="FFFFFF"/>
                          </a:solidFill>
                          <a:latin typeface="Arial"/>
                        </a:rPr>
                        <a:t>Autom.</a:t>
                      </a:r>
                    </a:p>
                  </a:txBody>
                  <a:tcPr marL="64008" marR="64008" marT="32004" marB="32004" anchor="ctr">
                    <a:solidFill>
                      <a:srgbClr val="2D2D2D"/>
                    </a:solidFill>
                  </a:tcPr>
                </a:tc>
                <a:tc>
                  <a:txBody>
                    <a:bodyPr wrap="square"/>
                    <a:lstStyle/>
                    <a:p>
                      <a:pPr algn="ctr">
                        <a:lnSpc>
                          <a:spcPct val="105000"/>
                        </a:lnSpc>
                      </a:pPr>
                      <a:r>
                        <a:rPr sz="1000" b="1" i="0">
                          <a:solidFill>
                            <a:srgbClr val="FFFFFF"/>
                          </a:solidFill>
                          <a:latin typeface="Arial"/>
                        </a:rPr>
                        <a:t>Augm.</a:t>
                      </a:r>
                    </a:p>
                  </a:txBody>
                  <a:tcPr marL="64008" marR="64008" marT="32004" marB="32004" anchor="ctr">
                    <a:solidFill>
                      <a:srgbClr val="2D2D2D"/>
                    </a:solidFill>
                  </a:tcPr>
                </a:tc>
                <a:tc>
                  <a:txBody>
                    <a:bodyPr wrap="square"/>
                    <a:lstStyle/>
                    <a:p>
                      <a:pPr algn="ctr">
                        <a:lnSpc>
                          <a:spcPct val="105000"/>
                        </a:lnSpc>
                      </a:pPr>
                      <a:r>
                        <a:rPr sz="1000" b="1" i="0">
                          <a:solidFill>
                            <a:srgbClr val="FFFFFF"/>
                          </a:solidFill>
                          <a:latin typeface="Arial"/>
                        </a:rPr>
                        <a:t>Human</a:t>
                      </a:r>
                    </a:p>
                  </a:txBody>
                  <a:tcPr marL="64008" marR="64008" marT="32004" marB="32004" anchor="ctr">
                    <a:solidFill>
                      <a:srgbClr val="2D2D2D"/>
                    </a:solidFill>
                  </a:tcPr>
                </a:tc>
                <a:tc>
                  <a:txBody>
                    <a:bodyPr wrap="square"/>
                    <a:lstStyle/>
                    <a:p>
                      <a:pPr algn="ctr">
                        <a:lnSpc>
                          <a:spcPct val="105000"/>
                        </a:lnSpc>
                      </a:pPr>
                      <a:r>
                        <a:rPr sz="1000" b="1" i="0">
                          <a:solidFill>
                            <a:srgbClr val="FFFFFF"/>
                          </a:solidFill>
                          <a:latin typeface="Arial"/>
                        </a:rPr>
                        <a:t>FTE released</a:t>
                      </a:r>
                    </a:p>
                  </a:txBody>
                  <a:tcPr marL="64008" marR="64008" marT="32004" marB="32004" anchor="ctr">
                    <a:solidFill>
                      <a:srgbClr val="2D2D2D"/>
                    </a:solidFill>
                  </a:tcPr>
                </a:tc>
                <a:tc>
                  <a:txBody>
                    <a:bodyPr wrap="square"/>
                    <a:lstStyle/>
                    <a:p>
                      <a:pPr algn="ctr">
                        <a:lnSpc>
                          <a:spcPct val="105000"/>
                        </a:lnSpc>
                      </a:pPr>
                      <a:r>
                        <a:rPr sz="1000" b="1" i="0">
                          <a:solidFill>
                            <a:srgbClr val="FFFFFF"/>
                          </a:solidFill>
                          <a:latin typeface="Arial"/>
                        </a:rPr>
                        <a:t>Representative automatable activity</a:t>
                      </a:r>
                    </a:p>
                  </a:txBody>
                  <a:tcPr marL="64008" marR="64008" marT="32004" marB="32004" anchor="ctr">
                    <a:solidFill>
                      <a:srgbClr val="2D2D2D"/>
                    </a:solidFill>
                  </a:tcPr>
                </a:tc>
              </a:tr>
              <a:tr h="354330">
                <a:tc>
                  <a:txBody>
                    <a:bodyPr wrap="square"/>
                    <a:lstStyle/>
                    <a:p>
                      <a:pPr algn="l">
                        <a:lnSpc>
                          <a:spcPct val="105000"/>
                        </a:lnSpc>
                      </a:pPr>
                      <a:r>
                        <a:rPr sz="1000" b="1" i="0">
                          <a:solidFill>
                            <a:srgbClr val="2D2D2D"/>
                          </a:solidFill>
                          <a:latin typeface="Arial"/>
                        </a:rPr>
                        <a:t>Design &amp; Creative</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1,500</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30%</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12%</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43%</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45%</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180</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Trend report collation, competitor scanning</a:t>
                      </a:r>
                    </a:p>
                  </a:txBody>
                  <a:tcPr marL="64008" marR="64008" marT="32004" marB="32004" anchor="ctr">
                    <a:solidFill>
                      <a:srgbClr val="FFFFFF"/>
                    </a:solidFill>
                  </a:tcPr>
                </a:tc>
              </a:tr>
              <a:tr h="354330">
                <a:tc>
                  <a:txBody>
                    <a:bodyPr wrap="square"/>
                    <a:lstStyle/>
                    <a:p>
                      <a:pPr algn="l">
                        <a:lnSpc>
                          <a:spcPct val="105000"/>
                        </a:lnSpc>
                      </a:pPr>
                      <a:r>
                        <a:rPr sz="1000" b="1" i="0">
                          <a:solidFill>
                            <a:srgbClr val="2D2D2D"/>
                          </a:solidFill>
                          <a:latin typeface="Arial"/>
                        </a:rPr>
                        <a:t>Merchandising &amp; Planning</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1,200</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50%</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20%</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60%</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20%</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240</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Sales data pulls, spreadsheet consolidation</a:t>
                      </a:r>
                    </a:p>
                  </a:txBody>
                  <a:tcPr marL="64008" marR="64008" marT="32004" marB="32004" anchor="ctr">
                    <a:solidFill>
                      <a:srgbClr val="FAF8F7"/>
                    </a:solidFill>
                  </a:tcPr>
                </a:tc>
              </a:tr>
              <a:tr h="354330">
                <a:tc>
                  <a:txBody>
                    <a:bodyPr wrap="square"/>
                    <a:lstStyle/>
                    <a:p>
                      <a:pPr algn="l">
                        <a:lnSpc>
                          <a:spcPct val="105000"/>
                        </a:lnSpc>
                      </a:pPr>
                      <a:r>
                        <a:rPr sz="1000" b="1" i="0">
                          <a:solidFill>
                            <a:srgbClr val="2D2D2D"/>
                          </a:solidFill>
                          <a:latin typeface="Arial"/>
                        </a:rPr>
                        <a:t>Manufacturing &amp; Quality</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11,000</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60%</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24%</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66%</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10%</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2,640</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Routine inspection logging, shift reporting</a:t>
                      </a:r>
                    </a:p>
                  </a:txBody>
                  <a:tcPr marL="64008" marR="64008" marT="32004" marB="32004" anchor="ctr">
                    <a:solidFill>
                      <a:srgbClr val="FFFFFF"/>
                    </a:solidFill>
                  </a:tcPr>
                </a:tc>
              </a:tr>
              <a:tr h="354330">
                <a:tc>
                  <a:txBody>
                    <a:bodyPr wrap="square"/>
                    <a:lstStyle/>
                    <a:p>
                      <a:pPr algn="l">
                        <a:lnSpc>
                          <a:spcPct val="105000"/>
                        </a:lnSpc>
                      </a:pPr>
                      <a:r>
                        <a:rPr sz="1000" b="1" i="0">
                          <a:solidFill>
                            <a:srgbClr val="2D2D2D"/>
                          </a:solidFill>
                          <a:latin typeface="Arial"/>
                        </a:rPr>
                        <a:t>Retail Operations</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10,000</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55%</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22%</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58%</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20%</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2,200</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Stock look-ups, transfers, admin reporting</a:t>
                      </a:r>
                    </a:p>
                  </a:txBody>
                  <a:tcPr marL="64008" marR="64008" marT="32004" marB="32004" anchor="ctr">
                    <a:solidFill>
                      <a:srgbClr val="FAF8F7"/>
                    </a:solidFill>
                  </a:tcPr>
                </a:tc>
              </a:tr>
              <a:tr h="354330">
                <a:tc>
                  <a:txBody>
                    <a:bodyPr wrap="square"/>
                    <a:lstStyle/>
                    <a:p>
                      <a:pPr algn="l">
                        <a:lnSpc>
                          <a:spcPct val="105000"/>
                        </a:lnSpc>
                      </a:pPr>
                      <a:r>
                        <a:rPr sz="1000" b="1" i="0">
                          <a:solidFill>
                            <a:srgbClr val="2D2D2D"/>
                          </a:solidFill>
                          <a:latin typeface="Arial"/>
                        </a:rPr>
                        <a:t>Marketing &amp; CX</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2,500</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40%</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16%</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49%</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35%</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400</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Delivery/returns queries, segment builds</a:t>
                      </a:r>
                    </a:p>
                  </a:txBody>
                  <a:tcPr marL="64008" marR="64008" marT="32004" marB="32004" anchor="ctr">
                    <a:solidFill>
                      <a:srgbClr val="FFFFFF"/>
                    </a:solidFill>
                  </a:tcPr>
                </a:tc>
              </a:tr>
              <a:tr h="354330">
                <a:tc>
                  <a:txBody>
                    <a:bodyPr wrap="square"/>
                    <a:lstStyle/>
                    <a:p>
                      <a:pPr algn="l">
                        <a:lnSpc>
                          <a:spcPct val="105000"/>
                        </a:lnSpc>
                      </a:pPr>
                      <a:r>
                        <a:rPr sz="1000" b="1" i="0">
                          <a:solidFill>
                            <a:srgbClr val="2D2D2D"/>
                          </a:solidFill>
                          <a:latin typeface="Arial"/>
                        </a:rPr>
                        <a:t>Corporate</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1,800</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55%</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22%</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63%</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15%</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396</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Report preparation, data gathering</a:t>
                      </a:r>
                    </a:p>
                  </a:txBody>
                  <a:tcPr marL="64008" marR="64008" marT="32004" marB="32004" anchor="ctr">
                    <a:solidFill>
                      <a:srgbClr val="FAF8F7"/>
                    </a:solidFill>
                  </a:tcPr>
                </a:tc>
              </a:tr>
              <a:tr h="354330">
                <a:tc>
                  <a:txBody>
                    <a:bodyPr wrap="square"/>
                    <a:lstStyle/>
                    <a:p>
                      <a:pPr algn="l">
                        <a:lnSpc>
                          <a:spcPct val="105000"/>
                        </a:lnSpc>
                      </a:pPr>
                      <a:r>
                        <a:rPr sz="1000" b="1" i="0">
                          <a:solidFill>
                            <a:srgbClr val="2D2D2D"/>
                          </a:solidFill>
                          <a:latin typeface="Arial"/>
                        </a:rPr>
                        <a:t>Total / weighted</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28,000</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54.1%</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21.6%</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59.9%</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18.4%</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6,056</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a:t>
                      </a:r>
                    </a:p>
                  </a:txBody>
                  <a:tcPr marL="64008" marR="64008" marT="32004" marB="32004" anchor="ctr">
                    <a:solidFill>
                      <a:srgbClr val="FFFFFF"/>
                    </a:solidFill>
                  </a:tcPr>
                </a:tc>
              </a:tr>
            </a:tbl>
          </a:graphicData>
        </a:graphic>
      </p:graphicFrame>
      <p:sp>
        <p:nvSpPr>
          <p:cNvPr id="6" name="TextBox 5"/>
          <p:cNvSpPr txBox="1"/>
          <p:nvPr/>
        </p:nvSpPr>
        <p:spPr>
          <a:xfrm>
            <a:off x="457200" y="4407408"/>
            <a:ext cx="11274552" cy="914400"/>
          </a:xfrm>
          <a:prstGeom prst="rect">
            <a:avLst/>
          </a:prstGeom>
          <a:noFill/>
        </p:spPr>
        <p:txBody>
          <a:bodyPr wrap="square" anchor="t" lIns="0" rIns="0" tIns="0" bIns="0">
            <a:spAutoFit/>
          </a:bodyPr>
          <a:lstStyle/>
          <a:p>
            <a:pPr algn="l">
              <a:lnSpc>
                <a:spcPct val="120000"/>
              </a:lnSpc>
              <a:spcAft>
                <a:spcPts val="700"/>
              </a:spcAft>
            </a:pPr>
            <a:r>
              <a:rPr sz="1050" b="0" i="0">
                <a:solidFill>
                  <a:srgbClr val="2D2D2D"/>
                </a:solidFill>
                <a:latin typeface="Arial"/>
              </a:rPr>
              <a:t>Automatable = 40% × routine (case constraint). Augmentable = 60% × routine + all judgment work. Fundamentally Human = all creative/strategic work.</a:t>
            </a:r>
          </a:p>
          <a:p>
            <a:pPr algn="l">
              <a:lnSpc>
                <a:spcPct val="120000"/>
              </a:lnSpc>
              <a:spcAft>
                <a:spcPts val="700"/>
              </a:spcAft>
            </a:pPr>
            <a:r>
              <a:rPr sz="1050" b="0" i="0">
                <a:solidFill>
                  <a:srgbClr val="2D2D2D"/>
                </a:solidFill>
                <a:latin typeface="Arial"/>
              </a:rPr>
              <a:t>Note the weighted total row: the routine load of 54.1% differs from Exhibit 4's stated 48% because Exhibit 4 reports an unweighted mean across the six functions.</a:t>
            </a:r>
          </a:p>
        </p:txBody>
      </p:sp>
      <p:sp>
        <p:nvSpPr>
          <p:cNvPr id="7" name="Rectangle 6"/>
          <p:cNvSpPr/>
          <p:nvPr/>
        </p:nvSpPr>
        <p:spPr>
          <a:xfrm>
            <a:off x="457200" y="6336792"/>
            <a:ext cx="11274552" cy="10972"/>
          </a:xfrm>
          <a:prstGeom prst="rect">
            <a:avLst/>
          </a:prstGeom>
          <a:solidFill>
            <a:srgbClr val="C9C3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419088"/>
            <a:ext cx="9966960" cy="329184"/>
          </a:xfrm>
          <a:prstGeom prst="rect">
            <a:avLst/>
          </a:prstGeom>
          <a:noFill/>
        </p:spPr>
        <p:txBody>
          <a:bodyPr wrap="square" anchor="t" lIns="0" rIns="0" tIns="0" bIns="0">
            <a:spAutoFit/>
          </a:bodyPr>
          <a:lstStyle/>
          <a:p>
            <a:pPr algn="l">
              <a:lnSpc>
                <a:spcPct val="110000"/>
              </a:lnSpc>
              <a:spcAft>
                <a:spcPts val="0"/>
              </a:spcAft>
            </a:pPr>
            <a:r>
              <a:rPr sz="1000" b="0" i="0">
                <a:solidFill>
                  <a:srgbClr val="7D7D7D"/>
                </a:solidFill>
                <a:latin typeface="Arial"/>
              </a:rPr>
              <a:t>Derived from case Exhibits 3 and 4 via analysis/task_audit_model.py.</a:t>
            </a:r>
          </a:p>
        </p:txBody>
      </p:sp>
      <p:sp>
        <p:nvSpPr>
          <p:cNvPr id="9" name="TextBox 8"/>
          <p:cNvSpPr txBox="1"/>
          <p:nvPr/>
        </p:nvSpPr>
        <p:spPr>
          <a:xfrm>
            <a:off x="10515600" y="6419088"/>
            <a:ext cx="1216152" cy="219456"/>
          </a:xfrm>
          <a:prstGeom prst="rect">
            <a:avLst/>
          </a:prstGeom>
          <a:noFill/>
        </p:spPr>
        <p:txBody>
          <a:bodyPr wrap="square" anchor="t" lIns="0" rIns="0" tIns="0" bIns="0">
            <a:spAutoFit/>
          </a:bodyPr>
          <a:lstStyle/>
          <a:p>
            <a:pPr algn="r">
              <a:lnSpc>
                <a:spcPct val="100000"/>
              </a:lnSpc>
              <a:spcAft>
                <a:spcPts val="0"/>
              </a:spcAft>
            </a:pPr>
            <a:r>
              <a:rPr sz="1000" b="0" i="0">
                <a:solidFill>
                  <a:srgbClr val="7D7D7D"/>
                </a:solidFill>
                <a:latin typeface="Arial"/>
              </a:rPr>
              <a:t>A1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10896"/>
            <a:ext cx="457200" cy="50292"/>
          </a:xfrm>
          <a:prstGeom prst="rect">
            <a:avLst/>
          </a:prstGeom>
          <a:solidFill>
            <a:srgbClr val="7D7D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0624"/>
            <a:ext cx="10515600" cy="237744"/>
          </a:xfrm>
          <a:prstGeom prst="rect">
            <a:avLst/>
          </a:prstGeom>
          <a:noFill/>
        </p:spPr>
        <p:txBody>
          <a:bodyPr wrap="square" anchor="t" lIns="0" rIns="0" tIns="0" bIns="0">
            <a:spAutoFit/>
          </a:bodyPr>
          <a:lstStyle/>
          <a:p>
            <a:pPr algn="l">
              <a:lnSpc>
                <a:spcPct val="100000"/>
              </a:lnSpc>
              <a:spcAft>
                <a:spcPts val="0"/>
              </a:spcAft>
            </a:pPr>
            <a:r>
              <a:rPr sz="1000" b="1" i="0">
                <a:solidFill>
                  <a:srgbClr val="7D7D7D"/>
                </a:solidFill>
                <a:latin typeface="Arial"/>
              </a:rPr>
              <a:t>APPENDIX  |  A2</a:t>
            </a:r>
          </a:p>
        </p:txBody>
      </p:sp>
      <p:sp>
        <p:nvSpPr>
          <p:cNvPr id="4" name="TextBox 3"/>
          <p:cNvSpPr txBox="1"/>
          <p:nvPr/>
        </p:nvSpPr>
        <p:spPr>
          <a:xfrm>
            <a:off x="457200" y="676656"/>
            <a:ext cx="11338560" cy="566928"/>
          </a:xfrm>
          <a:prstGeom prst="rect">
            <a:avLst/>
          </a:prstGeom>
          <a:noFill/>
        </p:spPr>
        <p:txBody>
          <a:bodyPr wrap="square" anchor="t" lIns="0" rIns="0" tIns="0" bIns="0">
            <a:spAutoFit/>
          </a:bodyPr>
          <a:lstStyle/>
          <a:p>
            <a:pPr algn="l">
              <a:lnSpc>
                <a:spcPct val="105000"/>
              </a:lnSpc>
              <a:spcAft>
                <a:spcPts val="0"/>
              </a:spcAft>
            </a:pPr>
            <a:r>
              <a:rPr sz="2000" b="1" i="0">
                <a:solidFill>
                  <a:srgbClr val="2D2D2D"/>
                </a:solidFill>
                <a:latin typeface="Georgia"/>
              </a:rPr>
              <a:t>Prioritisation scoring — full workings</a:t>
            </a:r>
          </a:p>
        </p:txBody>
      </p:sp>
      <p:graphicFrame>
        <p:nvGraphicFramePr>
          <p:cNvPr id="5" name="Table 4"/>
          <p:cNvGraphicFramePr>
            <a:graphicFrameLocks noGrp="1"/>
          </p:cNvGraphicFramePr>
          <p:nvPr/>
        </p:nvGraphicFramePr>
        <p:xfrm>
          <a:off x="457200" y="1371600"/>
          <a:ext cx="11274548" cy="2377440"/>
        </p:xfrm>
        <a:graphic>
          <a:graphicData uri="http://schemas.openxmlformats.org/drawingml/2006/table">
            <a:tbl>
              <a:tblPr firstRow="0" bandRow="0">
                <a:tableStyleId>{5C22544A-7EE6-4342-B048-85BDC9FD1C3A}</a:tableStyleId>
              </a:tblPr>
              <a:tblGrid>
                <a:gridCol w="2312728"/>
                <a:gridCol w="1541819"/>
                <a:gridCol w="1445455"/>
                <a:gridCol w="1445455"/>
                <a:gridCol w="1638182"/>
                <a:gridCol w="1349091"/>
                <a:gridCol w="867273"/>
                <a:gridCol w="674545"/>
              </a:tblGrid>
              <a:tr h="339634">
                <a:tc>
                  <a:txBody>
                    <a:bodyPr wrap="square"/>
                    <a:lstStyle/>
                    <a:p>
                      <a:pPr algn="l">
                        <a:lnSpc>
                          <a:spcPct val="105000"/>
                        </a:lnSpc>
                      </a:pPr>
                      <a:r>
                        <a:rPr sz="1000" b="1" i="0">
                          <a:solidFill>
                            <a:srgbClr val="FFFFFF"/>
                          </a:solidFill>
                          <a:latin typeface="Arial"/>
                        </a:rPr>
                        <a:t>Function</a:t>
                      </a:r>
                    </a:p>
                  </a:txBody>
                  <a:tcPr marL="64008" marR="64008" marT="32004" marB="32004" anchor="ctr">
                    <a:solidFill>
                      <a:srgbClr val="2D2D2D"/>
                    </a:solidFill>
                  </a:tcPr>
                </a:tc>
                <a:tc>
                  <a:txBody>
                    <a:bodyPr wrap="square"/>
                    <a:lstStyle/>
                    <a:p>
                      <a:pPr algn="ctr">
                        <a:lnSpc>
                          <a:spcPct val="105000"/>
                        </a:lnSpc>
                      </a:pPr>
                      <a:r>
                        <a:rPr sz="1000" b="1" i="0">
                          <a:solidFill>
                            <a:srgbClr val="FFFFFF"/>
                          </a:solidFill>
                          <a:latin typeface="Arial"/>
                        </a:rPr>
                        <a:t>Business impact (25%)</a:t>
                      </a:r>
                    </a:p>
                  </a:txBody>
                  <a:tcPr marL="64008" marR="64008" marT="32004" marB="32004" anchor="ctr">
                    <a:solidFill>
                      <a:srgbClr val="2D2D2D"/>
                    </a:solidFill>
                  </a:tcPr>
                </a:tc>
                <a:tc>
                  <a:txBody>
                    <a:bodyPr wrap="square"/>
                    <a:lstStyle/>
                    <a:p>
                      <a:pPr algn="ctr">
                        <a:lnSpc>
                          <a:spcPct val="105000"/>
                        </a:lnSpc>
                      </a:pPr>
                      <a:r>
                        <a:rPr sz="1000" b="1" i="0">
                          <a:solidFill>
                            <a:srgbClr val="FFFFFF"/>
                          </a:solidFill>
                          <a:latin typeface="Arial"/>
                        </a:rPr>
                        <a:t>Customer value (20%)</a:t>
                      </a:r>
                    </a:p>
                  </a:txBody>
                  <a:tcPr marL="64008" marR="64008" marT="32004" marB="32004" anchor="ctr">
                    <a:solidFill>
                      <a:srgbClr val="2D2D2D"/>
                    </a:solidFill>
                  </a:tcPr>
                </a:tc>
                <a:tc>
                  <a:txBody>
                    <a:bodyPr wrap="square"/>
                    <a:lstStyle/>
                    <a:p>
                      <a:pPr algn="ctr">
                        <a:lnSpc>
                          <a:spcPct val="105000"/>
                        </a:lnSpc>
                      </a:pPr>
                      <a:r>
                        <a:rPr sz="1000" b="1" i="0">
                          <a:solidFill>
                            <a:srgbClr val="FFFFFF"/>
                          </a:solidFill>
                          <a:latin typeface="Arial"/>
                        </a:rPr>
                        <a:t>Workforce scale (15%)</a:t>
                      </a:r>
                    </a:p>
                  </a:txBody>
                  <a:tcPr marL="64008" marR="64008" marT="32004" marB="32004" anchor="ctr">
                    <a:solidFill>
                      <a:srgbClr val="2D2D2D"/>
                    </a:solidFill>
                  </a:tcPr>
                </a:tc>
                <a:tc>
                  <a:txBody>
                    <a:bodyPr wrap="square"/>
                    <a:lstStyle/>
                    <a:p>
                      <a:pPr algn="ctr">
                        <a:lnSpc>
                          <a:spcPct val="105000"/>
                        </a:lnSpc>
                      </a:pPr>
                      <a:r>
                        <a:rPr sz="1000" b="1" i="0">
                          <a:solidFill>
                            <a:srgbClr val="FFFFFF"/>
                          </a:solidFill>
                          <a:latin typeface="Arial"/>
                        </a:rPr>
                        <a:t>Automation potential (20%)</a:t>
                      </a:r>
                    </a:p>
                  </a:txBody>
                  <a:tcPr marL="64008" marR="64008" marT="32004" marB="32004" anchor="ctr">
                    <a:solidFill>
                      <a:srgbClr val="2D2D2D"/>
                    </a:solidFill>
                  </a:tcPr>
                </a:tc>
                <a:tc>
                  <a:txBody>
                    <a:bodyPr wrap="square"/>
                    <a:lstStyle/>
                    <a:p>
                      <a:pPr algn="ctr">
                        <a:lnSpc>
                          <a:spcPct val="105000"/>
                        </a:lnSpc>
                      </a:pPr>
                      <a:r>
                        <a:rPr sz="1000" b="1" i="0">
                          <a:solidFill>
                            <a:srgbClr val="FFFFFF"/>
                          </a:solidFill>
                          <a:latin typeface="Arial"/>
                        </a:rPr>
                        <a:t>Feasibility (20%)</a:t>
                      </a:r>
                    </a:p>
                  </a:txBody>
                  <a:tcPr marL="64008" marR="64008" marT="32004" marB="32004" anchor="ctr">
                    <a:solidFill>
                      <a:srgbClr val="2D2D2D"/>
                    </a:solidFill>
                  </a:tcPr>
                </a:tc>
                <a:tc>
                  <a:txBody>
                    <a:bodyPr wrap="square"/>
                    <a:lstStyle/>
                    <a:p>
                      <a:pPr algn="ctr">
                        <a:lnSpc>
                          <a:spcPct val="105000"/>
                        </a:lnSpc>
                      </a:pPr>
                      <a:r>
                        <a:rPr sz="1000" b="1" i="0">
                          <a:solidFill>
                            <a:srgbClr val="FFFFFF"/>
                          </a:solidFill>
                          <a:latin typeface="Arial"/>
                        </a:rPr>
                        <a:t>Score</a:t>
                      </a:r>
                    </a:p>
                  </a:txBody>
                  <a:tcPr marL="64008" marR="64008" marT="32004" marB="32004" anchor="ctr">
                    <a:solidFill>
                      <a:srgbClr val="2D2D2D"/>
                    </a:solidFill>
                  </a:tcPr>
                </a:tc>
                <a:tc>
                  <a:txBody>
                    <a:bodyPr wrap="square"/>
                    <a:lstStyle/>
                    <a:p>
                      <a:pPr algn="ctr">
                        <a:lnSpc>
                          <a:spcPct val="105000"/>
                        </a:lnSpc>
                      </a:pPr>
                      <a:r>
                        <a:rPr sz="1000" b="1" i="0">
                          <a:solidFill>
                            <a:srgbClr val="FFFFFF"/>
                          </a:solidFill>
                          <a:latin typeface="Arial"/>
                        </a:rPr>
                        <a:t>Rank</a:t>
                      </a:r>
                    </a:p>
                  </a:txBody>
                  <a:tcPr marL="64008" marR="64008" marT="32004" marB="32004" anchor="ctr">
                    <a:solidFill>
                      <a:srgbClr val="2D2D2D"/>
                    </a:solidFill>
                  </a:tcPr>
                </a:tc>
              </a:tr>
              <a:tr h="339634">
                <a:tc>
                  <a:txBody>
                    <a:bodyPr wrap="square"/>
                    <a:lstStyle/>
                    <a:p>
                      <a:pPr algn="l">
                        <a:lnSpc>
                          <a:spcPct val="105000"/>
                        </a:lnSpc>
                      </a:pPr>
                      <a:r>
                        <a:rPr sz="1000" b="1" i="0">
                          <a:solidFill>
                            <a:srgbClr val="2D2D2D"/>
                          </a:solidFill>
                          <a:latin typeface="Arial"/>
                        </a:rPr>
                        <a:t>Marketing &amp; CX</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4</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5</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3</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3</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5</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4.05</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1</a:t>
                      </a:r>
                    </a:p>
                  </a:txBody>
                  <a:tcPr marL="64008" marR="64008" marT="32004" marB="32004" anchor="ctr">
                    <a:solidFill>
                      <a:srgbClr val="FFFFFF"/>
                    </a:solidFill>
                  </a:tcPr>
                </a:tc>
              </a:tr>
              <a:tr h="339634">
                <a:tc>
                  <a:txBody>
                    <a:bodyPr wrap="square"/>
                    <a:lstStyle/>
                    <a:p>
                      <a:pPr algn="l">
                        <a:lnSpc>
                          <a:spcPct val="105000"/>
                        </a:lnSpc>
                      </a:pPr>
                      <a:r>
                        <a:rPr sz="1000" b="1" i="0">
                          <a:solidFill>
                            <a:srgbClr val="2D2D2D"/>
                          </a:solidFill>
                          <a:latin typeface="Arial"/>
                        </a:rPr>
                        <a:t>Retail Operations</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4</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5</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5</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4</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2</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3.95</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2</a:t>
                      </a:r>
                    </a:p>
                  </a:txBody>
                  <a:tcPr marL="64008" marR="64008" marT="32004" marB="32004" anchor="ctr">
                    <a:solidFill>
                      <a:srgbClr val="FAF8F7"/>
                    </a:solidFill>
                  </a:tcPr>
                </a:tc>
              </a:tr>
              <a:tr h="339634">
                <a:tc>
                  <a:txBody>
                    <a:bodyPr wrap="square"/>
                    <a:lstStyle/>
                    <a:p>
                      <a:pPr algn="l">
                        <a:lnSpc>
                          <a:spcPct val="105000"/>
                        </a:lnSpc>
                      </a:pPr>
                      <a:r>
                        <a:rPr sz="1000" b="1" i="0">
                          <a:solidFill>
                            <a:srgbClr val="2D2D2D"/>
                          </a:solidFill>
                          <a:latin typeface="Arial"/>
                        </a:rPr>
                        <a:t>Merchandising &amp; Planning</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5</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3</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2</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4</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3</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3.55</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3</a:t>
                      </a:r>
                    </a:p>
                  </a:txBody>
                  <a:tcPr marL="64008" marR="64008" marT="32004" marB="32004" anchor="ctr">
                    <a:solidFill>
                      <a:srgbClr val="FFFFFF"/>
                    </a:solidFill>
                  </a:tcPr>
                </a:tc>
              </a:tr>
              <a:tr h="339634">
                <a:tc>
                  <a:txBody>
                    <a:bodyPr wrap="square"/>
                    <a:lstStyle/>
                    <a:p>
                      <a:pPr algn="l">
                        <a:lnSpc>
                          <a:spcPct val="105000"/>
                        </a:lnSpc>
                      </a:pPr>
                      <a:r>
                        <a:rPr sz="1000" b="1" i="0">
                          <a:solidFill>
                            <a:srgbClr val="2D2D2D"/>
                          </a:solidFill>
                          <a:latin typeface="Arial"/>
                        </a:rPr>
                        <a:t>Manufacturing &amp; Quality</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3</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2</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5</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5</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1</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3.10</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4</a:t>
                      </a:r>
                    </a:p>
                  </a:txBody>
                  <a:tcPr marL="64008" marR="64008" marT="32004" marB="32004" anchor="ctr">
                    <a:solidFill>
                      <a:srgbClr val="FAF8F7"/>
                    </a:solidFill>
                  </a:tcPr>
                </a:tc>
              </a:tr>
              <a:tr h="339634">
                <a:tc>
                  <a:txBody>
                    <a:bodyPr wrap="square"/>
                    <a:lstStyle/>
                    <a:p>
                      <a:pPr algn="l">
                        <a:lnSpc>
                          <a:spcPct val="105000"/>
                        </a:lnSpc>
                      </a:pPr>
                      <a:r>
                        <a:rPr sz="1000" b="1" i="0">
                          <a:solidFill>
                            <a:srgbClr val="2D2D2D"/>
                          </a:solidFill>
                          <a:latin typeface="Arial"/>
                        </a:rPr>
                        <a:t>Design &amp; Creative</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3</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3</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2</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2</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5</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3.05</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5</a:t>
                      </a:r>
                    </a:p>
                  </a:txBody>
                  <a:tcPr marL="64008" marR="64008" marT="32004" marB="32004" anchor="ctr">
                    <a:solidFill>
                      <a:srgbClr val="FFFFFF"/>
                    </a:solidFill>
                  </a:tcPr>
                </a:tc>
              </a:tr>
              <a:tr h="339636">
                <a:tc>
                  <a:txBody>
                    <a:bodyPr wrap="square"/>
                    <a:lstStyle/>
                    <a:p>
                      <a:pPr algn="l">
                        <a:lnSpc>
                          <a:spcPct val="105000"/>
                        </a:lnSpc>
                      </a:pPr>
                      <a:r>
                        <a:rPr sz="1000" b="1" i="0">
                          <a:solidFill>
                            <a:srgbClr val="2D2D2D"/>
                          </a:solidFill>
                          <a:latin typeface="Arial"/>
                        </a:rPr>
                        <a:t>Corporate</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2</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1</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2</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4</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5</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2.80</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6</a:t>
                      </a:r>
                    </a:p>
                  </a:txBody>
                  <a:tcPr marL="64008" marR="64008" marT="32004" marB="32004" anchor="ctr">
                    <a:solidFill>
                      <a:srgbClr val="FAF8F7"/>
                    </a:solidFill>
                  </a:tcPr>
                </a:tc>
              </a:tr>
            </a:tbl>
          </a:graphicData>
        </a:graphic>
      </p:graphicFrame>
      <p:sp>
        <p:nvSpPr>
          <p:cNvPr id="6" name="TextBox 5"/>
          <p:cNvSpPr txBox="1"/>
          <p:nvPr/>
        </p:nvSpPr>
        <p:spPr>
          <a:xfrm>
            <a:off x="457200" y="3950208"/>
            <a:ext cx="11274552" cy="1371600"/>
          </a:xfrm>
          <a:prstGeom prst="rect">
            <a:avLst/>
          </a:prstGeom>
          <a:noFill/>
        </p:spPr>
        <p:txBody>
          <a:bodyPr wrap="square" anchor="t" lIns="0" rIns="0" tIns="0" bIns="0">
            <a:spAutoFit/>
          </a:bodyPr>
          <a:lstStyle/>
          <a:p>
            <a:pPr algn="l">
              <a:lnSpc>
                <a:spcPct val="120000"/>
              </a:lnSpc>
              <a:spcAft>
                <a:spcPts val="800"/>
              </a:spcAft>
            </a:pPr>
            <a:r>
              <a:rPr sz="1050" b="1" i="0">
                <a:solidFill>
                  <a:srgbClr val="2D2D2D"/>
                </a:solidFill>
                <a:latin typeface="Arial"/>
              </a:rPr>
              <a:t>Scoring basis (1–5). </a:t>
            </a:r>
            <a:r>
              <a:rPr sz="1050" b="0" i="0">
                <a:solidFill>
                  <a:srgbClr val="2D2D2D"/>
                </a:solidFill>
                <a:latin typeface="Arial"/>
              </a:rPr>
              <a:t>Business impact — size of the addressable P&amp;L pool. Customer value — effect on NPS, returns and resolution time. Workforce scale — headcount affected. Automation potential — automatable share × headcount. Feasibility — adoption readiness index from Exhibit 5.</a:t>
            </a:r>
          </a:p>
          <a:p>
            <a:pPr algn="l">
              <a:lnSpc>
                <a:spcPct val="120000"/>
              </a:lnSpc>
              <a:spcAft>
                <a:spcPts val="800"/>
              </a:spcAft>
            </a:pPr>
            <a:r>
              <a:rPr sz="1050" b="0" i="0">
                <a:solidFill>
                  <a:srgbClr val="2D2D2D"/>
                </a:solidFill>
                <a:latin typeface="Arial"/>
              </a:rPr>
              <a:t>Readiness index = mean(awareness, willingness, digital skill) − 0.5 × (fear − 2.0). Fear is weighted at 0.5 so it moderates rather than dominates: Design 3.83, Marketing 3.68, Corporate 3.63, Merchandising 2.73, Retail 1.35, Manufacturing 0.98.</a:t>
            </a:r>
          </a:p>
        </p:txBody>
      </p:sp>
      <p:sp>
        <p:nvSpPr>
          <p:cNvPr id="7" name="Rectangle 6"/>
          <p:cNvSpPr/>
          <p:nvPr/>
        </p:nvSpPr>
        <p:spPr>
          <a:xfrm>
            <a:off x="457200" y="6336792"/>
            <a:ext cx="11274552" cy="10972"/>
          </a:xfrm>
          <a:prstGeom prst="rect">
            <a:avLst/>
          </a:prstGeom>
          <a:solidFill>
            <a:srgbClr val="C9C3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419088"/>
            <a:ext cx="9966960" cy="329184"/>
          </a:xfrm>
          <a:prstGeom prst="rect">
            <a:avLst/>
          </a:prstGeom>
          <a:noFill/>
        </p:spPr>
        <p:txBody>
          <a:bodyPr wrap="square" anchor="t" lIns="0" rIns="0" tIns="0" bIns="0">
            <a:spAutoFit/>
          </a:bodyPr>
          <a:lstStyle/>
          <a:p>
            <a:pPr algn="l">
              <a:lnSpc>
                <a:spcPct val="110000"/>
              </a:lnSpc>
              <a:spcAft>
                <a:spcPts val="0"/>
              </a:spcAft>
            </a:pPr>
            <a:r>
              <a:rPr sz="1000" b="0" i="0">
                <a:solidFill>
                  <a:srgbClr val="7D7D7D"/>
                </a:solidFill>
                <a:latin typeface="Arial"/>
              </a:rPr>
              <a:t>Weights sum to 100%. Sensitivity: Retail overtakes Marketing for rank 1 if feasibility is weighted below 12%; the Phase-1 set of three is unchanged across all tested weightings.</a:t>
            </a:r>
          </a:p>
        </p:txBody>
      </p:sp>
      <p:sp>
        <p:nvSpPr>
          <p:cNvPr id="9" name="TextBox 8"/>
          <p:cNvSpPr txBox="1"/>
          <p:nvPr/>
        </p:nvSpPr>
        <p:spPr>
          <a:xfrm>
            <a:off x="10515600" y="6419088"/>
            <a:ext cx="1216152" cy="219456"/>
          </a:xfrm>
          <a:prstGeom prst="rect">
            <a:avLst/>
          </a:prstGeom>
          <a:noFill/>
        </p:spPr>
        <p:txBody>
          <a:bodyPr wrap="square" anchor="t" lIns="0" rIns="0" tIns="0" bIns="0">
            <a:spAutoFit/>
          </a:bodyPr>
          <a:lstStyle/>
          <a:p>
            <a:pPr algn="r">
              <a:lnSpc>
                <a:spcPct val="100000"/>
              </a:lnSpc>
              <a:spcAft>
                <a:spcPts val="0"/>
              </a:spcAft>
            </a:pPr>
            <a:r>
              <a:rPr sz="1000" b="0" i="0">
                <a:solidFill>
                  <a:srgbClr val="7D7D7D"/>
                </a:solidFill>
                <a:latin typeface="Arial"/>
              </a:rPr>
              <a:t>A2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10896"/>
            <a:ext cx="457200" cy="50292"/>
          </a:xfrm>
          <a:prstGeom prst="rect">
            <a:avLst/>
          </a:prstGeom>
          <a:solidFill>
            <a:srgbClr val="7D7D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0624"/>
            <a:ext cx="10515600" cy="237744"/>
          </a:xfrm>
          <a:prstGeom prst="rect">
            <a:avLst/>
          </a:prstGeom>
          <a:noFill/>
        </p:spPr>
        <p:txBody>
          <a:bodyPr wrap="square" anchor="t" lIns="0" rIns="0" tIns="0" bIns="0">
            <a:spAutoFit/>
          </a:bodyPr>
          <a:lstStyle/>
          <a:p>
            <a:pPr algn="l">
              <a:lnSpc>
                <a:spcPct val="100000"/>
              </a:lnSpc>
              <a:spcAft>
                <a:spcPts val="0"/>
              </a:spcAft>
            </a:pPr>
            <a:r>
              <a:rPr sz="1000" b="1" i="0">
                <a:solidFill>
                  <a:srgbClr val="7D7D7D"/>
                </a:solidFill>
                <a:latin typeface="Arial"/>
              </a:rPr>
              <a:t>APPENDIX  |  A3</a:t>
            </a:r>
          </a:p>
        </p:txBody>
      </p:sp>
      <p:sp>
        <p:nvSpPr>
          <p:cNvPr id="4" name="TextBox 3"/>
          <p:cNvSpPr txBox="1"/>
          <p:nvPr/>
        </p:nvSpPr>
        <p:spPr>
          <a:xfrm>
            <a:off x="457200" y="676656"/>
            <a:ext cx="11338560" cy="566928"/>
          </a:xfrm>
          <a:prstGeom prst="rect">
            <a:avLst/>
          </a:prstGeom>
          <a:noFill/>
        </p:spPr>
        <p:txBody>
          <a:bodyPr wrap="square" anchor="t" lIns="0" rIns="0" tIns="0" bIns="0">
            <a:spAutoFit/>
          </a:bodyPr>
          <a:lstStyle/>
          <a:p>
            <a:pPr algn="l">
              <a:lnSpc>
                <a:spcPct val="105000"/>
              </a:lnSpc>
              <a:spcAft>
                <a:spcPts val="0"/>
              </a:spcAft>
            </a:pPr>
            <a:r>
              <a:rPr sz="2000" b="1" i="0">
                <a:solidFill>
                  <a:srgbClr val="2D2D2D"/>
                </a:solidFill>
                <a:latin typeface="Georgia"/>
              </a:rPr>
              <a:t>Value bridge — assumptions and calculations</a:t>
            </a:r>
          </a:p>
        </p:txBody>
      </p:sp>
      <p:graphicFrame>
        <p:nvGraphicFramePr>
          <p:cNvPr id="5" name="Table 4"/>
          <p:cNvGraphicFramePr>
            <a:graphicFrameLocks noGrp="1"/>
          </p:cNvGraphicFramePr>
          <p:nvPr/>
        </p:nvGraphicFramePr>
        <p:xfrm>
          <a:off x="457200" y="1371600"/>
          <a:ext cx="11274551" cy="2148840"/>
        </p:xfrm>
        <a:graphic>
          <a:graphicData uri="http://schemas.openxmlformats.org/drawingml/2006/table">
            <a:tbl>
              <a:tblPr firstRow="0" bandRow="0">
                <a:tableStyleId>{5C22544A-7EE6-4342-B048-85BDC9FD1C3A}</a:tableStyleId>
              </a:tblPr>
              <a:tblGrid>
                <a:gridCol w="2286000"/>
                <a:gridCol w="7589520"/>
                <a:gridCol w="1399031"/>
              </a:tblGrid>
              <a:tr h="358140">
                <a:tc>
                  <a:txBody>
                    <a:bodyPr wrap="square"/>
                    <a:lstStyle/>
                    <a:p>
                      <a:pPr algn="l">
                        <a:lnSpc>
                          <a:spcPct val="105000"/>
                        </a:lnSpc>
                      </a:pPr>
                      <a:r>
                        <a:rPr sz="1000" b="1" i="0">
                          <a:solidFill>
                            <a:srgbClr val="FFFFFF"/>
                          </a:solidFill>
                          <a:latin typeface="Arial"/>
                        </a:rPr>
                        <a:t>Lever</a:t>
                      </a:r>
                    </a:p>
                  </a:txBody>
                  <a:tcPr marL="64008" marR="64008" marT="32004" marB="32004" anchor="ctr">
                    <a:solidFill>
                      <a:srgbClr val="2D2D2D"/>
                    </a:solidFill>
                  </a:tcPr>
                </a:tc>
                <a:tc>
                  <a:txBody>
                    <a:bodyPr wrap="square"/>
                    <a:lstStyle/>
                    <a:p>
                      <a:pPr algn="ctr">
                        <a:lnSpc>
                          <a:spcPct val="105000"/>
                        </a:lnSpc>
                      </a:pPr>
                      <a:r>
                        <a:rPr sz="1000" b="1" i="0">
                          <a:solidFill>
                            <a:srgbClr val="FFFFFF"/>
                          </a:solidFill>
                          <a:latin typeface="Arial"/>
                        </a:rPr>
                        <a:t>Calculation</a:t>
                      </a:r>
                    </a:p>
                  </a:txBody>
                  <a:tcPr marL="64008" marR="64008" marT="32004" marB="32004" anchor="ctr">
                    <a:solidFill>
                      <a:srgbClr val="2D2D2D"/>
                    </a:solidFill>
                  </a:tcPr>
                </a:tc>
                <a:tc>
                  <a:txBody>
                    <a:bodyPr wrap="square"/>
                    <a:lstStyle/>
                    <a:p>
                      <a:pPr algn="ctr">
                        <a:lnSpc>
                          <a:spcPct val="105000"/>
                        </a:lnSpc>
                      </a:pPr>
                      <a:r>
                        <a:rPr sz="1000" b="1" i="0">
                          <a:solidFill>
                            <a:srgbClr val="FFFFFF"/>
                          </a:solidFill>
                          <a:latin typeface="Arial"/>
                        </a:rPr>
                        <a:t>Value (₹ Cr)</a:t>
                      </a:r>
                    </a:p>
                  </a:txBody>
                  <a:tcPr marL="64008" marR="64008" marT="32004" marB="32004" anchor="ctr">
                    <a:solidFill>
                      <a:srgbClr val="2D2D2D"/>
                    </a:solidFill>
                  </a:tcPr>
                </a:tc>
              </a:tr>
              <a:tr h="358140">
                <a:tc>
                  <a:txBody>
                    <a:bodyPr wrap="square"/>
                    <a:lstStyle/>
                    <a:p>
                      <a:pPr algn="l">
                        <a:lnSpc>
                          <a:spcPct val="105000"/>
                        </a:lnSpc>
                      </a:pPr>
                      <a:r>
                        <a:rPr sz="1000" b="1" i="0">
                          <a:solidFill>
                            <a:srgbClr val="2D2D2D"/>
                          </a:solidFill>
                          <a:latin typeface="Arial"/>
                        </a:rPr>
                        <a:t>Markdown reduction</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₹380 Cr pool × 35% pass-through. Forecast accuracy 62% → 78% implies error 38% → 22%, a 42% relative reduction; 35% applied conservatively.</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133</a:t>
                      </a:r>
                    </a:p>
                  </a:txBody>
                  <a:tcPr marL="64008" marR="64008" marT="32004" marB="32004" anchor="ctr">
                    <a:solidFill>
                      <a:srgbClr val="FFFFFF"/>
                    </a:solidFill>
                  </a:tcPr>
                </a:tc>
              </a:tr>
              <a:tr h="358140">
                <a:tc>
                  <a:txBody>
                    <a:bodyPr wrap="square"/>
                    <a:lstStyle/>
                    <a:p>
                      <a:pPr algn="l">
                        <a:lnSpc>
                          <a:spcPct val="105000"/>
                        </a:lnSpc>
                      </a:pPr>
                      <a:r>
                        <a:rPr sz="1000" b="1" i="0">
                          <a:solidFill>
                            <a:srgbClr val="2D2D2D"/>
                          </a:solidFill>
                          <a:latin typeface="Arial"/>
                        </a:rPr>
                        <a:t>Return-rate reduction</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SpeedStyle 28% → 22%, UrbanEdge 15% → 13%, ThreadBasics 18% → 16% on brand revenue; cost of a return assumed at 25% of item value.</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40</a:t>
                      </a:r>
                    </a:p>
                  </a:txBody>
                  <a:tcPr marL="64008" marR="64008" marT="32004" marB="32004" anchor="ctr">
                    <a:solidFill>
                      <a:srgbClr val="FAF8F7"/>
                    </a:solidFill>
                  </a:tcPr>
                </a:tc>
              </a:tr>
              <a:tr h="358140">
                <a:tc>
                  <a:txBody>
                    <a:bodyPr wrap="square"/>
                    <a:lstStyle/>
                    <a:p>
                      <a:pPr algn="l">
                        <a:lnSpc>
                          <a:spcPct val="105000"/>
                        </a:lnSpc>
                      </a:pPr>
                      <a:r>
                        <a:rPr sz="1000" b="1" i="0">
                          <a:solidFill>
                            <a:srgbClr val="2D2D2D"/>
                          </a:solidFill>
                          <a:latin typeface="Arial"/>
                        </a:rPr>
                        <a:t>Attrition cost avoided</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Organisation attrition 31% → 25% on 28,000 employees × ₹1.2 L blended replacement cost.</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20</a:t>
                      </a:r>
                    </a:p>
                  </a:txBody>
                  <a:tcPr marL="64008" marR="64008" marT="32004" marB="32004" anchor="ctr">
                    <a:solidFill>
                      <a:srgbClr val="FFFFFF"/>
                    </a:solidFill>
                  </a:tcPr>
                </a:tc>
              </a:tr>
              <a:tr h="358140">
                <a:tc>
                  <a:txBody>
                    <a:bodyPr wrap="square"/>
                    <a:lstStyle/>
                    <a:p>
                      <a:pPr algn="l">
                        <a:lnSpc>
                          <a:spcPct val="105000"/>
                        </a:lnSpc>
                      </a:pPr>
                      <a:r>
                        <a:rPr sz="1000" b="1" i="0">
                          <a:solidFill>
                            <a:srgbClr val="2D2D2D"/>
                          </a:solidFill>
                          <a:latin typeface="Arial"/>
                        </a:rPr>
                        <a:t>AI-attributed revenue</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5pp of the 15% growth target attributed to AI-enabled speed and personalisation, valued at the 42% gross margin.</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118</a:t>
                      </a:r>
                    </a:p>
                  </a:txBody>
                  <a:tcPr marL="64008" marR="64008" marT="32004" marB="32004" anchor="ctr">
                    <a:solidFill>
                      <a:srgbClr val="FAF8F7"/>
                    </a:solidFill>
                  </a:tcPr>
                </a:tc>
              </a:tr>
              <a:tr h="358140">
                <a:tc>
                  <a:txBody>
                    <a:bodyPr wrap="square"/>
                    <a:lstStyle/>
                    <a:p>
                      <a:pPr algn="l">
                        <a:lnSpc>
                          <a:spcPct val="105000"/>
                        </a:lnSpc>
                      </a:pPr>
                      <a:r>
                        <a:rPr sz="1000" b="1" i="0">
                          <a:solidFill>
                            <a:srgbClr val="2D2D2D"/>
                          </a:solidFill>
                          <a:latin typeface="Arial"/>
                        </a:rPr>
                        <a:t>Total annual run-rate</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Against a ₹200 Cr one-time FY25 investment</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311</a:t>
                      </a:r>
                    </a:p>
                  </a:txBody>
                  <a:tcPr marL="64008" marR="64008" marT="32004" marB="32004" anchor="ctr">
                    <a:solidFill>
                      <a:srgbClr val="FFFFFF"/>
                    </a:solidFill>
                  </a:tcPr>
                </a:tc>
              </a:tr>
            </a:tbl>
          </a:graphicData>
        </a:graphic>
      </p:graphicFrame>
      <p:sp>
        <p:nvSpPr>
          <p:cNvPr id="6" name="TextBox 5"/>
          <p:cNvSpPr txBox="1"/>
          <p:nvPr/>
        </p:nvSpPr>
        <p:spPr>
          <a:xfrm>
            <a:off x="457200" y="3721608"/>
            <a:ext cx="11274552" cy="1554480"/>
          </a:xfrm>
          <a:prstGeom prst="rect">
            <a:avLst/>
          </a:prstGeom>
          <a:noFill/>
        </p:spPr>
        <p:txBody>
          <a:bodyPr wrap="square" anchor="t" lIns="0" rIns="0" tIns="0" bIns="0">
            <a:spAutoFit/>
          </a:bodyPr>
          <a:lstStyle/>
          <a:p>
            <a:pPr algn="l">
              <a:lnSpc>
                <a:spcPct val="120000"/>
              </a:lnSpc>
              <a:spcAft>
                <a:spcPts val="800"/>
              </a:spcAft>
            </a:pPr>
            <a:r>
              <a:rPr sz="1050" b="0" i="0">
                <a:solidFill>
                  <a:srgbClr val="2D2D2D"/>
                </a:solidFill>
                <a:latin typeface="Arial"/>
              </a:rPr>
              <a:t>FY24 EBITDA works out to ₹5,600 Cr × 9.5% = ₹532 Cr. Add the ₹311 Cr and you get ₹843 Cr. Against FY26 revenue of ₹6,440 Cr (15% growth), that's a 13.1% margin.</a:t>
            </a:r>
          </a:p>
          <a:p>
            <a:pPr algn="l">
              <a:lnSpc>
                <a:spcPct val="120000"/>
              </a:lnSpc>
              <a:spcAft>
                <a:spcPts val="800"/>
              </a:spcAft>
            </a:pPr>
            <a:r>
              <a:rPr sz="1050" b="1" i="0">
                <a:solidFill>
                  <a:srgbClr val="2D2D2D"/>
                </a:solidFill>
                <a:latin typeface="Arial"/>
              </a:rPr>
              <a:t>One limitation worth stating plainly: </a:t>
            </a:r>
            <a:r>
              <a:rPr sz="1050" b="0" i="0">
                <a:solidFill>
                  <a:srgbClr val="2D2D2D"/>
                </a:solidFill>
                <a:latin typeface="Arial"/>
              </a:rPr>
              <a:t>these are directional planning estimates built only from the case exhibits, not audited figures. And under Zero-Layoff, no labour-cost saving is claimed anywhere in this bridge — the 6,056 FTE-equivalents released are redeployed, so their value shows up only through the business outcomes above.</a:t>
            </a:r>
          </a:p>
        </p:txBody>
      </p:sp>
      <p:sp>
        <p:nvSpPr>
          <p:cNvPr id="7" name="Rectangle 6"/>
          <p:cNvSpPr/>
          <p:nvPr/>
        </p:nvSpPr>
        <p:spPr>
          <a:xfrm>
            <a:off x="457200" y="6336792"/>
            <a:ext cx="11274552" cy="10972"/>
          </a:xfrm>
          <a:prstGeom prst="rect">
            <a:avLst/>
          </a:prstGeom>
          <a:solidFill>
            <a:srgbClr val="C9C3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419088"/>
            <a:ext cx="9966960" cy="329184"/>
          </a:xfrm>
          <a:prstGeom prst="rect">
            <a:avLst/>
          </a:prstGeom>
          <a:noFill/>
        </p:spPr>
        <p:txBody>
          <a:bodyPr wrap="square" anchor="t" lIns="0" rIns="0" tIns="0" bIns="0">
            <a:spAutoFit/>
          </a:bodyPr>
          <a:lstStyle/>
          <a:p>
            <a:pPr algn="l">
              <a:lnSpc>
                <a:spcPct val="110000"/>
              </a:lnSpc>
              <a:spcAft>
                <a:spcPts val="0"/>
              </a:spcAft>
            </a:pPr>
            <a:r>
              <a:rPr sz="1000" b="0" i="0">
                <a:solidFill>
                  <a:srgbClr val="7D7D7D"/>
                </a:solidFill>
                <a:latin typeface="Arial"/>
              </a:rPr>
              <a:t>All calculations reproducible via analysis/task_audit_model.py in the submission repository.</a:t>
            </a:r>
          </a:p>
        </p:txBody>
      </p:sp>
      <p:sp>
        <p:nvSpPr>
          <p:cNvPr id="9" name="TextBox 8"/>
          <p:cNvSpPr txBox="1"/>
          <p:nvPr/>
        </p:nvSpPr>
        <p:spPr>
          <a:xfrm>
            <a:off x="10515600" y="6419088"/>
            <a:ext cx="1216152" cy="219456"/>
          </a:xfrm>
          <a:prstGeom prst="rect">
            <a:avLst/>
          </a:prstGeom>
          <a:noFill/>
        </p:spPr>
        <p:txBody>
          <a:bodyPr wrap="square" anchor="t" lIns="0" rIns="0" tIns="0" bIns="0">
            <a:spAutoFit/>
          </a:bodyPr>
          <a:lstStyle/>
          <a:p>
            <a:pPr algn="r">
              <a:lnSpc>
                <a:spcPct val="100000"/>
              </a:lnSpc>
              <a:spcAft>
                <a:spcPts val="0"/>
              </a:spcAft>
            </a:pPr>
            <a:r>
              <a:rPr sz="1000" b="0" i="0">
                <a:solidFill>
                  <a:srgbClr val="7D7D7D"/>
                </a:solidFill>
                <a:latin typeface="Arial"/>
              </a:rPr>
              <a:t>A3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10896"/>
            <a:ext cx="457200" cy="50292"/>
          </a:xfrm>
          <a:prstGeom prst="rect">
            <a:avLst/>
          </a:prstGeom>
          <a:solidFill>
            <a:srgbClr val="7D7D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0624"/>
            <a:ext cx="10515600" cy="237744"/>
          </a:xfrm>
          <a:prstGeom prst="rect">
            <a:avLst/>
          </a:prstGeom>
          <a:noFill/>
        </p:spPr>
        <p:txBody>
          <a:bodyPr wrap="square" anchor="t" lIns="0" rIns="0" tIns="0" bIns="0">
            <a:spAutoFit/>
          </a:bodyPr>
          <a:lstStyle/>
          <a:p>
            <a:pPr algn="l">
              <a:lnSpc>
                <a:spcPct val="100000"/>
              </a:lnSpc>
              <a:spcAft>
                <a:spcPts val="0"/>
              </a:spcAft>
            </a:pPr>
            <a:r>
              <a:rPr sz="1000" b="1" i="0">
                <a:solidFill>
                  <a:srgbClr val="7D7D7D"/>
                </a:solidFill>
                <a:latin typeface="Arial"/>
              </a:rPr>
              <a:t>APPENDIX  |  A4</a:t>
            </a:r>
          </a:p>
        </p:txBody>
      </p:sp>
      <p:sp>
        <p:nvSpPr>
          <p:cNvPr id="4" name="TextBox 3"/>
          <p:cNvSpPr txBox="1"/>
          <p:nvPr/>
        </p:nvSpPr>
        <p:spPr>
          <a:xfrm>
            <a:off x="457200" y="676656"/>
            <a:ext cx="11338560" cy="566928"/>
          </a:xfrm>
          <a:prstGeom prst="rect">
            <a:avLst/>
          </a:prstGeom>
          <a:noFill/>
        </p:spPr>
        <p:txBody>
          <a:bodyPr wrap="square" anchor="t" lIns="0" rIns="0" tIns="0" bIns="0">
            <a:spAutoFit/>
          </a:bodyPr>
          <a:lstStyle/>
          <a:p>
            <a:pPr algn="l">
              <a:lnSpc>
                <a:spcPct val="105000"/>
              </a:lnSpc>
              <a:spcAft>
                <a:spcPts val="0"/>
              </a:spcAft>
            </a:pPr>
            <a:r>
              <a:rPr sz="2000" b="1" i="0">
                <a:solidFill>
                  <a:srgbClr val="2D2D2D"/>
                </a:solidFill>
                <a:latin typeface="Georgia"/>
              </a:rPr>
              <a:t>Risk register and references</a:t>
            </a:r>
          </a:p>
        </p:txBody>
      </p:sp>
      <p:graphicFrame>
        <p:nvGraphicFramePr>
          <p:cNvPr id="5" name="Table 4"/>
          <p:cNvGraphicFramePr>
            <a:graphicFrameLocks noGrp="1"/>
          </p:cNvGraphicFramePr>
          <p:nvPr/>
        </p:nvGraphicFramePr>
        <p:xfrm>
          <a:off x="457200" y="1371600"/>
          <a:ext cx="11274552" cy="2194560"/>
        </p:xfrm>
        <a:graphic>
          <a:graphicData uri="http://schemas.openxmlformats.org/drawingml/2006/table">
            <a:tbl>
              <a:tblPr firstRow="0" bandRow="0">
                <a:tableStyleId>{5C22544A-7EE6-4342-B048-85BDC9FD1C3A}</a:tableStyleId>
              </a:tblPr>
              <a:tblGrid>
                <a:gridCol w="3108960"/>
                <a:gridCol w="1280160"/>
                <a:gridCol w="6885432"/>
              </a:tblGrid>
              <a:tr h="365760">
                <a:tc>
                  <a:txBody>
                    <a:bodyPr wrap="square"/>
                    <a:lstStyle/>
                    <a:p>
                      <a:pPr algn="l">
                        <a:lnSpc>
                          <a:spcPct val="105000"/>
                        </a:lnSpc>
                      </a:pPr>
                      <a:r>
                        <a:rPr sz="1000" b="1" i="0">
                          <a:solidFill>
                            <a:srgbClr val="FFFFFF"/>
                          </a:solidFill>
                          <a:latin typeface="Arial"/>
                        </a:rPr>
                        <a:t>Risk</a:t>
                      </a:r>
                    </a:p>
                  </a:txBody>
                  <a:tcPr marL="64008" marR="64008" marT="32004" marB="32004" anchor="ctr">
                    <a:solidFill>
                      <a:srgbClr val="2D2D2D"/>
                    </a:solidFill>
                  </a:tcPr>
                </a:tc>
                <a:tc>
                  <a:txBody>
                    <a:bodyPr wrap="square"/>
                    <a:lstStyle/>
                    <a:p>
                      <a:pPr algn="ctr">
                        <a:lnSpc>
                          <a:spcPct val="105000"/>
                        </a:lnSpc>
                      </a:pPr>
                      <a:r>
                        <a:rPr sz="1000" b="1" i="0">
                          <a:solidFill>
                            <a:srgbClr val="FFFFFF"/>
                          </a:solidFill>
                          <a:latin typeface="Arial"/>
                        </a:rPr>
                        <a:t>Likelihood</a:t>
                      </a:r>
                    </a:p>
                  </a:txBody>
                  <a:tcPr marL="64008" marR="64008" marT="32004" marB="32004" anchor="ctr">
                    <a:solidFill>
                      <a:srgbClr val="2D2D2D"/>
                    </a:solidFill>
                  </a:tcPr>
                </a:tc>
                <a:tc>
                  <a:txBody>
                    <a:bodyPr wrap="square"/>
                    <a:lstStyle/>
                    <a:p>
                      <a:pPr algn="ctr">
                        <a:lnSpc>
                          <a:spcPct val="105000"/>
                        </a:lnSpc>
                      </a:pPr>
                      <a:r>
                        <a:rPr sz="1000" b="1" i="0">
                          <a:solidFill>
                            <a:srgbClr val="FFFFFF"/>
                          </a:solidFill>
                          <a:latin typeface="Arial"/>
                        </a:rPr>
                        <a:t>Mitigation</a:t>
                      </a:r>
                    </a:p>
                  </a:txBody>
                  <a:tcPr marL="64008" marR="64008" marT="32004" marB="32004" anchor="ctr">
                    <a:solidFill>
                      <a:srgbClr val="2D2D2D"/>
                    </a:solidFill>
                  </a:tcPr>
                </a:tc>
              </a:tr>
              <a:tr h="365760">
                <a:tc>
                  <a:txBody>
                    <a:bodyPr wrap="square"/>
                    <a:lstStyle/>
                    <a:p>
                      <a:pPr algn="l">
                        <a:lnSpc>
                          <a:spcPct val="105000"/>
                        </a:lnSpc>
                      </a:pPr>
                      <a:r>
                        <a:rPr sz="1000" b="1" i="0">
                          <a:solidFill>
                            <a:srgbClr val="2D2D2D"/>
                          </a:solidFill>
                          <a:latin typeface="Arial"/>
                        </a:rPr>
                        <a:t>Retail adoption stalls despite the pilot</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High</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Gate scaling on adoption ≥70% and stable sentiment; associates co-design; champions seeded first</a:t>
                      </a:r>
                    </a:p>
                  </a:txBody>
                  <a:tcPr marL="64008" marR="64008" marT="32004" marB="32004" anchor="ctr">
                    <a:solidFill>
                      <a:srgbClr val="FFFFFF"/>
                    </a:solidFill>
                  </a:tcPr>
                </a:tc>
              </a:tr>
              <a:tr h="365760">
                <a:tc>
                  <a:txBody>
                    <a:bodyPr wrap="square"/>
                    <a:lstStyle/>
                    <a:p>
                      <a:pPr algn="l">
                        <a:lnSpc>
                          <a:spcPct val="105000"/>
                        </a:lnSpc>
                      </a:pPr>
                      <a:r>
                        <a:rPr sz="1000" b="1" i="0">
                          <a:solidFill>
                            <a:srgbClr val="2D2D2D"/>
                          </a:solidFill>
                          <a:latin typeface="Arial"/>
                        </a:rPr>
                        <a:t>Data foundation slips, delaying every use case</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Medium</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Platform is Phase 0 and separately funded at ₹60 Cr; use cases contracted against data readiness milestones</a:t>
                      </a:r>
                    </a:p>
                  </a:txBody>
                  <a:tcPr marL="64008" marR="64008" marT="32004" marB="32004" anchor="ctr">
                    <a:solidFill>
                      <a:srgbClr val="FAF8F7"/>
                    </a:solidFill>
                  </a:tcPr>
                </a:tc>
              </a:tr>
              <a:tr h="365760">
                <a:tc>
                  <a:txBody>
                    <a:bodyPr wrap="square"/>
                    <a:lstStyle/>
                    <a:p>
                      <a:pPr algn="l">
                        <a:lnSpc>
                          <a:spcPct val="105000"/>
                        </a:lnSpc>
                      </a:pPr>
                      <a:r>
                        <a:rPr sz="1000" b="1" i="0">
                          <a:solidFill>
                            <a:srgbClr val="2D2D2D"/>
                          </a:solidFill>
                          <a:latin typeface="Arial"/>
                        </a:rPr>
                        <a:t>Brand dilution from generative content</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Medium</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Brand-differentiated posture; Maison Luxe excluded from generative customer-facing AI entirely</a:t>
                      </a:r>
                    </a:p>
                  </a:txBody>
                  <a:tcPr marL="64008" marR="64008" marT="32004" marB="32004" anchor="ctr">
                    <a:solidFill>
                      <a:srgbClr val="FFFFFF"/>
                    </a:solidFill>
                  </a:tcPr>
                </a:tc>
              </a:tr>
              <a:tr h="365760">
                <a:tc>
                  <a:txBody>
                    <a:bodyPr wrap="square"/>
                    <a:lstStyle/>
                    <a:p>
                      <a:pPr algn="l">
                        <a:lnSpc>
                          <a:spcPct val="105000"/>
                        </a:lnSpc>
                      </a:pPr>
                      <a:r>
                        <a:rPr sz="1000" b="1" i="0">
                          <a:solidFill>
                            <a:srgbClr val="2D2D2D"/>
                          </a:solidFill>
                          <a:latin typeface="Arial"/>
                        </a:rPr>
                        <a:t>Zero-Layoff commitment perceived as hollow</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High</a:t>
                      </a:r>
                    </a:p>
                  </a:txBody>
                  <a:tcPr marL="64008" marR="64008" marT="32004" marB="32004" anchor="ctr">
                    <a:solidFill>
                      <a:srgbClr val="FAF8F7"/>
                    </a:solidFill>
                  </a:tcPr>
                </a:tc>
                <a:tc>
                  <a:txBody>
                    <a:bodyPr wrap="square"/>
                    <a:lstStyle/>
                    <a:p>
                      <a:pPr algn="ctr">
                        <a:lnSpc>
                          <a:spcPct val="105000"/>
                        </a:lnSpc>
                      </a:pPr>
                      <a:r>
                        <a:rPr sz="1000" b="0" i="0">
                          <a:solidFill>
                            <a:srgbClr val="2D2D2D"/>
                          </a:solidFill>
                          <a:latin typeface="Arial"/>
                        </a:rPr>
                        <a:t>Written charter in month 1, redeployment guarantee, public reporting of redeployment counts</a:t>
                      </a:r>
                    </a:p>
                  </a:txBody>
                  <a:tcPr marL="64008" marR="64008" marT="32004" marB="32004" anchor="ctr">
                    <a:solidFill>
                      <a:srgbClr val="FAF8F7"/>
                    </a:solidFill>
                  </a:tcPr>
                </a:tc>
              </a:tr>
              <a:tr h="365760">
                <a:tc>
                  <a:txBody>
                    <a:bodyPr wrap="square"/>
                    <a:lstStyle/>
                    <a:p>
                      <a:pPr algn="l">
                        <a:lnSpc>
                          <a:spcPct val="105000"/>
                        </a:lnSpc>
                      </a:pPr>
                      <a:r>
                        <a:rPr sz="1000" b="1" i="0">
                          <a:solidFill>
                            <a:srgbClr val="2D2D2D"/>
                          </a:solidFill>
                          <a:latin typeface="Arial"/>
                        </a:rPr>
                        <a:t>Regulatory exposure (EU AI Act, DPDP, EPR)</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Medium</a:t>
                      </a:r>
                    </a:p>
                  </a:txBody>
                  <a:tcPr marL="64008" marR="64008" marT="32004" marB="32004" anchor="ctr">
                    <a:solidFill>
                      <a:srgbClr val="FFFFFF"/>
                    </a:solidFill>
                  </a:tcPr>
                </a:tc>
                <a:tc>
                  <a:txBody>
                    <a:bodyPr wrap="square"/>
                    <a:lstStyle/>
                    <a:p>
                      <a:pPr algn="ctr">
                        <a:lnSpc>
                          <a:spcPct val="105000"/>
                        </a:lnSpc>
                      </a:pPr>
                      <a:r>
                        <a:rPr sz="1000" b="0" i="0">
                          <a:solidFill>
                            <a:srgbClr val="2D2D2D"/>
                          </a:solidFill>
                          <a:latin typeface="Arial"/>
                        </a:rPr>
                        <a:t>Four-tier decision rights, model register, provenance logging, quarterly bias testing</a:t>
                      </a:r>
                    </a:p>
                  </a:txBody>
                  <a:tcPr marL="64008" marR="64008" marT="32004" marB="32004" anchor="ctr">
                    <a:solidFill>
                      <a:srgbClr val="FFFFFF"/>
                    </a:solidFill>
                  </a:tcPr>
                </a:tc>
              </a:tr>
            </a:tbl>
          </a:graphicData>
        </a:graphic>
      </p:graphicFrame>
      <p:sp>
        <p:nvSpPr>
          <p:cNvPr id="6" name="TextBox 5"/>
          <p:cNvSpPr txBox="1"/>
          <p:nvPr/>
        </p:nvSpPr>
        <p:spPr>
          <a:xfrm>
            <a:off x="457200" y="3767328"/>
            <a:ext cx="11274552" cy="237744"/>
          </a:xfrm>
          <a:prstGeom prst="rect">
            <a:avLst/>
          </a:prstGeom>
          <a:noFill/>
        </p:spPr>
        <p:txBody>
          <a:bodyPr wrap="square" anchor="t" lIns="0" rIns="0" tIns="0" bIns="0">
            <a:spAutoFit/>
          </a:bodyPr>
          <a:lstStyle/>
          <a:p>
            <a:pPr algn="l">
              <a:lnSpc>
                <a:spcPct val="100000"/>
              </a:lnSpc>
              <a:spcAft>
                <a:spcPts val="0"/>
              </a:spcAft>
            </a:pPr>
            <a:r>
              <a:rPr sz="1050" b="1" i="0">
                <a:solidFill>
                  <a:srgbClr val="D04A02"/>
                </a:solidFill>
                <a:latin typeface="Arial"/>
              </a:rPr>
              <a:t>REFERENCES (APA)</a:t>
            </a:r>
          </a:p>
        </p:txBody>
      </p:sp>
      <p:sp>
        <p:nvSpPr>
          <p:cNvPr id="7" name="TextBox 6"/>
          <p:cNvSpPr txBox="1"/>
          <p:nvPr/>
        </p:nvSpPr>
        <p:spPr>
          <a:xfrm>
            <a:off x="457200" y="4059936"/>
            <a:ext cx="11274552" cy="365760"/>
          </a:xfrm>
          <a:prstGeom prst="rect">
            <a:avLst/>
          </a:prstGeom>
          <a:noFill/>
        </p:spPr>
        <p:txBody>
          <a:bodyPr wrap="square" anchor="t" lIns="0" rIns="0" tIns="0" bIns="0">
            <a:spAutoFit/>
          </a:bodyPr>
          <a:lstStyle/>
          <a:p>
            <a:pPr algn="l">
              <a:lnSpc>
                <a:spcPct val="115000"/>
              </a:lnSpc>
              <a:spcAft>
                <a:spcPts val="0"/>
              </a:spcAft>
            </a:pPr>
            <a:r>
              <a:rPr sz="1000" b="0" i="0">
                <a:solidFill>
                  <a:srgbClr val="2D2D2D"/>
                </a:solidFill>
                <a:latin typeface="Arial"/>
              </a:rPr>
              <a:t>•  European Commission. (2022). EU strategy for sustainable and circular textiles. Publications Office of the European Union.</a:t>
            </a:r>
          </a:p>
        </p:txBody>
      </p:sp>
      <p:sp>
        <p:nvSpPr>
          <p:cNvPr id="8" name="TextBox 7"/>
          <p:cNvSpPr txBox="1"/>
          <p:nvPr/>
        </p:nvSpPr>
        <p:spPr>
          <a:xfrm>
            <a:off x="457200" y="4443984"/>
            <a:ext cx="11274552" cy="365760"/>
          </a:xfrm>
          <a:prstGeom prst="rect">
            <a:avLst/>
          </a:prstGeom>
          <a:noFill/>
        </p:spPr>
        <p:txBody>
          <a:bodyPr wrap="square" anchor="t" lIns="0" rIns="0" tIns="0" bIns="0">
            <a:spAutoFit/>
          </a:bodyPr>
          <a:lstStyle/>
          <a:p>
            <a:pPr algn="l">
              <a:lnSpc>
                <a:spcPct val="115000"/>
              </a:lnSpc>
              <a:spcAft>
                <a:spcPts val="0"/>
              </a:spcAft>
            </a:pPr>
            <a:r>
              <a:rPr sz="1000" b="0" i="0">
                <a:solidFill>
                  <a:srgbClr val="2D2D2D"/>
                </a:solidFill>
                <a:latin typeface="Arial"/>
              </a:rPr>
              <a:t>•  European Parliament &amp; Council of the European Union. (2024). Regulation (EU) 2024/1689 laying down harmonised rules on artificial intelligence (Artificial Intelligence Act).</a:t>
            </a:r>
          </a:p>
        </p:txBody>
      </p:sp>
      <p:sp>
        <p:nvSpPr>
          <p:cNvPr id="9" name="TextBox 8"/>
          <p:cNvSpPr txBox="1"/>
          <p:nvPr/>
        </p:nvSpPr>
        <p:spPr>
          <a:xfrm>
            <a:off x="457200" y="4828032"/>
            <a:ext cx="11274552" cy="365760"/>
          </a:xfrm>
          <a:prstGeom prst="rect">
            <a:avLst/>
          </a:prstGeom>
          <a:noFill/>
        </p:spPr>
        <p:txBody>
          <a:bodyPr wrap="square" anchor="t" lIns="0" rIns="0" tIns="0" bIns="0">
            <a:spAutoFit/>
          </a:bodyPr>
          <a:lstStyle/>
          <a:p>
            <a:pPr algn="l">
              <a:lnSpc>
                <a:spcPct val="115000"/>
              </a:lnSpc>
              <a:spcAft>
                <a:spcPts val="0"/>
              </a:spcAft>
            </a:pPr>
            <a:r>
              <a:rPr sz="1000" b="0" i="0">
                <a:solidFill>
                  <a:srgbClr val="2D2D2D"/>
                </a:solidFill>
                <a:latin typeface="Arial"/>
              </a:rPr>
              <a:t>•  International Organization for Standardization. (2023). ISO/IEC 42001:2023 — Information technology, artificial intelligence, management system.</a:t>
            </a:r>
          </a:p>
        </p:txBody>
      </p:sp>
      <p:sp>
        <p:nvSpPr>
          <p:cNvPr id="10" name="TextBox 9"/>
          <p:cNvSpPr txBox="1"/>
          <p:nvPr/>
        </p:nvSpPr>
        <p:spPr>
          <a:xfrm>
            <a:off x="457200" y="5212080"/>
            <a:ext cx="11274552" cy="365760"/>
          </a:xfrm>
          <a:prstGeom prst="rect">
            <a:avLst/>
          </a:prstGeom>
          <a:noFill/>
        </p:spPr>
        <p:txBody>
          <a:bodyPr wrap="square" anchor="t" lIns="0" rIns="0" tIns="0" bIns="0">
            <a:spAutoFit/>
          </a:bodyPr>
          <a:lstStyle/>
          <a:p>
            <a:pPr algn="l">
              <a:lnSpc>
                <a:spcPct val="115000"/>
              </a:lnSpc>
              <a:spcAft>
                <a:spcPts val="0"/>
              </a:spcAft>
            </a:pPr>
            <a:r>
              <a:rPr sz="1000" b="0" i="0">
                <a:solidFill>
                  <a:srgbClr val="2D2D2D"/>
                </a:solidFill>
                <a:latin typeface="Arial"/>
              </a:rPr>
              <a:t>•  Ministry of Electronics and Information Technology. (2023). Digital Personal Data Protection Act, 2023. Government of India.</a:t>
            </a:r>
          </a:p>
        </p:txBody>
      </p:sp>
      <p:sp>
        <p:nvSpPr>
          <p:cNvPr id="11" name="TextBox 10"/>
          <p:cNvSpPr txBox="1"/>
          <p:nvPr/>
        </p:nvSpPr>
        <p:spPr>
          <a:xfrm>
            <a:off x="457200" y="5596128"/>
            <a:ext cx="11274552" cy="365760"/>
          </a:xfrm>
          <a:prstGeom prst="rect">
            <a:avLst/>
          </a:prstGeom>
          <a:noFill/>
        </p:spPr>
        <p:txBody>
          <a:bodyPr wrap="square" anchor="t" lIns="0" rIns="0" tIns="0" bIns="0">
            <a:spAutoFit/>
          </a:bodyPr>
          <a:lstStyle/>
          <a:p>
            <a:pPr algn="l">
              <a:lnSpc>
                <a:spcPct val="115000"/>
              </a:lnSpc>
              <a:spcAft>
                <a:spcPts val="0"/>
              </a:spcAft>
            </a:pPr>
            <a:r>
              <a:rPr sz="1000" b="0" i="0">
                <a:solidFill>
                  <a:srgbClr val="2D2D2D"/>
                </a:solidFill>
                <a:latin typeface="Arial"/>
              </a:rPr>
              <a:t>•  National Institute of Standards and Technology. (2023). Artificial intelligence risk management framework (AI RMF 1.0). U.S. Department of Commerce.</a:t>
            </a:r>
          </a:p>
        </p:txBody>
      </p:sp>
      <p:sp>
        <p:nvSpPr>
          <p:cNvPr id="12" name="Rectangle 11"/>
          <p:cNvSpPr/>
          <p:nvPr/>
        </p:nvSpPr>
        <p:spPr>
          <a:xfrm>
            <a:off x="457200" y="6336792"/>
            <a:ext cx="11274552" cy="10972"/>
          </a:xfrm>
          <a:prstGeom prst="rect">
            <a:avLst/>
          </a:prstGeom>
          <a:solidFill>
            <a:srgbClr val="C9C3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6419088"/>
            <a:ext cx="9966960" cy="329184"/>
          </a:xfrm>
          <a:prstGeom prst="rect">
            <a:avLst/>
          </a:prstGeom>
          <a:noFill/>
        </p:spPr>
        <p:txBody>
          <a:bodyPr wrap="square" anchor="t" lIns="0" rIns="0" tIns="0" bIns="0">
            <a:spAutoFit/>
          </a:bodyPr>
          <a:lstStyle/>
          <a:p>
            <a:pPr algn="l">
              <a:lnSpc>
                <a:spcPct val="110000"/>
              </a:lnSpc>
              <a:spcAft>
                <a:spcPts val="0"/>
              </a:spcAft>
            </a:pPr>
            <a:r>
              <a:rPr sz="1000" b="0" i="0">
                <a:solidFill>
                  <a:srgbClr val="7D7D7D"/>
                </a:solidFill>
                <a:latin typeface="Arial"/>
              </a:rPr>
              <a:t>Industry statistics quoted in the deck (USD 1.7 tn market, 92 mn tonnes textile waste, 75 mn people employed) are taken from the case brief's industry overview.</a:t>
            </a:r>
          </a:p>
        </p:txBody>
      </p:sp>
      <p:sp>
        <p:nvSpPr>
          <p:cNvPr id="14" name="TextBox 13"/>
          <p:cNvSpPr txBox="1"/>
          <p:nvPr/>
        </p:nvSpPr>
        <p:spPr>
          <a:xfrm>
            <a:off x="10515600" y="6419088"/>
            <a:ext cx="1216152" cy="219456"/>
          </a:xfrm>
          <a:prstGeom prst="rect">
            <a:avLst/>
          </a:prstGeom>
          <a:noFill/>
        </p:spPr>
        <p:txBody>
          <a:bodyPr wrap="square" anchor="t" lIns="0" rIns="0" tIns="0" bIns="0">
            <a:spAutoFit/>
          </a:bodyPr>
          <a:lstStyle/>
          <a:p>
            <a:pPr algn="r">
              <a:lnSpc>
                <a:spcPct val="100000"/>
              </a:lnSpc>
              <a:spcAft>
                <a:spcPts val="0"/>
              </a:spcAft>
            </a:pPr>
            <a:r>
              <a:rPr sz="1000" b="0" i="0">
                <a:solidFill>
                  <a:srgbClr val="7D7D7D"/>
                </a:solidFill>
                <a:latin typeface="Arial"/>
              </a:rPr>
              <a:t>A4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